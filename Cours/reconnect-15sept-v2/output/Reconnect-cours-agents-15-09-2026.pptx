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6256000" cy="9144000"/>
  <p:notesSz cx="6858000" cy="9144000"/>
  <p:embeddedFontLst>
    <p:embeddedFont>
      <p:font typeface="Georgia" panose="02040502050405020303" pitchFamily="18" charset="0"/>
      <p:regular r:id="rId39"/>
      <p:bold r:id="rId40"/>
      <p:italic r:id="rId41"/>
      <p:boldItalic r:id="rId42"/>
    </p:embeddedFont>
    <p:embeddedFont>
      <p:font typeface="JetBrains Mono" panose="02000009000000000000" pitchFamily="49" charset="0"/>
      <p:regular r:id="rId43"/>
    </p:embeddedFont>
    <p:embeddedFont>
      <p:font typeface="Outfit" pitchFamily="2" charset="0"/>
      <p:regular r:id="rId44"/>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0FAD82-DFC8-4DC4-8B83-7455024EB30D}" type="datetimeFigureOut">
              <a:rPr lang="fr-FR" smtClean="0"/>
              <a:t>14/09/2026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21E078-4436-4451-B932-21E9A1286CD3}" type="slidenum">
              <a:rPr lang="fr-FR" smtClean="0"/>
              <a:t>‹N°›</a:t>
            </a:fld>
            <a:endParaRPr lang="fr-FR"/>
          </a:p>
        </p:txBody>
      </p:sp>
    </p:spTree>
    <p:extLst>
      <p:ext uri="{BB962C8B-B14F-4D97-AF65-F5344CB8AC3E}">
        <p14:creationId xmlns:p14="http://schemas.microsoft.com/office/powerpoint/2010/main" val="1889536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Développer avec des agents</a:t>
            </a:r>
          </a:p>
          <a:p>
            <a:endParaRPr lang="fr-FR"/>
          </a:p>
          <a:p>
            <a:r>
              <a:rPr lang="fr-FR"/>
              <a:t>ID : e01</a:t>
            </a:r>
          </a:p>
          <a:p>
            <a:r>
              <a:rPr lang="fr-FR"/>
              <a:t>CHAPITRE : Ouverture</a:t>
            </a:r>
          </a:p>
          <a:p>
            <a:endParaRPr lang="fr-FR"/>
          </a:p>
          <a:p>
            <a:r>
              <a:rPr lang="fr-FR"/>
              <a:t>IDEE PRINCIPALE</a:t>
            </a:r>
          </a:p>
          <a:p>
            <a:r>
              <a:rPr lang="fr-FR"/>
              <a:t>Une méthode en 5 étapes. Un support à garder.</a:t>
            </a:r>
          </a:p>
          <a:p>
            <a:endParaRPr lang="fr-FR"/>
          </a:p>
          <a:p>
            <a:r>
              <a:rPr lang="fr-FR"/>
              <a:t>A L'ECRAN</a:t>
            </a:r>
          </a:p>
          <a:p>
            <a:r>
              <a:rPr lang="fr-FR"/>
              <a:t>9h00 · Prendre en main : Exercices courts sur les outils et le ticket.</a:t>
            </a:r>
          </a:p>
          <a:p>
            <a:r>
              <a:rPr lang="fr-FR"/>
              <a:t>9h40 · Préparer le lancement : Contrat commun, puis agents par lot.</a:t>
            </a:r>
          </a:p>
          <a:p>
            <a:r>
              <a:rPr lang="fr-FR"/>
              <a:t>12h15 · Montrer le MVP : Un besoin, une réponse, une structure, un contact.</a:t>
            </a:r>
          </a:p>
          <a:p>
            <a:endParaRPr lang="fr-FR"/>
          </a:p>
          <a:p>
            <a:r>
              <a:rPr lang="fr-FR"/>
              <a:t>Théorie</a:t>
            </a:r>
          </a:p>
          <a:p>
            <a:r>
              <a:rPr lang="fr-FR"/>
              <a:t>Cette journée prolonge les landing pages et le projet React, Vite et TypeScript commencés ensemble. Les horaires sont des objectifs pédagogiques proposés pour le 15 septembre, pas des délais garantis d’exécution des agents. La matinée alterne exercices courts, production déléguée, cours et recette. Le support reste consultable ensuite, même sans réseau.</a:t>
            </a:r>
          </a:p>
          <a:p>
            <a:endParaRPr lang="fr-FR"/>
          </a:p>
          <a:p>
            <a:r>
              <a:rPr lang="fr-FR"/>
              <a:t>NOTES FORMATEUR</a:t>
            </a:r>
          </a:p>
          <a:p>
            <a:r>
              <a:rPr lang="fr-FR"/>
              <a:t>Cette journée prolonge les landing pages et le projet React, Vite et TypeScript commencés ensemble. Les horaires sont des objectifs pédagogiques proposés pour le 15 septembre, pas des délais garantis d’exécution des agents. La matinée alterne exercices courts, production déléguée, cours et recette. Le support reste consultable ensuite, même sans réseau.
Faire lire le titre, puis demander un exemple lié au ticket de l’apprenant. Terminer par l’action indiquée et montrer où retrouver cette fiche après la formation.</a:t>
            </a:r>
          </a:p>
          <a:p>
            <a:endParaRPr lang="fr-FR"/>
          </a:p>
          <a:p>
            <a:r>
              <a:rPr lang="fr-FR"/>
              <a:t>ACTION</a:t>
            </a:r>
          </a:p>
          <a:p>
            <a:r>
              <a:rPr lang="fr-FR"/>
              <a:t>Commencez par votre besoin du jour.</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1</a:t>
            </a:fld>
            <a:endParaRPr lang="fr-FR"/>
          </a:p>
        </p:txBody>
      </p:sp>
    </p:spTree>
    <p:extLst>
      <p:ext uri="{BB962C8B-B14F-4D97-AF65-F5344CB8AC3E}">
        <p14:creationId xmlns:p14="http://schemas.microsoft.com/office/powerpoint/2010/main" val="414211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Projeter maintenant. Retrouver ensuite.</a:t>
            </a:r>
          </a:p>
          <a:p>
            <a:endParaRPr lang="fr-FR"/>
          </a:p>
          <a:p>
            <a:r>
              <a:rPr lang="fr-FR"/>
              <a:t>ID : e02</a:t>
            </a:r>
          </a:p>
          <a:p>
            <a:r>
              <a:rPr lang="fr-FR"/>
              <a:t>CHAPITRE : Ouverture</a:t>
            </a:r>
          </a:p>
          <a:p>
            <a:endParaRPr lang="fr-FR"/>
          </a:p>
          <a:p>
            <a:r>
              <a:rPr lang="fr-FR"/>
              <a:t>IDEE PRINCIPALE</a:t>
            </a:r>
          </a:p>
          <a:p>
            <a:r>
              <a:rPr lang="fr-FR"/>
              <a:t>Lisez l’essentiel à l’écran ; ouvrez « Théorie » pour approfondir.</a:t>
            </a:r>
          </a:p>
          <a:p>
            <a:endParaRPr lang="fr-FR"/>
          </a:p>
          <a:p>
            <a:r>
              <a:rPr lang="fr-FR"/>
              <a:t>A L'ECRAN</a:t>
            </a:r>
          </a:p>
          <a:p>
            <a:r>
              <a:rPr lang="fr-FR"/>
              <a:t>Parcourir : Flèches, défilement ou sommaire.</a:t>
            </a:r>
          </a:p>
          <a:p>
            <a:r>
              <a:rPr lang="fr-FR"/>
              <a:t>Copier : Un prompt ou une commande par méthode.</a:t>
            </a:r>
          </a:p>
          <a:p>
            <a:r>
              <a:rPr lang="fr-FR"/>
              <a:t>Approfondir : Explications, limites et sources dans « Théorie ».</a:t>
            </a:r>
          </a:p>
          <a:p>
            <a:r>
              <a:rPr lang="fr-FR"/>
              <a:t>Emporter : Le deck, le PowerPoint et le kit local.</a:t>
            </a:r>
          </a:p>
          <a:p>
            <a:endParaRPr lang="fr-FR"/>
          </a:p>
          <a:p>
            <a:r>
              <a:rPr lang="fr-FR"/>
              <a:t>Théorie</a:t>
            </a:r>
          </a:p>
          <a:p>
            <a:r>
              <a:rPr lang="fr-FR"/>
              <a:t>Le titre donne l’idée principale de chaque écran. Les zones courtes permettent de suivre la projection sans lire un document entier. Le panneau Théorie apporte le raisonnement et les limites utiles en situation de travail. Les skills du kit sont fournis comme fichiers : ils deviennent disponibles après copie dans le projet et ouverture de Claude Code.</a:t>
            </a:r>
          </a:p>
          <a:p>
            <a:endParaRPr lang="fr-FR"/>
          </a:p>
          <a:p>
            <a:r>
              <a:rPr lang="fr-FR"/>
              <a:t>NOTES FORMATEUR</a:t>
            </a:r>
          </a:p>
          <a:p>
            <a:r>
              <a:rPr lang="fr-FR"/>
              <a:t>Le titre donne l’idée principale de chaque écran. Les zones courtes permettent de suivre la projection sans lire un document entier. Le panneau Théorie apporte le raisonnement et les limites utiles en situation de travail. Les skills du kit sont fournis comme fichiers : ils deviennent disponibles après copie dans le projet et ouverture de Claude Code.
Faire lire le titre, puis demander un exemple lié au ticket de l’apprenant. Terminer par l’action indiquée et montrer où retrouver cette fiche après la formation.</a:t>
            </a:r>
          </a:p>
          <a:p>
            <a:endParaRPr lang="fr-FR"/>
          </a:p>
          <a:p>
            <a:r>
              <a:rPr lang="fr-FR"/>
              <a:t>ACTION</a:t>
            </a:r>
          </a:p>
          <a:p>
            <a:r>
              <a:rPr lang="fr-FR"/>
              <a:t>Ouvrez une fiche « Théorie », puis refermez-la.</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2</a:t>
            </a:fld>
            <a:endParaRPr lang="fr-FR"/>
          </a:p>
        </p:txBody>
      </p:sp>
    </p:spTree>
    <p:extLst>
      <p:ext uri="{BB962C8B-B14F-4D97-AF65-F5344CB8AC3E}">
        <p14:creationId xmlns:p14="http://schemas.microsoft.com/office/powerpoint/2010/main" val="823923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Un agent avance dans une boucle</a:t>
            </a:r>
          </a:p>
          <a:p>
            <a:endParaRPr lang="fr-FR"/>
          </a:p>
          <a:p>
            <a:r>
              <a:rPr lang="fr-FR"/>
              <a:t>ID : e03</a:t>
            </a:r>
          </a:p>
          <a:p>
            <a:r>
              <a:rPr lang="fr-FR"/>
              <a:t>CHAPITRE : La méthode</a:t>
            </a:r>
          </a:p>
          <a:p>
            <a:endParaRPr lang="fr-FR"/>
          </a:p>
          <a:p>
            <a:r>
              <a:rPr lang="fr-FR"/>
              <a:t>IDEE PRINCIPALE</a:t>
            </a:r>
          </a:p>
          <a:p>
            <a:r>
              <a:rPr lang="fr-FR"/>
              <a:t>Lire → planifier → agir → vérifier → recommencer.</a:t>
            </a:r>
          </a:p>
          <a:p>
            <a:endParaRPr lang="fr-FR"/>
          </a:p>
          <a:p>
            <a:r>
              <a:rPr lang="fr-FR"/>
              <a:t>A L'ECRAN</a:t>
            </a:r>
          </a:p>
          <a:p>
            <a:r>
              <a:rPr lang="fr-FR"/>
              <a:t>Lire : Trouver les fichiers et comprendre le besoin.</a:t>
            </a:r>
          </a:p>
          <a:p>
            <a:r>
              <a:rPr lang="fr-FR"/>
              <a:t>Planifier : Choisir une prochaine action limitée.</a:t>
            </a:r>
          </a:p>
          <a:p>
            <a:r>
              <a:rPr lang="fr-FR"/>
              <a:t>Agir : Appeler un outil, modifier, exécuter.</a:t>
            </a:r>
          </a:p>
          <a:p>
            <a:r>
              <a:rPr lang="fr-FR"/>
              <a:t>Vérifier : Comparer le résultat au critère Done.</a:t>
            </a:r>
          </a:p>
          <a:p>
            <a:endParaRPr lang="fr-FR"/>
          </a:p>
          <a:p>
            <a:r>
              <a:rPr lang="fr-FR"/>
              <a:t>Théorie</a:t>
            </a:r>
          </a:p>
          <a:p>
            <a:r>
              <a:rPr lang="fr-FR"/>
              <a:t>Le modèle propose des actions ; le logiciel agent lui donne accès à des outils et lui renvoie leurs résultats. Cette boucle permet de travailler sur un dépôt réel, au-delà d’une réponse textuelle. Elle ne garantit ni une bonne compréhension initiale ni la justesse du résultat final. Votre rôle consiste à fournir l’objectif, les limites et une preuve observable de réussite.</a:t>
            </a:r>
          </a:p>
          <a:p>
            <a:endParaRPr lang="fr-FR"/>
          </a:p>
          <a:p>
            <a:r>
              <a:rPr lang="fr-FR"/>
              <a:t>NOTES FORMATEUR</a:t>
            </a:r>
          </a:p>
          <a:p>
            <a:r>
              <a:rPr lang="fr-FR"/>
              <a:t>Le modèle propose des actions ; le logiciel agent lui donne accès à des outils et lui renvoie leurs résultats. Cette boucle permet de travailler sur un dépôt réel, au-delà d’une réponse textuelle. Elle ne garantit ni une bonne compréhension initiale ni la justesse du résultat final. Votre rôle consiste à fournir l’objectif, les limites et une preuve observable de réussite.
Faire lire le titre, puis demander un exemple lié au ticket de l’apprenant. Terminer par l’action indiquée et montrer où retrouver cette fiche après la formation.</a:t>
            </a:r>
          </a:p>
          <a:p>
            <a:endParaRPr lang="fr-FR"/>
          </a:p>
          <a:p>
            <a:r>
              <a:rPr lang="fr-FR"/>
              <a:t>PROMPT OU CODE COMPLET</a:t>
            </a:r>
          </a:p>
          <a:p>
            <a:r>
              <a:rPr lang="fr-FR"/>
              <a:t>Prompt à copier</a:t>
            </a:r>
          </a:p>
          <a:p>
            <a:r>
              <a:rPr lang="fr-FR"/>
              <a:t>Lis le ticket et les fichiers attribués.
Propose un plan en trois actions avec une preuve par action.
Attends mon retour avant de modifier les fichiers.</a:t>
            </a:r>
          </a:p>
          <a:p>
            <a:endParaRPr lang="fr-FR"/>
          </a:p>
          <a:p>
            <a:r>
              <a:rPr lang="fr-FR"/>
              <a:t>ACTION</a:t>
            </a:r>
          </a:p>
          <a:p>
            <a:r>
              <a:rPr lang="fr-FR"/>
              <a:t>Exercice · 2 min : repérez la prochaine preuve de votre ticket.</a:t>
            </a:r>
          </a:p>
          <a:p>
            <a:endParaRPr lang="fr-FR"/>
          </a:p>
          <a:p>
            <a:r>
              <a:rPr lang="fr-FR"/>
              <a:t>SOURCES</a:t>
            </a:r>
          </a:p>
          <a:p>
            <a:r>
              <a:rPr lang="fr-FR"/>
              <a:t>Claude Code · consulté le 14/09/2026</a:t>
            </a:r>
          </a:p>
          <a:p>
            <a:r>
              <a:rPr lang="fr-FR"/>
              <a:t>https://code.claude.com/docs/en/overview</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3</a:t>
            </a:fld>
            <a:endParaRPr lang="fr-FR"/>
          </a:p>
        </p:txBody>
      </p:sp>
    </p:spTree>
    <p:extLst>
      <p:ext uri="{BB962C8B-B14F-4D97-AF65-F5344CB8AC3E}">
        <p14:creationId xmlns:p14="http://schemas.microsoft.com/office/powerpoint/2010/main" val="2805477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Nommer ce qui décide et ce qui agit</a:t>
            </a:r>
          </a:p>
          <a:p>
            <a:endParaRPr lang="fr-FR"/>
          </a:p>
          <a:p>
            <a:r>
              <a:rPr lang="fr-FR"/>
              <a:t>ID : e04</a:t>
            </a:r>
          </a:p>
          <a:p>
            <a:r>
              <a:rPr lang="fr-FR"/>
              <a:t>CHAPITRE : La méthode</a:t>
            </a:r>
          </a:p>
          <a:p>
            <a:endParaRPr lang="fr-FR"/>
          </a:p>
          <a:p>
            <a:r>
              <a:rPr lang="fr-FR"/>
              <a:t>IDEE PRINCIPALE</a:t>
            </a:r>
          </a:p>
          <a:p>
            <a:r>
              <a:rPr lang="fr-FR"/>
              <a:t>Quatre mots pour comprendre une session d’agent.</a:t>
            </a:r>
          </a:p>
          <a:p>
            <a:endParaRPr lang="fr-FR"/>
          </a:p>
          <a:p>
            <a:r>
              <a:rPr lang="fr-FR"/>
              <a:t>A L'ECRAN</a:t>
            </a:r>
          </a:p>
          <a:p>
            <a:r>
              <a:rPr lang="fr-FR"/>
              <a:t>Modèle : Produit du texte et propose les actions.</a:t>
            </a:r>
          </a:p>
          <a:p>
            <a:r>
              <a:rPr lang="fr-FR"/>
              <a:t>Agent : Organise la boucle autour du modèle.</a:t>
            </a:r>
          </a:p>
          <a:p>
            <a:r>
              <a:rPr lang="fr-FR"/>
              <a:t>Outil : Exécute une action : lire, tester, chercher.</a:t>
            </a:r>
          </a:p>
          <a:p>
            <a:r>
              <a:rPr lang="fr-FR"/>
              <a:t>MCP : Relie l’agent à des outils externes.</a:t>
            </a:r>
          </a:p>
          <a:p>
            <a:endParaRPr lang="fr-FR"/>
          </a:p>
          <a:p>
            <a:r>
              <a:rPr lang="fr-FR"/>
              <a:t>Théorie</a:t>
            </a:r>
          </a:p>
          <a:p>
            <a:r>
              <a:rPr lang="fr-FR"/>
              <a:t>Un modèle n’accède pas spontanément au contenu de votre dépôt. L’agent lui présente les fichiers ou résultats obtenus par ses outils. MCP est un protocole permettant de connecter de nouveaux outils ; ce n’est ni un modèle ni une base de connaissances en soi. Dans Reconnect, Firecrawl peut être un outil de collecte accessible par MCP, tandis que le modèle résume le texte obtenu.</a:t>
            </a:r>
          </a:p>
          <a:p>
            <a:endParaRPr lang="fr-FR"/>
          </a:p>
          <a:p>
            <a:r>
              <a:rPr lang="fr-FR"/>
              <a:t>NOTES FORMATEUR</a:t>
            </a:r>
          </a:p>
          <a:p>
            <a:r>
              <a:rPr lang="fr-FR"/>
              <a:t>Un modèle n’accède pas spontanément au contenu de votre dépôt. L’agent lui présente les fichiers ou résultats obtenus par ses outils. MCP est un protocole permettant de connecter de nouveaux outils ; ce n’est ni un modèle ni une base de connaissances en soi. Dans Reconnect, Firecrawl peut être un outil de collecte accessible par MCP, tandis que le modèle résume le texte obtenu.
Faire lire le titre, puis demander un exemple lié au ticket de l’apprenant. Terminer par l’action indiquée et montrer où retrouver cette fiche après la formation.</a:t>
            </a:r>
          </a:p>
          <a:p>
            <a:endParaRPr lang="fr-FR"/>
          </a:p>
          <a:p>
            <a:r>
              <a:rPr lang="fr-FR"/>
              <a:t>ACTION</a:t>
            </a:r>
          </a:p>
          <a:p>
            <a:r>
              <a:rPr lang="fr-FR"/>
              <a:t>Exercice · 2 min : classez modèle, agent, Firecrawl et MCP.</a:t>
            </a:r>
          </a:p>
          <a:p>
            <a:endParaRPr lang="fr-FR"/>
          </a:p>
          <a:p>
            <a:r>
              <a:rPr lang="fr-FR"/>
              <a:t>SOURCES</a:t>
            </a:r>
          </a:p>
          <a:p>
            <a:r>
              <a:rPr lang="fr-FR"/>
              <a:t>Claude Code · consulté le 14/09/2026</a:t>
            </a:r>
          </a:p>
          <a:p>
            <a:r>
              <a:rPr lang="fr-FR"/>
              <a:t>https://code.claude.com/docs/en/overview</a:t>
            </a:r>
          </a:p>
          <a:p>
            <a:endParaRPr lang="fr-FR"/>
          </a:p>
          <a:p>
            <a:r>
              <a:rPr lang="fr-FR"/>
              <a:t>MCP Claude Code · consulté le 14/09/2026</a:t>
            </a:r>
          </a:p>
          <a:p>
            <a:r>
              <a:rPr lang="fr-FR"/>
              <a:t>https://code.claude.com/docs/en/mcp</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4</a:t>
            </a:fld>
            <a:endParaRPr lang="fr-FR"/>
          </a:p>
        </p:txBody>
      </p:sp>
    </p:spTree>
    <p:extLst>
      <p:ext uri="{BB962C8B-B14F-4D97-AF65-F5344CB8AC3E}">
        <p14:creationId xmlns:p14="http://schemas.microsoft.com/office/powerpoint/2010/main" val="3412595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Nommer ce qui organise le travail</a:t>
            </a:r>
          </a:p>
          <a:p>
            <a:endParaRPr lang="fr-FR"/>
          </a:p>
          <a:p>
            <a:r>
              <a:rPr lang="fr-FR"/>
              <a:t>ID : e05</a:t>
            </a:r>
          </a:p>
          <a:p>
            <a:r>
              <a:rPr lang="fr-FR"/>
              <a:t>CHAPITRE : La méthode</a:t>
            </a:r>
          </a:p>
          <a:p>
            <a:endParaRPr lang="fr-FR"/>
          </a:p>
          <a:p>
            <a:r>
              <a:rPr lang="fr-FR"/>
              <a:t>IDEE PRINCIPALE</a:t>
            </a:r>
          </a:p>
          <a:p>
            <a:r>
              <a:rPr lang="fr-FR"/>
              <a:t>Quatre mots pour passer d’une demande à une livraison.</a:t>
            </a:r>
          </a:p>
          <a:p>
            <a:endParaRPr lang="fr-FR"/>
          </a:p>
          <a:p>
            <a:r>
              <a:rPr lang="fr-FR"/>
              <a:t>A L'ECRAN</a:t>
            </a:r>
          </a:p>
          <a:p>
            <a:r>
              <a:rPr lang="fr-FR"/>
              <a:t>Skill : Une compétence réutilisable dans SKILL.md.</a:t>
            </a:r>
          </a:p>
          <a:p>
            <a:r>
              <a:rPr lang="fr-FR"/>
              <a:t>Sous-agent : Un exécutant avec son propre contexte.</a:t>
            </a:r>
          </a:p>
          <a:p>
            <a:r>
              <a:rPr lang="fr-FR"/>
              <a:t>Workflow : Un enchaînement de tâches et de contrôles.</a:t>
            </a:r>
          </a:p>
          <a:p>
            <a:r>
              <a:rPr lang="fr-FR"/>
              <a:t>Ticket : Un résultat attendu, un périmètre, un Done.</a:t>
            </a:r>
          </a:p>
          <a:p>
            <a:endParaRPr lang="fr-FR"/>
          </a:p>
          <a:p>
            <a:r>
              <a:rPr lang="fr-FR"/>
              <a:t>Théorie</a:t>
            </a:r>
          </a:p>
          <a:p>
            <a:r>
              <a:rPr lang="fr-FR"/>
              <a:t>Un skill décrit comment mener une catégorie de tâches et se charge lorsque cette compétence est utile. Un sous-agent reçoit une mission et travaille dans un contexte distinct, puis rend un résultat. Un workflow coordonne ces compétences, les exécutants et les moments de contrôle. Le ticket reste le contrat de travail commun à l’humain et à l’agent.</a:t>
            </a:r>
          </a:p>
          <a:p>
            <a:endParaRPr lang="fr-FR"/>
          </a:p>
          <a:p>
            <a:r>
              <a:rPr lang="fr-FR"/>
              <a:t>NOTES FORMATEUR</a:t>
            </a:r>
          </a:p>
          <a:p>
            <a:r>
              <a:rPr lang="fr-FR"/>
              <a:t>Un skill décrit comment mener une catégorie de tâches et se charge lorsque cette compétence est utile. Un sous-agent reçoit une mission et travaille dans un contexte distinct, puis rend un résultat. Un workflow coordonne ces compétences, les exécutants et les moments de contrôle. Le ticket reste le contrat de travail commun à l’humain et à l’agent.
Faire lire le titre, puis demander un exemple lié au ticket de l’apprenant. Terminer par l’action indiquée et montrer où retrouver cette fiche après la formation.</a:t>
            </a:r>
          </a:p>
          <a:p>
            <a:endParaRPr lang="fr-FR"/>
          </a:p>
          <a:p>
            <a:r>
              <a:rPr lang="fr-FR"/>
              <a:t>ACTION</a:t>
            </a:r>
          </a:p>
          <a:p>
            <a:r>
              <a:rPr lang="fr-FR"/>
              <a:t>Exercice · 2 min : décrivez votre ticket en une phrase.</a:t>
            </a:r>
          </a:p>
          <a:p>
            <a:endParaRPr lang="fr-FR"/>
          </a:p>
          <a:p>
            <a:r>
              <a:rPr lang="fr-FR"/>
              <a:t>SOURCES</a:t>
            </a:r>
          </a:p>
          <a:p>
            <a:r>
              <a:rPr lang="fr-FR"/>
              <a:t>Skills Claude Code · consulté le 14/09/2026</a:t>
            </a:r>
          </a:p>
          <a:p>
            <a:r>
              <a:rPr lang="fr-FR"/>
              <a:t>https://code.claude.com/docs/en/skills</a:t>
            </a:r>
          </a:p>
          <a:p>
            <a:endParaRPr lang="fr-FR"/>
          </a:p>
          <a:p>
            <a:r>
              <a:rPr lang="fr-FR"/>
              <a:t>Sous-agents Claude Code · consulté le 14/09/2026</a:t>
            </a:r>
          </a:p>
          <a:p>
            <a:r>
              <a:rPr lang="fr-FR"/>
              <a:t>https://code.claude.com/docs/en/sub-agents</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5</a:t>
            </a:fld>
            <a:endParaRPr lang="fr-FR"/>
          </a:p>
        </p:txBody>
      </p:sp>
    </p:spTree>
    <p:extLst>
      <p:ext uri="{BB962C8B-B14F-4D97-AF65-F5344CB8AC3E}">
        <p14:creationId xmlns:p14="http://schemas.microsoft.com/office/powerpoint/2010/main" val="1049417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contexte se choisit</a:t>
            </a:r>
          </a:p>
          <a:p>
            <a:endParaRPr lang="fr-FR"/>
          </a:p>
          <a:p>
            <a:r>
              <a:rPr lang="fr-FR"/>
              <a:t>ID : e06</a:t>
            </a:r>
          </a:p>
          <a:p>
            <a:r>
              <a:rPr lang="fr-FR"/>
              <a:t>CHAPITRE : La méthode</a:t>
            </a:r>
          </a:p>
          <a:p>
            <a:endParaRPr lang="fr-FR"/>
          </a:p>
          <a:p>
            <a:r>
              <a:rPr lang="fr-FR"/>
              <a:t>IDEE PRINCIPALE</a:t>
            </a:r>
          </a:p>
          <a:p>
            <a:r>
              <a:rPr lang="fr-FR"/>
              <a:t>Donnez ce qui change la décision de l’agent.</a:t>
            </a:r>
          </a:p>
          <a:p>
            <a:endParaRPr lang="fr-FR"/>
          </a:p>
          <a:p>
            <a:r>
              <a:rPr lang="fr-FR"/>
              <a:t>A L'ECRAN</a:t>
            </a:r>
          </a:p>
          <a:p>
            <a:r>
              <a:rPr lang="fr-FR"/>
              <a:t>Garder : Besoin, ticket, conventions, fichiers et preuves.</a:t>
            </a:r>
          </a:p>
          <a:p>
            <a:r>
              <a:rPr lang="fr-FR"/>
              <a:t>Écarter : Journaux bruts, doublons et historique inutile.</a:t>
            </a:r>
          </a:p>
          <a:p>
            <a:r>
              <a:rPr lang="fr-FR"/>
              <a:t>Inspecter : /context montre l’occupation du contexte.</a:t>
            </a:r>
          </a:p>
          <a:p>
            <a:r>
              <a:rPr lang="fr-FR"/>
              <a:t>Reprendre : /compact résume ; /resume retrouve une session.</a:t>
            </a:r>
          </a:p>
          <a:p>
            <a:endParaRPr lang="fr-FR"/>
          </a:p>
          <a:p>
            <a:r>
              <a:rPr lang="fr-FR"/>
              <a:t>Théorie</a:t>
            </a:r>
          </a:p>
          <a:p>
            <a:r>
              <a:rPr lang="fr-FR"/>
              <a:t>Le contexte contient les instructions, échanges et résultats d’outils disponibles pour la prochaine réponse. Ajouter davantage de texte peut augmenter le coût et diluer l’information utile. Une synthèse durable conserve les décisions, les chemins et les validations à refaire ; elle ne remplace pas les sources. /clear démarre une conversation vierge et /usage aide à inspecter la consommation (/cost en est un alias) : les détails affichés dépendent du mode d’accès.</a:t>
            </a:r>
          </a:p>
          <a:p>
            <a:endParaRPr lang="fr-FR"/>
          </a:p>
          <a:p>
            <a:r>
              <a:rPr lang="fr-FR"/>
              <a:t>NOTES FORMATEUR</a:t>
            </a:r>
          </a:p>
          <a:p>
            <a:r>
              <a:rPr lang="fr-FR"/>
              <a:t>Le contexte contient les instructions, échanges et résultats d’outils disponibles pour la prochaine réponse. Ajouter davantage de texte peut augmenter le coût et diluer l’information utile. Une synthèse durable conserve les décisions, les chemins et les validations à refaire ; elle ne remplace pas les sources. /clear démarre une conversation vierge et /usage aide à inspecter la consommation (/cost en est un alias) : les détails affichés dépendent du mode d’accès.
Faire préparer une synthèse de reprise ; ne pas vider une session sans avoir conservé les décisions utiles.</a:t>
            </a:r>
          </a:p>
          <a:p>
            <a:endParaRPr lang="fr-FR"/>
          </a:p>
          <a:p>
            <a:r>
              <a:rPr lang="fr-FR"/>
              <a:t>PROMPT OU CODE COMPLET</a:t>
            </a:r>
          </a:p>
          <a:p>
            <a:r>
              <a:rPr lang="fr-FR"/>
              <a:t>Prompt à copier</a:t>
            </a:r>
          </a:p>
          <a:p>
            <a:r>
              <a:rPr lang="fr-FR"/>
              <a:t>Résume la session pour une reprise :
objectif, décisions, fichiers, preuves et blocages.
Sépare ce qui est confirmé de ce qui reste à vérifier.</a:t>
            </a:r>
          </a:p>
          <a:p>
            <a:endParaRPr lang="fr-FR"/>
          </a:p>
          <a:p>
            <a:r>
              <a:rPr lang="fr-FR"/>
              <a:t>ACTION</a:t>
            </a:r>
          </a:p>
          <a:p>
            <a:r>
              <a:rPr lang="fr-FR"/>
              <a:t>Exercice · 3 min : gardez cinq faits utiles pour votre ticket.</a:t>
            </a:r>
          </a:p>
          <a:p>
            <a:endParaRPr lang="fr-FR"/>
          </a:p>
          <a:p>
            <a:r>
              <a:rPr lang="fr-FR"/>
              <a:t>SOURCES</a:t>
            </a:r>
          </a:p>
          <a:p>
            <a:r>
              <a:rPr lang="fr-FR"/>
              <a:t>Commandes Claude Code · consulté le 14/09/2026</a:t>
            </a:r>
          </a:p>
          <a:p>
            <a:r>
              <a:rPr lang="fr-FR"/>
              <a:t>https://code.claude.com/docs/en/commands</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6</a:t>
            </a:fld>
            <a:endParaRPr lang="fr-FR"/>
          </a:p>
        </p:txBody>
      </p:sp>
    </p:spTree>
    <p:extLst>
      <p:ext uri="{BB962C8B-B14F-4D97-AF65-F5344CB8AC3E}">
        <p14:creationId xmlns:p14="http://schemas.microsoft.com/office/powerpoint/2010/main" val="580248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Cinq étapes. Trois points de contrôle.</a:t>
            </a:r>
          </a:p>
          <a:p>
            <a:endParaRPr lang="fr-FR"/>
          </a:p>
          <a:p>
            <a:r>
              <a:rPr lang="fr-FR"/>
              <a:t>ID : e07</a:t>
            </a:r>
          </a:p>
          <a:p>
            <a:r>
              <a:rPr lang="fr-FR"/>
              <a:t>CHAPITRE : La méthode</a:t>
            </a:r>
          </a:p>
          <a:p>
            <a:endParaRPr lang="fr-FR"/>
          </a:p>
          <a:p>
            <a:r>
              <a:rPr lang="fr-FR"/>
              <a:t>IDEE PRINCIPALE</a:t>
            </a:r>
          </a:p>
          <a:p>
            <a:r>
              <a:rPr lang="fr-FR"/>
              <a:t>Relisez le plan, contrôlez chaque lot, vérifiez avant de fusionner.</a:t>
            </a:r>
          </a:p>
          <a:p>
            <a:endParaRPr lang="fr-FR"/>
          </a:p>
          <a:p>
            <a:r>
              <a:rPr lang="fr-FR"/>
              <a:t>A L'ECRAN</a:t>
            </a:r>
          </a:p>
          <a:p>
            <a:r>
              <a:rPr lang="fr-FR"/>
              <a:t>1 Cadrer : Un résultat mesurable et un ticket Ready.</a:t>
            </a:r>
          </a:p>
          <a:p>
            <a:r>
              <a:rPr lang="fr-FR"/>
              <a:t>2 Donner le contexte : Les bons fichiers et les frontières.</a:t>
            </a:r>
          </a:p>
          <a:p>
            <a:r>
              <a:rPr lang="fr-FR"/>
              <a:t>3 Améliorer le prompt : Cinq blocs, une demande exécutable.</a:t>
            </a:r>
          </a:p>
          <a:p>
            <a:r>
              <a:rPr lang="fr-FR"/>
              <a:t>4 Lancer : Un lot attribué, un agent responsable.</a:t>
            </a:r>
          </a:p>
          <a:p>
            <a:r>
              <a:rPr lang="fr-FR"/>
              <a:t>5 Vérifier et garder : Une preuve, puis une connaissance réutilisable.</a:t>
            </a:r>
          </a:p>
          <a:p>
            <a:endParaRPr lang="fr-FR"/>
          </a:p>
          <a:p>
            <a:r>
              <a:rPr lang="fr-FR"/>
              <a:t>Théorie</a:t>
            </a:r>
          </a:p>
          <a:p>
            <a:r>
              <a:rPr lang="fr-FR"/>
              <a:t>Les étapes constituent une routine commune, indépendante du modèle choisi. Un ticket mal cadré augmente les reprises même avec un outil performant. La reformulation permet de détecter un malentendu avant l’implémentation. Les contrôles portent sur des décisions et des résultats : le plan, le lot terminé et le comportement après intégration.</a:t>
            </a:r>
          </a:p>
          <a:p>
            <a:endParaRPr lang="fr-FR"/>
          </a:p>
          <a:p>
            <a:r>
              <a:rPr lang="fr-FR"/>
              <a:t>NOTES FORMATEUR</a:t>
            </a:r>
          </a:p>
          <a:p>
            <a:r>
              <a:rPr lang="fr-FR"/>
              <a:t>Les étapes constituent une routine commune, indépendante du modèle choisi. Un ticket mal cadré augmente les reprises même avec un outil performant. La reformulation permet de détecter un malentendu avant l’implémentation. Les contrôles portent sur des décisions et des résultats : le plan, le lot terminé et le comportement après intégration.
Faire lire le titre, puis demander un exemple lié au ticket de l’apprenant. Terminer par l’action indiquée et montrer où retrouver cette fiche après la formation.</a:t>
            </a:r>
          </a:p>
          <a:p>
            <a:endParaRPr lang="fr-FR"/>
          </a:p>
          <a:p>
            <a:r>
              <a:rPr lang="fr-FR"/>
              <a:t>ACTION</a:t>
            </a:r>
          </a:p>
          <a:p>
            <a:r>
              <a:rPr lang="fr-FR"/>
              <a:t>Choisissez l’étape qui manque aujourd’hui à votre pratique.</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7</a:t>
            </a:fld>
            <a:endParaRPr lang="fr-FR"/>
          </a:p>
        </p:txBody>
      </p:sp>
    </p:spTree>
    <p:extLst>
      <p:ext uri="{BB962C8B-B14F-4D97-AF65-F5344CB8AC3E}">
        <p14:creationId xmlns:p14="http://schemas.microsoft.com/office/powerpoint/2010/main" val="2928943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1 Cadrer</a:t>
            </a:r>
          </a:p>
          <a:p>
            <a:endParaRPr lang="fr-FR"/>
          </a:p>
          <a:p>
            <a:r>
              <a:rPr lang="fr-FR"/>
              <a:t>ID : e08</a:t>
            </a:r>
          </a:p>
          <a:p>
            <a:r>
              <a:rPr lang="fr-FR"/>
              <a:t>CHAPITRE : La méthode</a:t>
            </a:r>
          </a:p>
          <a:p>
            <a:endParaRPr lang="fr-FR"/>
          </a:p>
          <a:p>
            <a:r>
              <a:rPr lang="fr-FR"/>
              <a:t>IDEE PRINCIPALE</a:t>
            </a:r>
          </a:p>
          <a:p>
            <a:r>
              <a:rPr lang="fr-FR"/>
              <a:t>Un ticket devient Ready quand l’agent peut commencer sans deviner.</a:t>
            </a:r>
          </a:p>
          <a:p>
            <a:endParaRPr lang="fr-FR"/>
          </a:p>
          <a:p>
            <a:r>
              <a:rPr lang="fr-FR"/>
              <a:t>A L'ECRAN</a:t>
            </a:r>
          </a:p>
          <a:p>
            <a:r>
              <a:rPr lang="fr-FR"/>
              <a:t>Objectif SMART : Spécifique, mesurable, atteignable, utile, daté.</a:t>
            </a:r>
          </a:p>
          <a:p>
            <a:r>
              <a:rPr lang="fr-FR"/>
              <a:t>Ready : Données, contrat et périmètre disponibles.</a:t>
            </a:r>
          </a:p>
          <a:p>
            <a:r>
              <a:rPr lang="fr-FR"/>
              <a:t>Done : Résultats visibles et validation reproductible.</a:t>
            </a:r>
          </a:p>
          <a:p>
            <a:endParaRPr lang="fr-FR"/>
          </a:p>
          <a:p>
            <a:r>
              <a:rPr lang="fr-FR"/>
              <a:t>Théorie</a:t>
            </a:r>
          </a:p>
          <a:p>
            <a:r>
              <a:rPr lang="fr-FR"/>
              <a:t>SMART oblige à nommer le changement attendu et une échéance de travail. Ready décrit les conditions nécessaires avant le départ ; Done décrit ce qu’un relecteur pourra constater à l’arrivée. Une commande réussie est une preuve technique, mais ne remplace pas le parcours utilisateur. Les quantités et horaires du kit sont des cibles proposées, à confirmer avec le PO avant de démarrer.</a:t>
            </a:r>
          </a:p>
          <a:p>
            <a:endParaRPr lang="fr-FR"/>
          </a:p>
          <a:p>
            <a:r>
              <a:rPr lang="fr-FR"/>
              <a:t>NOTES FORMATEUR</a:t>
            </a:r>
          </a:p>
          <a:p>
            <a:r>
              <a:rPr lang="fr-FR"/>
              <a:t>SMART oblige à nommer le changement attendu et une échéance de travail. Ready décrit les conditions nécessaires avant le départ ; Done décrit ce qu’un relecteur pourra constater à l’arrivée. Une commande réussie est une preuve technique, mais ne remplace pas le parcours utilisateur. Les quantités et horaires du kit sont des cibles proposées, à confirmer avec le PO avant de démarrer.
Faire lire le titre, puis demander un exemple lié au ticket de l’apprenant. Terminer par l’action indiquée et montrer où retrouver cette fiche après la formation.</a:t>
            </a:r>
          </a:p>
          <a:p>
            <a:endParaRPr lang="fr-FR"/>
          </a:p>
          <a:p>
            <a:r>
              <a:rPr lang="fr-FR"/>
              <a:t>PROMPT OU CODE COMPLET</a:t>
            </a:r>
          </a:p>
          <a:p>
            <a:r>
              <a:rPr lang="fr-FR"/>
              <a:t>Prompt à copier</a:t>
            </a:r>
          </a:p>
          <a:p>
            <a:r>
              <a:rPr lang="fr-FR"/>
              <a:t>/ticket-ready Afficher les organismes du jeu validé
avec nom, source et moyens de contact disponibles.
Lot : src/features/annuaire/. Échéance : 10h45.</a:t>
            </a:r>
          </a:p>
          <a:p>
            <a:endParaRPr lang="fr-FR"/>
          </a:p>
          <a:p>
            <a:r>
              <a:rPr lang="fr-FR"/>
              <a:t>ACTION</a:t>
            </a:r>
          </a:p>
          <a:p>
            <a:r>
              <a:rPr lang="fr-FR"/>
              <a:t>Exercice · 5 min : rendez votre ticket Ready.</a:t>
            </a:r>
          </a:p>
          <a:p>
            <a:endParaRPr lang="fr-FR"/>
          </a:p>
          <a:p>
            <a:r>
              <a:rPr lang="fr-FR"/>
              <a:t>SOURCES</a:t>
            </a:r>
          </a:p>
          <a:p>
            <a:r>
              <a:rPr lang="fr-FR"/>
              <a:t>Skills Claude Code · consulté le 14/09/2026</a:t>
            </a:r>
          </a:p>
          <a:p>
            <a:r>
              <a:rPr lang="fr-FR"/>
              <a:t>https://code.claude.com/docs/en/skills</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8</a:t>
            </a:fld>
            <a:endParaRPr lang="fr-FR"/>
          </a:p>
        </p:txBody>
      </p:sp>
    </p:spTree>
    <p:extLst>
      <p:ext uri="{BB962C8B-B14F-4D97-AF65-F5344CB8AC3E}">
        <p14:creationId xmlns:p14="http://schemas.microsoft.com/office/powerpoint/2010/main" val="305626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2 Donner le contexte</a:t>
            </a:r>
          </a:p>
          <a:p>
            <a:endParaRPr lang="fr-FR"/>
          </a:p>
          <a:p>
            <a:r>
              <a:rPr lang="fr-FR"/>
              <a:t>ID : e09</a:t>
            </a:r>
          </a:p>
          <a:p>
            <a:r>
              <a:rPr lang="fr-FR"/>
              <a:t>CHAPITRE : La méthode</a:t>
            </a:r>
          </a:p>
          <a:p>
            <a:endParaRPr lang="fr-FR"/>
          </a:p>
          <a:p>
            <a:r>
              <a:rPr lang="fr-FR"/>
              <a:t>IDEE PRINCIPALE</a:t>
            </a:r>
          </a:p>
          <a:p>
            <a:r>
              <a:rPr lang="fr-FR"/>
              <a:t>Un dossier attribué et un contrat commun évitent les collisions.</a:t>
            </a:r>
          </a:p>
          <a:p>
            <a:endParaRPr lang="fr-FR"/>
          </a:p>
          <a:p>
            <a:r>
              <a:rPr lang="fr-FR"/>
              <a:t>A L'ECRAN</a:t>
            </a:r>
          </a:p>
          <a:p>
            <a:r>
              <a:rPr lang="fr-FR"/>
              <a:t>Lire : CLAUDE.md, README et les conventions.</a:t>
            </a:r>
          </a:p>
          <a:p>
            <a:r>
              <a:rPr lang="fr-FR"/>
              <a:t>Attribuer : Un lot possède son dossier src/features/.</a:t>
            </a:r>
          </a:p>
          <a:p>
            <a:r>
              <a:rPr lang="fr-FR"/>
              <a:t>Partager : Types et signatures dans src/types/.</a:t>
            </a:r>
          </a:p>
          <a:p>
            <a:r>
              <a:rPr lang="fr-FR"/>
              <a:t>Préserver : Les secrets et les fichiers des autres lots.</a:t>
            </a:r>
          </a:p>
          <a:p>
            <a:endParaRPr lang="fr-FR"/>
          </a:p>
          <a:p>
            <a:r>
              <a:rPr lang="fr-FR"/>
              <a:t>Théorie</a:t>
            </a:r>
          </a:p>
          <a:p>
            <a:r>
              <a:rPr lang="fr-FR"/>
              <a:t>Le contexte utile se trouve surtout dans le dépôt : commandes réelles, conventions, types et exemples. Un CLAUDE.md court fournit les règles durables ; le ticket ajoute la mission du moment. Les lots s’appuient sur le même contrat pour développer en parallèle. Une modification du contrat doit être annoncée à l’intégration avant d’être appliquée, car elle peut casser plusieurs lots.</a:t>
            </a:r>
          </a:p>
          <a:p>
            <a:endParaRPr lang="fr-FR"/>
          </a:p>
          <a:p>
            <a:r>
              <a:rPr lang="fr-FR"/>
              <a:t>NOTES FORMATEUR</a:t>
            </a:r>
          </a:p>
          <a:p>
            <a:r>
              <a:rPr lang="fr-FR"/>
              <a:t>Le contexte utile se trouve surtout dans le dépôt : commandes réelles, conventions, types et exemples. Un CLAUDE.md court fournit les règles durables ; le ticket ajoute la mission du moment. Les lots s’appuient sur le même contrat pour développer en parallèle. Une modification du contrat doit être annoncée à l’intégration avant d’être appliquée, car elle peut casser plusieurs lots.
Faire lire le titre, puis demander un exemple lié au ticket de l’apprenant. Terminer par l’action indiquée et montrer où retrouver cette fiche après la formation.</a:t>
            </a:r>
          </a:p>
          <a:p>
            <a:endParaRPr lang="fr-FR"/>
          </a:p>
          <a:p>
            <a:r>
              <a:rPr lang="fr-FR"/>
              <a:t>PROMPT OU CODE COMPLET</a:t>
            </a:r>
          </a:p>
          <a:p>
            <a:r>
              <a:rPr lang="fr-FR"/>
              <a:t>Prompt à copier</a:t>
            </a:r>
          </a:p>
          <a:p>
            <a:r>
              <a:rPr lang="fr-FR"/>
              <a:t>Lis CLAUDE.md, README.md et docs/CONVENTIONS.md.
Lis src/types/orientation.ts s’il existe.
Mon lot : src/features/annuaire/.
Signale tout fichier manquant. Propose un plan, sans coder.</a:t>
            </a:r>
          </a:p>
          <a:p>
            <a:endParaRPr lang="fr-FR"/>
          </a:p>
          <a:p>
            <a:r>
              <a:rPr lang="fr-FR"/>
              <a:t>ACTION</a:t>
            </a:r>
          </a:p>
          <a:p>
            <a:r>
              <a:rPr lang="fr-FR"/>
              <a:t>Exercice · 3 min : montrez les fichiers autorisés de votre lot.</a:t>
            </a:r>
          </a:p>
          <a:p>
            <a:endParaRPr lang="fr-FR"/>
          </a:p>
          <a:p>
            <a:r>
              <a:rPr lang="fr-FR"/>
              <a:t>SOURCES</a:t>
            </a:r>
          </a:p>
          <a:p>
            <a:r>
              <a:rPr lang="fr-FR"/>
              <a:t>Claude Code · consulté le 14/09/2026</a:t>
            </a:r>
          </a:p>
          <a:p>
            <a:r>
              <a:rPr lang="fr-FR"/>
              <a:t>https://code.claude.com/docs/en/overview</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9</a:t>
            </a:fld>
            <a:endParaRPr lang="fr-FR"/>
          </a:p>
        </p:txBody>
      </p:sp>
    </p:spTree>
    <p:extLst>
      <p:ext uri="{BB962C8B-B14F-4D97-AF65-F5344CB8AC3E}">
        <p14:creationId xmlns:p14="http://schemas.microsoft.com/office/powerpoint/2010/main" val="3735384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3 Améliorer le prompt</a:t>
            </a:r>
          </a:p>
          <a:p>
            <a:endParaRPr lang="fr-FR"/>
          </a:p>
          <a:p>
            <a:r>
              <a:rPr lang="fr-FR"/>
              <a:t>ID : e10</a:t>
            </a:r>
          </a:p>
          <a:p>
            <a:r>
              <a:rPr lang="fr-FR"/>
              <a:t>CHAPITRE : La méthode</a:t>
            </a:r>
          </a:p>
          <a:p>
            <a:endParaRPr lang="fr-FR"/>
          </a:p>
          <a:p>
            <a:r>
              <a:rPr lang="fr-FR"/>
              <a:t>IDEE PRINCIPALE</a:t>
            </a:r>
          </a:p>
          <a:p>
            <a:r>
              <a:rPr lang="fr-FR"/>
              <a:t>Remplacez « fais le chatbot » par cinq blocs précis.</a:t>
            </a:r>
          </a:p>
          <a:p>
            <a:endParaRPr lang="fr-FR"/>
          </a:p>
          <a:p>
            <a:r>
              <a:rPr lang="fr-FR"/>
              <a:t>A L'ECRAN</a:t>
            </a:r>
          </a:p>
          <a:p>
            <a:r>
              <a:rPr lang="fr-FR"/>
              <a:t>Rôle + contexte : Qui agit, sur quels fichiers et données.</a:t>
            </a:r>
          </a:p>
          <a:p>
            <a:r>
              <a:rPr lang="fr-FR"/>
              <a:t>Tâche : Une action et un résultat attendu.</a:t>
            </a:r>
          </a:p>
          <a:p>
            <a:r>
              <a:rPr lang="fr-FR"/>
              <a:t>Contraintes + exemples : Les limites et un cas observable.</a:t>
            </a:r>
          </a:p>
          <a:p>
            <a:endParaRPr lang="fr-FR"/>
          </a:p>
          <a:p>
            <a:r>
              <a:rPr lang="fr-FR"/>
              <a:t>Théorie</a:t>
            </a:r>
          </a:p>
          <a:p>
            <a:r>
              <a:rPr lang="fr-FR"/>
              <a:t>Le skill local claude-5-prompt organise une demande en [RÔLE], [CONTEXTE], [TÂCHE], [CONTRAINTES] et [EXEMPLES]. Le kit en reprend cette structure sans ses anciennes références de modèles ni son code API. Le but est de retirer l’ambiguïté, pas d’allonger le prompt. Comparez « fais un bel annuaire » au prompt ci-dessous : la source des données, les fichiers et le cas de contact absent deviennent explicites.</a:t>
            </a:r>
          </a:p>
          <a:p>
            <a:endParaRPr lang="fr-FR"/>
          </a:p>
          <a:p>
            <a:r>
              <a:rPr lang="fr-FR"/>
              <a:t>NOTES FORMATEUR</a:t>
            </a:r>
          </a:p>
          <a:p>
            <a:r>
              <a:rPr lang="fr-FR"/>
              <a:t>Le skill local claude-5-prompt organise une demande en [RÔLE], [CONTEXTE], [TÂCHE], [CONTRAINTES] et [EXEMPLES]. Le kit en reprend cette structure sans ses anciennes références de modèles ni son code API. Le but est de retirer l’ambiguïté, pas d’allonger le prompt. Comparez « fais un bel annuaire » au prompt ci-dessous : la source des données, les fichiers et le cas de contact absent deviennent explicites.
Faire lire le titre, puis demander un exemple lié au ticket de l’apprenant. Terminer par l’action indiquée et montrer où retrouver cette fiche après la formation.</a:t>
            </a:r>
          </a:p>
          <a:p>
            <a:endParaRPr lang="fr-FR"/>
          </a:p>
          <a:p>
            <a:r>
              <a:rPr lang="fr-FR"/>
              <a:t>PROMPT OU CODE COMPLET</a:t>
            </a:r>
          </a:p>
          <a:p>
            <a:r>
              <a:rPr lang="fr-FR"/>
              <a:t>Prompt à copier</a:t>
            </a:r>
          </a:p>
          <a:p>
            <a:r>
              <a:rPr lang="fr-FR"/>
              <a:t>[RÔLE] Développeur front de ce dépôt.
[CONTEXTE] Lot src/features/annuaire/, données validées.
[TÂCHE] Affiche le nom, la source et les contacts disponibles.
[CONTRAINTES] Respecte src/types/orientation.ts.
Modifie seulement mon lot. N’invente aucun contact.
[EXEMPLES] Téléphone absent : aucun bouton Appeler.
Retourne les fichiers, les validations et les blocages.</a:t>
            </a:r>
          </a:p>
          <a:p>
            <a:endParaRPr lang="fr-FR"/>
          </a:p>
          <a:p>
            <a:r>
              <a:rPr lang="fr-FR"/>
              <a:t>ACTION</a:t>
            </a:r>
          </a:p>
          <a:p>
            <a:r>
              <a:rPr lang="fr-FR"/>
              <a:t>Exercice · 5 min : utilisez /prompt-5 sur votre ticket.</a:t>
            </a:r>
          </a:p>
          <a:p>
            <a:endParaRPr lang="fr-FR"/>
          </a:p>
          <a:p>
            <a:r>
              <a:rPr lang="fr-FR"/>
              <a:t>SOURCES</a:t>
            </a:r>
          </a:p>
          <a:p>
            <a:r>
              <a:rPr lang="fr-FR"/>
              <a:t>Skills Claude Code · consulté le 14/09/2026</a:t>
            </a:r>
          </a:p>
          <a:p>
            <a:r>
              <a:rPr lang="fr-FR"/>
              <a:t>https://code.claude.com/docs/en/skills</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10</a:t>
            </a:fld>
            <a:endParaRPr lang="fr-FR"/>
          </a:p>
        </p:txBody>
      </p:sp>
    </p:spTree>
    <p:extLst>
      <p:ext uri="{BB962C8B-B14F-4D97-AF65-F5344CB8AC3E}">
        <p14:creationId xmlns:p14="http://schemas.microsoft.com/office/powerpoint/2010/main" val="3792188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4 Lancer</a:t>
            </a:r>
          </a:p>
          <a:p>
            <a:endParaRPr lang="fr-FR"/>
          </a:p>
          <a:p>
            <a:r>
              <a:rPr lang="fr-FR"/>
              <a:t>ID : e11</a:t>
            </a:r>
          </a:p>
          <a:p>
            <a:r>
              <a:rPr lang="fr-FR"/>
              <a:t>CHAPITRE : La méthode</a:t>
            </a:r>
          </a:p>
          <a:p>
            <a:endParaRPr lang="fr-FR"/>
          </a:p>
          <a:p>
            <a:r>
              <a:rPr lang="fr-FR"/>
              <a:t>IDEE PRINCIPALE</a:t>
            </a:r>
          </a:p>
          <a:p>
            <a:r>
              <a:rPr lang="fr-FR"/>
              <a:t>Un lot indépendant reçoit une mission et rend des preuves.</a:t>
            </a:r>
          </a:p>
          <a:p>
            <a:endParaRPr lang="fr-FR"/>
          </a:p>
          <a:p>
            <a:r>
              <a:rPr lang="fr-FR"/>
              <a:t>A L'ECRAN</a:t>
            </a:r>
          </a:p>
          <a:p>
            <a:r>
              <a:rPr lang="fr-FR"/>
              <a:t>Planifier : Valider le plan avant les modifications.</a:t>
            </a:r>
          </a:p>
          <a:p>
            <a:r>
              <a:rPr lang="fr-FR"/>
              <a:t>Séparer : Un dossier par lot ; contrat en lecture seule.</a:t>
            </a:r>
          </a:p>
          <a:p>
            <a:r>
              <a:rPr lang="fr-FR"/>
              <a:t>Rapporter : Fichiers, commande, résultat, blocages.</a:t>
            </a:r>
          </a:p>
          <a:p>
            <a:endParaRPr lang="fr-FR"/>
          </a:p>
          <a:p>
            <a:r>
              <a:rPr lang="fr-FR"/>
              <a:t>Théorie</a:t>
            </a:r>
          </a:p>
          <a:p>
            <a:r>
              <a:rPr lang="fr-FR"/>
              <a:t>Un sous-agent peut explorer ou implémenter une mission bornée dans son propre contexte. Le parallélisme aide lorsque les fichiers et les dépendances sont séparés ; il crée des conflits si plusieurs agents réécrivent le même point d’intégration. Dans Claude Code, le mode Plan permet de préparer l’approche avant l’exécution, et les sous-agents personnalisés peuvent être configurés dans .claude/agents/. La durée réelle dépend du modèle, du réseau et de la difficulté : prévoyez un point de situation.</a:t>
            </a:r>
          </a:p>
          <a:p>
            <a:endParaRPr lang="fr-FR"/>
          </a:p>
          <a:p>
            <a:r>
              <a:rPr lang="fr-FR"/>
              <a:t>NOTES FORMATEUR</a:t>
            </a:r>
          </a:p>
          <a:p>
            <a:r>
              <a:rPr lang="fr-FR"/>
              <a:t>Un sous-agent peut explorer ou implémenter une mission bornée dans son propre contexte. Le parallélisme aide lorsque les fichiers et les dépendances sont séparés ; il crée des conflits si plusieurs agents réécrivent le même point d’intégration. Dans Claude Code, le mode Plan permet de préparer l’approche avant l’exécution, et les sous-agents personnalisés peuvent être configurés dans .claude/agents/. La durée réelle dépend du modèle, du réseau et de la difficulté : prévoyez un point de situation.
Faire lire le titre, puis demander un exemple lié au ticket de l’apprenant. Terminer par l’action indiquée et montrer où retrouver cette fiche après la formation.</a:t>
            </a:r>
          </a:p>
          <a:p>
            <a:endParaRPr lang="fr-FR"/>
          </a:p>
          <a:p>
            <a:r>
              <a:rPr lang="fr-FR"/>
              <a:t>PROMPT OU CODE COMPLET</a:t>
            </a:r>
          </a:p>
          <a:p>
            <a:r>
              <a:rPr lang="fr-FR"/>
              <a:t>Prompt à copier</a:t>
            </a:r>
          </a:p>
          <a:p>
            <a:r>
              <a:rPr lang="fr-FR"/>
              <a:t>Lance un sous-agent pour le ticket ANNU-01 validé.
Il travaille uniquement dans src/features/annuaire/.
Il lit le contrat commun sans le modifier.
Exige : fichiers modifiés, validations, résultat, blocages.</a:t>
            </a:r>
          </a:p>
          <a:p>
            <a:endParaRPr lang="fr-FR"/>
          </a:p>
          <a:p>
            <a:r>
              <a:rPr lang="fr-FR"/>
              <a:t>ACTION</a:t>
            </a:r>
          </a:p>
          <a:p>
            <a:r>
              <a:rPr lang="fr-FR"/>
              <a:t>Exercice · 3 min : lancez un seul lot prêt.</a:t>
            </a:r>
          </a:p>
          <a:p>
            <a:endParaRPr lang="fr-FR"/>
          </a:p>
          <a:p>
            <a:r>
              <a:rPr lang="fr-FR"/>
              <a:t>SOURCES</a:t>
            </a:r>
          </a:p>
          <a:p>
            <a:r>
              <a:rPr lang="fr-FR"/>
              <a:t>Sous-agents Claude Code · consulté le 14/09/2026</a:t>
            </a:r>
          </a:p>
          <a:p>
            <a:r>
              <a:rPr lang="fr-FR"/>
              <a:t>https://code.claude.com/docs/en/sub-agents</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11</a:t>
            </a:fld>
            <a:endParaRPr lang="fr-FR"/>
          </a:p>
        </p:txBody>
      </p:sp>
    </p:spTree>
    <p:extLst>
      <p:ext uri="{BB962C8B-B14F-4D97-AF65-F5344CB8AC3E}">
        <p14:creationId xmlns:p14="http://schemas.microsoft.com/office/powerpoint/2010/main" val="34342029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5 Vérifier et garder</a:t>
            </a:r>
          </a:p>
          <a:p>
            <a:endParaRPr lang="fr-FR"/>
          </a:p>
          <a:p>
            <a:r>
              <a:rPr lang="fr-FR"/>
              <a:t>ID : e12</a:t>
            </a:r>
          </a:p>
          <a:p>
            <a:r>
              <a:rPr lang="fr-FR"/>
              <a:t>CHAPITRE : La méthode</a:t>
            </a:r>
          </a:p>
          <a:p>
            <a:endParaRPr lang="fr-FR"/>
          </a:p>
          <a:p>
            <a:r>
              <a:rPr lang="fr-FR"/>
              <a:t>IDEE PRINCIPALE</a:t>
            </a:r>
          </a:p>
          <a:p>
            <a:r>
              <a:rPr lang="fr-FR"/>
              <a:t>« L’agent a fini » devient Done avec une preuve.</a:t>
            </a:r>
          </a:p>
          <a:p>
            <a:endParaRPr lang="fr-FR"/>
          </a:p>
          <a:p>
            <a:r>
              <a:rPr lang="fr-FR"/>
              <a:t>A L'ECRAN</a:t>
            </a:r>
          </a:p>
          <a:p>
            <a:r>
              <a:rPr lang="fr-FR"/>
              <a:t>Relire : Comprendre le diff et les sources.</a:t>
            </a:r>
          </a:p>
          <a:p>
            <a:r>
              <a:rPr lang="fr-FR"/>
              <a:t>Valider : Lint, build et parcours utilisateur.</a:t>
            </a:r>
          </a:p>
          <a:p>
            <a:r>
              <a:rPr lang="fr-FR"/>
              <a:t>Éprouver : Cas vide, contact absent et langue de repli.</a:t>
            </a:r>
          </a:p>
          <a:p>
            <a:r>
              <a:rPr lang="fr-FR"/>
              <a:t>Garder : Décision, source et preuve dans le wiki.</a:t>
            </a:r>
          </a:p>
          <a:p>
            <a:endParaRPr lang="fr-FR"/>
          </a:p>
          <a:p>
            <a:r>
              <a:rPr lang="fr-FR"/>
              <a:t>Théorie</a:t>
            </a:r>
          </a:p>
          <a:p>
            <a:r>
              <a:rPr lang="fr-FR"/>
              <a:t>Un build valide les types et la production du bundle, selon les scripts du dépôt. Le lint détecte certaines erreurs de code ; aucun des deux ne garantit que le parcours convient à l’utilisateur. Une recette vérifie le comportement observable et ses cas limites, puis le relecteur conserve les commandes et résultats. Le wiki garde ce qui sera utile au prochain ticket : une décision ou une recette, avec son contexte et sa source.</a:t>
            </a:r>
          </a:p>
          <a:p>
            <a:endParaRPr lang="fr-FR"/>
          </a:p>
          <a:p>
            <a:r>
              <a:rPr lang="fr-FR"/>
              <a:t>NOTES FORMATEUR</a:t>
            </a:r>
          </a:p>
          <a:p>
            <a:r>
              <a:rPr lang="fr-FR"/>
              <a:t>Un build valide les types et la production du bundle, selon les scripts du dépôt. Le lint détecte certaines erreurs de code ; aucun des deux ne garantit que le parcours convient à l’utilisateur. Une recette vérifie le comportement observable et ses cas limites, puis le relecteur conserve les commandes et résultats. Le wiki garde ce qui sera utile au prochain ticket : une décision ou une recette, avec son contexte et sa source.
Faire lire le titre, puis demander un exemple lié au ticket de l’apprenant. Terminer par l’action indiquée et montrer où retrouver cette fiche après la formation.</a:t>
            </a:r>
          </a:p>
          <a:p>
            <a:endParaRPr lang="fr-FR"/>
          </a:p>
          <a:p>
            <a:r>
              <a:rPr lang="fr-FR"/>
              <a:t>PROMPT OU CODE COMPLET</a:t>
            </a:r>
          </a:p>
          <a:p>
            <a:r>
              <a:rPr lang="fr-FR"/>
              <a:t>Commandes du projet</a:t>
            </a:r>
          </a:p>
          <a:p>
            <a:r>
              <a:rPr lang="fr-FR"/>
              <a:t>npm run lint
npm run build</a:t>
            </a:r>
          </a:p>
          <a:p>
            <a:endParaRPr lang="fr-FR"/>
          </a:p>
          <a:p>
            <a:r>
              <a:rPr lang="fr-FR"/>
              <a:t>ACTION</a:t>
            </a:r>
          </a:p>
          <a:p>
            <a:r>
              <a:rPr lang="fr-FR"/>
              <a:t>Exercice · 5 min : produisez une preuve de votre Done.</a:t>
            </a:r>
          </a:p>
          <a:p>
            <a:endParaRPr lang="fr-FR"/>
          </a:p>
          <a:p>
            <a:r>
              <a:rPr lang="fr-FR"/>
              <a:t>SOURCES</a:t>
            </a:r>
          </a:p>
          <a:p>
            <a:r>
              <a:rPr lang="fr-FR"/>
              <a:t>Conventions du dépôt · consulté le 14/09/2026</a:t>
            </a:r>
          </a:p>
          <a:p>
            <a:r>
              <a:rPr lang="fr-FR"/>
              <a:t>https://github.com/Shadojin94/dev_ag_reconnect</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12</a:t>
            </a:fld>
            <a:endParaRPr lang="fr-FR"/>
          </a:p>
        </p:txBody>
      </p:sp>
    </p:spTree>
    <p:extLst>
      <p:ext uri="{BB962C8B-B14F-4D97-AF65-F5344CB8AC3E}">
        <p14:creationId xmlns:p14="http://schemas.microsoft.com/office/powerpoint/2010/main" val="318274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recette, l’exécutant et le parcours</a:t>
            </a:r>
          </a:p>
          <a:p>
            <a:endParaRPr lang="fr-FR"/>
          </a:p>
          <a:p>
            <a:r>
              <a:rPr lang="fr-FR"/>
              <a:t>ID : e13</a:t>
            </a:r>
          </a:p>
          <a:p>
            <a:r>
              <a:rPr lang="fr-FR"/>
              <a:t>CHAPITRE : La méthode</a:t>
            </a:r>
          </a:p>
          <a:p>
            <a:endParaRPr lang="fr-FR"/>
          </a:p>
          <a:p>
            <a:r>
              <a:rPr lang="fr-FR"/>
              <a:t>IDEE PRINCIPALE</a:t>
            </a:r>
          </a:p>
          <a:p>
            <a:r>
              <a:rPr lang="fr-FR"/>
              <a:t>Skill, sous-agent et workflow répondent à trois besoins distincts.</a:t>
            </a:r>
          </a:p>
          <a:p>
            <a:endParaRPr lang="fr-FR"/>
          </a:p>
          <a:p>
            <a:r>
              <a:rPr lang="fr-FR"/>
              <a:t>A L'ECRAN</a:t>
            </a:r>
          </a:p>
          <a:p>
            <a:r>
              <a:rPr lang="fr-FR"/>
              <a:t>Skill · comment faire : /prompt-5 reformule une demande.</a:t>
            </a:r>
          </a:p>
          <a:p>
            <a:r>
              <a:rPr lang="fr-FR"/>
              <a:t>Sous-agent · qui exécute : Un agent construit le lot annuaire.</a:t>
            </a:r>
          </a:p>
          <a:p>
            <a:r>
              <a:rPr lang="fr-FR"/>
              <a:t>Workflow · dans quel ordre : Cadrer, contextualiser, reformuler, lancer, vérifier.</a:t>
            </a:r>
          </a:p>
          <a:p>
            <a:endParaRPr lang="fr-FR"/>
          </a:p>
          <a:p>
            <a:r>
              <a:rPr lang="fr-FR"/>
              <a:t>Théorie</a:t>
            </a:r>
          </a:p>
          <a:p>
            <a:r>
              <a:rPr lang="fr-FR"/>
              <a:t>La distinction donnée en formation reste pratique : une compétence, un exécutant, un enchaînement de bout en bout. Un workflow peut appeler plusieurs skills et déléguer une partie du travail. Un skill peut également contenir une procédure courte sans orchestrer toute une équipe. Dans le kit, /lancer-workflow porte le parcours de cinq étapes et réutilise la structure de /prompt-5.</a:t>
            </a:r>
          </a:p>
          <a:p>
            <a:endParaRPr lang="fr-FR"/>
          </a:p>
          <a:p>
            <a:r>
              <a:rPr lang="fr-FR"/>
              <a:t>NOTES FORMATEUR</a:t>
            </a:r>
          </a:p>
          <a:p>
            <a:r>
              <a:rPr lang="fr-FR"/>
              <a:t>La distinction donnée en formation reste pratique : une compétence, un exécutant, un enchaînement de bout en bout. Un workflow peut appeler plusieurs skills et déléguer une partie du travail. Un skill peut également contenir une procédure courte sans orchestrer toute une équipe. Dans le kit, /lancer-workflow porte le parcours de cinq étapes et réutilise la structure de /prompt-5.
Faire lire le titre, puis demander un exemple lié au ticket de l’apprenant. Terminer par l’action indiquée et montrer où retrouver cette fiche après la formation.</a:t>
            </a:r>
          </a:p>
          <a:p>
            <a:endParaRPr lang="fr-FR"/>
          </a:p>
          <a:p>
            <a:r>
              <a:rPr lang="fr-FR"/>
              <a:t>PROMPT OU CODE COMPLET</a:t>
            </a:r>
          </a:p>
          <a:p>
            <a:r>
              <a:rPr lang="fr-FR"/>
              <a:t>Prompt à copier</a:t>
            </a:r>
          </a:p>
          <a:p>
            <a:r>
              <a:rPr lang="fr-FR"/>
              <a:t>Décris le workflow du ticket ANNU-01.
Pour chaque étape : compétence, exécutant, entrée, preuve.
Reste dans les cinq étapes du support.</a:t>
            </a:r>
          </a:p>
          <a:p>
            <a:endParaRPr lang="fr-FR"/>
          </a:p>
          <a:p>
            <a:r>
              <a:rPr lang="fr-FR"/>
              <a:t>ACTION</a:t>
            </a:r>
          </a:p>
          <a:p>
            <a:r>
              <a:rPr lang="fr-FR"/>
              <a:t>Exercice · 2 min : nommez le skill et l’agent de votre lot.</a:t>
            </a:r>
          </a:p>
          <a:p>
            <a:endParaRPr lang="fr-FR"/>
          </a:p>
          <a:p>
            <a:r>
              <a:rPr lang="fr-FR"/>
              <a:t>SOURCES</a:t>
            </a:r>
          </a:p>
          <a:p>
            <a:r>
              <a:rPr lang="fr-FR"/>
              <a:t>Skills Claude Code · consulté le 14/09/2026</a:t>
            </a:r>
          </a:p>
          <a:p>
            <a:r>
              <a:rPr lang="fr-FR"/>
              <a:t>https://code.claude.com/docs/en/skills</a:t>
            </a:r>
          </a:p>
          <a:p>
            <a:endParaRPr lang="fr-FR"/>
          </a:p>
          <a:p>
            <a:r>
              <a:rPr lang="fr-FR"/>
              <a:t>Sous-agents Claude Code · consulté le 14/09/2026</a:t>
            </a:r>
          </a:p>
          <a:p>
            <a:r>
              <a:rPr lang="fr-FR"/>
              <a:t>https://code.claude.com/docs/en/sub-agents</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13</a:t>
            </a:fld>
            <a:endParaRPr lang="fr-FR"/>
          </a:p>
        </p:txBody>
      </p:sp>
    </p:spTree>
    <p:extLst>
      <p:ext uri="{BB962C8B-B14F-4D97-AF65-F5344CB8AC3E}">
        <p14:creationId xmlns:p14="http://schemas.microsoft.com/office/powerpoint/2010/main" val="1947194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Lancer le workflow en cinq gestes</a:t>
            </a:r>
          </a:p>
          <a:p>
            <a:endParaRPr lang="fr-FR"/>
          </a:p>
          <a:p>
            <a:r>
              <a:rPr lang="fr-FR"/>
              <a:t>ID : e14</a:t>
            </a:r>
          </a:p>
          <a:p>
            <a:r>
              <a:rPr lang="fr-FR"/>
              <a:t>CHAPITRE : La méthode</a:t>
            </a:r>
          </a:p>
          <a:p>
            <a:endParaRPr lang="fr-FR"/>
          </a:p>
          <a:p>
            <a:r>
              <a:rPr lang="fr-FR"/>
              <a:t>IDEE PRINCIPALE</a:t>
            </a:r>
          </a:p>
          <a:p>
            <a:r>
              <a:rPr lang="fr-FR"/>
              <a:t>Le prompt reformulé est votre point de contrôle.</a:t>
            </a:r>
          </a:p>
          <a:p>
            <a:endParaRPr lang="fr-FR"/>
          </a:p>
          <a:p>
            <a:r>
              <a:rPr lang="fr-FR"/>
              <a:t>A L'ECRAN</a:t>
            </a:r>
          </a:p>
          <a:p>
            <a:r>
              <a:rPr lang="fr-FR"/>
              <a:t>1 Cadrer : Ouvrez le projet et choisissez un ticket.</a:t>
            </a:r>
          </a:p>
          <a:p>
            <a:r>
              <a:rPr lang="fr-FR"/>
              <a:t>2 Donner le contexte : Indiquez contrat et dossier attribué.</a:t>
            </a:r>
          </a:p>
          <a:p>
            <a:r>
              <a:rPr lang="fr-FR"/>
              <a:t>3 Améliorer le prompt : Relisez les cinq blocs, puis dites « ok ».</a:t>
            </a:r>
          </a:p>
          <a:p>
            <a:r>
              <a:rPr lang="fr-FR"/>
              <a:t>4 Lancer : L’agent exécute le lot et rend son rapport.</a:t>
            </a:r>
          </a:p>
          <a:p>
            <a:r>
              <a:rPr lang="fr-FR"/>
              <a:t>5 Vérifier et garder : Contrôlez le Done et proposez une note wiki.</a:t>
            </a:r>
          </a:p>
          <a:p>
            <a:endParaRPr lang="fr-FR"/>
          </a:p>
          <a:p>
            <a:r>
              <a:rPr lang="fr-FR"/>
              <a:t>Théorie</a:t>
            </a:r>
          </a:p>
          <a:p>
            <a:r>
              <a:rPr lang="fr-FR"/>
              <a:t>Le skill /lancer-workflow est fourni dans le kit, pas installé automatiquement sur les postes. Il lit le ticket, cherche les fichiers utiles et affiche une reformulation avant les modifications. Cette pause pédagogique vérifie que le périmètre est partagé. Après votre accord explicite, il délègue les lots indépendants, lance les validations disponibles et distingue une réussite prouvée d’une vérification bloquée.</a:t>
            </a:r>
          </a:p>
          <a:p>
            <a:endParaRPr lang="fr-FR"/>
          </a:p>
          <a:p>
            <a:r>
              <a:rPr lang="fr-FR"/>
              <a:t>NOTES FORMATEUR</a:t>
            </a:r>
          </a:p>
          <a:p>
            <a:r>
              <a:rPr lang="fr-FR"/>
              <a:t>Le skill /lancer-workflow est fourni dans le kit, pas installé automatiquement sur les postes. Il lit le ticket, cherche les fichiers utiles et affiche une reformulation avant les modifications. Cette pause pédagogique vérifie que le périmètre est partagé. Après votre accord explicite, il délègue les lots indépendants, lance les validations disponibles et distingue une réussite prouvée d’une vérification bloquée.
Montrer le geste sur un exemple court. Faire distinguer ce qui vient de la documentation et ce qui a effectivement été exécuté. Passer au plan local si le service distant tarde.</a:t>
            </a:r>
          </a:p>
          <a:p>
            <a:endParaRPr lang="fr-FR"/>
          </a:p>
          <a:p>
            <a:r>
              <a:rPr lang="fr-FR"/>
              <a:t>PROMPT OU CODE COMPLET</a:t>
            </a:r>
          </a:p>
          <a:p>
            <a:r>
              <a:rPr lang="fr-FR"/>
              <a:t>Prompt à copier</a:t>
            </a:r>
          </a:p>
          <a:p>
            <a:r>
              <a:rPr lang="fr-FR"/>
              <a:t>/lancer-workflow ANNU-01
Le ticket se trouve dans TICKETS-DEMAIN.md.
Périmètre : src/features/annuaire/.
Affiche d’abord le prompt reformulé.</a:t>
            </a:r>
          </a:p>
          <a:p>
            <a:endParaRPr lang="fr-FR"/>
          </a:p>
          <a:p>
            <a:r>
              <a:rPr lang="fr-FR"/>
              <a:t>ACTION</a:t>
            </a:r>
          </a:p>
          <a:p>
            <a:r>
              <a:rPr lang="fr-FR"/>
              <a:t>Exercice · 5 min : testez jusqu’à l’affichage du plan.</a:t>
            </a:r>
          </a:p>
          <a:p>
            <a:endParaRPr lang="fr-FR"/>
          </a:p>
          <a:p>
            <a:r>
              <a:rPr lang="fr-FR"/>
              <a:t>SOURCES</a:t>
            </a:r>
          </a:p>
          <a:p>
            <a:r>
              <a:rPr lang="fr-FR"/>
              <a:t>Skills Claude Code · consulté le 14/09/2026</a:t>
            </a:r>
          </a:p>
          <a:p>
            <a:r>
              <a:rPr lang="fr-FR"/>
              <a:t>https://code.claude.com/docs/en/skills</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14</a:t>
            </a:fld>
            <a:endParaRPr lang="fr-FR"/>
          </a:p>
        </p:txBody>
      </p:sp>
    </p:spTree>
    <p:extLst>
      <p:ext uri="{BB962C8B-B14F-4D97-AF65-F5344CB8AC3E}">
        <p14:creationId xmlns:p14="http://schemas.microsoft.com/office/powerpoint/2010/main" val="11899151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CLI et Desktop : ouvrir le même projet</a:t>
            </a:r>
          </a:p>
          <a:p>
            <a:endParaRPr lang="fr-FR"/>
          </a:p>
          <a:p>
            <a:r>
              <a:rPr lang="fr-FR"/>
              <a:t>ID : e15</a:t>
            </a:r>
          </a:p>
          <a:p>
            <a:r>
              <a:rPr lang="fr-FR"/>
              <a:t>CHAPITRE : Les outils</a:t>
            </a:r>
          </a:p>
          <a:p>
            <a:endParaRPr lang="fr-FR"/>
          </a:p>
          <a:p>
            <a:r>
              <a:rPr lang="fr-FR"/>
              <a:t>IDEE PRINCIPALE</a:t>
            </a:r>
          </a:p>
          <a:p>
            <a:r>
              <a:rPr lang="fr-FR"/>
              <a:t>Dans Desktop, choisissez l’onglet Code et une session locale.</a:t>
            </a:r>
          </a:p>
          <a:p>
            <a:endParaRPr lang="fr-FR"/>
          </a:p>
          <a:p>
            <a:r>
              <a:rPr lang="fr-FR"/>
              <a:t>A L'ECRAN</a:t>
            </a:r>
          </a:p>
          <a:p>
            <a:r>
              <a:rPr lang="fr-FR"/>
              <a:t>Ouvrir : Sélectionnez le dépôt, puis le dossier du projet.</a:t>
            </a:r>
          </a:p>
          <a:p>
            <a:r>
              <a:rPr lang="fr-FR"/>
              <a:t>Partager : CLAUDE.md, skills et configuration MCP.</a:t>
            </a:r>
          </a:p>
          <a:p>
            <a:r>
              <a:rPr lang="fr-FR"/>
              <a:t>Vérifier : Demandez le dossier courant et les skills disponibles.</a:t>
            </a:r>
          </a:p>
          <a:p>
            <a:endParaRPr lang="fr-FR"/>
          </a:p>
          <a:p>
            <a:r>
              <a:rPr lang="fr-FR"/>
              <a:t>Théorie</a:t>
            </a:r>
          </a:p>
          <a:p>
            <a:r>
              <a:rPr lang="fr-FR"/>
              <a:t>La documentation distingue les sessions locales du Desktop des autres modes d’exécution. Les sessions locales CLI et Desktop lisent la configuration Claude Code, dont les skills projet et personnels ; l’onglet Chat et ses connecteurs relèvent d’une configuration distincte. La disponibilité dépend de l’installation, du compte et du mode de connexion du poste. L’usage Desktop n’a pas été essayé lors de la recherche : la procédure est documentaire, à contrôler au premier exercice.</a:t>
            </a:r>
          </a:p>
          <a:p>
            <a:endParaRPr lang="fr-FR"/>
          </a:p>
          <a:p>
            <a:r>
              <a:rPr lang="fr-FR"/>
              <a:t>NOTES FORMATEUR</a:t>
            </a:r>
          </a:p>
          <a:p>
            <a:r>
              <a:rPr lang="fr-FR"/>
              <a:t>La documentation distingue les sessions locales du Desktop des autres modes d’exécution. Les sessions locales CLI et Desktop lisent la configuration Claude Code, dont les skills projet et personnels ; l’onglet Chat et ses connecteurs relèvent d’une configuration distincte. La disponibilité dépend de l’installation, du compte et du mode de connexion du poste. L’usage Desktop n’a pas été essayé lors de la recherche : la procédure est documentaire, à contrôler au premier exercice.
Montrer le geste sur un exemple court. Faire distinguer ce qui vient de la documentation et ce qui a effectivement été exécuté. Passer au plan local si le service distant tarde.</a:t>
            </a:r>
          </a:p>
          <a:p>
            <a:endParaRPr lang="fr-FR"/>
          </a:p>
          <a:p>
            <a:r>
              <a:rPr lang="fr-FR"/>
              <a:t>PROMPT OU CODE COMPLET</a:t>
            </a:r>
          </a:p>
          <a:p>
            <a:r>
              <a:rPr lang="fr-FR"/>
              <a:t>Prompt à copier</a:t>
            </a:r>
          </a:p>
          <a:p>
            <a:r>
              <a:rPr lang="fr-FR"/>
              <a:t>Indique le dossier courant, sans afficher de secret.
Liste les skills disponibles, noms seulement.
Trouves-tu prompt-5 et lancer-workflow ?</a:t>
            </a:r>
          </a:p>
          <a:p>
            <a:endParaRPr lang="fr-FR"/>
          </a:p>
          <a:p>
            <a:r>
              <a:rPr lang="fr-FR"/>
              <a:t>ACTION</a:t>
            </a:r>
          </a:p>
          <a:p>
            <a:r>
              <a:rPr lang="fr-FR"/>
              <a:t>Exercice · 3 min : retrouvez /prompt-5 dans le bon projet.</a:t>
            </a:r>
          </a:p>
          <a:p>
            <a:endParaRPr lang="fr-FR"/>
          </a:p>
          <a:p>
            <a:r>
              <a:rPr lang="fr-FR"/>
              <a:t>SOURCES</a:t>
            </a:r>
          </a:p>
          <a:p>
            <a:r>
              <a:rPr lang="fr-FR"/>
              <a:t>Desktop Claude Code · consulté le 14/09/2026</a:t>
            </a:r>
          </a:p>
          <a:p>
            <a:r>
              <a:rPr lang="fr-FR"/>
              <a:t>https://code.claude.com/docs/en/desktop</a:t>
            </a:r>
          </a:p>
          <a:p>
            <a:endParaRPr lang="fr-FR"/>
          </a:p>
          <a:p>
            <a:r>
              <a:rPr lang="fr-FR"/>
              <a:t>Skills Claude Code · consulté le 14/09/2026</a:t>
            </a:r>
          </a:p>
          <a:p>
            <a:r>
              <a:rPr lang="fr-FR"/>
              <a:t>https://code.claude.com/docs/en/skills</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15</a:t>
            </a:fld>
            <a:endParaRPr lang="fr-FR"/>
          </a:p>
        </p:txBody>
      </p:sp>
    </p:spTree>
    <p:extLst>
      <p:ext uri="{BB962C8B-B14F-4D97-AF65-F5344CB8AC3E}">
        <p14:creationId xmlns:p14="http://schemas.microsoft.com/office/powerpoint/2010/main" val="654710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Créer un skill en un fichier</a:t>
            </a:r>
          </a:p>
          <a:p>
            <a:endParaRPr lang="fr-FR"/>
          </a:p>
          <a:p>
            <a:r>
              <a:rPr lang="fr-FR"/>
              <a:t>ID : e16</a:t>
            </a:r>
          </a:p>
          <a:p>
            <a:r>
              <a:rPr lang="fr-FR"/>
              <a:t>CHAPITRE : Les outils</a:t>
            </a:r>
          </a:p>
          <a:p>
            <a:endParaRPr lang="fr-FR"/>
          </a:p>
          <a:p>
            <a:r>
              <a:rPr lang="fr-FR"/>
              <a:t>IDEE PRINCIPALE</a:t>
            </a:r>
          </a:p>
          <a:p>
            <a:r>
              <a:rPr lang="fr-FR"/>
              <a:t>Placez la procédure dans .claude/skills/nom/SKILL.md.</a:t>
            </a:r>
          </a:p>
          <a:p>
            <a:endParaRPr lang="fr-FR"/>
          </a:p>
          <a:p>
            <a:r>
              <a:rPr lang="fr-FR"/>
              <a:t>A L'ECRAN</a:t>
            </a:r>
          </a:p>
          <a:p>
            <a:r>
              <a:rPr lang="fr-FR"/>
              <a:t>Nommer : Un nom court et une description du besoin.</a:t>
            </a:r>
          </a:p>
          <a:p>
            <a:r>
              <a:rPr lang="fr-FR"/>
              <a:t>Décrire : Les entrées, les gestes et le résultat attendu.</a:t>
            </a:r>
          </a:p>
          <a:p>
            <a:r>
              <a:rPr lang="fr-FR"/>
              <a:t>Essayer : Appelez /nom avec un cas concret.</a:t>
            </a:r>
          </a:p>
          <a:p>
            <a:endParaRPr lang="fr-FR"/>
          </a:p>
          <a:p>
            <a:r>
              <a:rPr lang="fr-FR"/>
              <a:t>Théorie</a:t>
            </a:r>
          </a:p>
          <a:p>
            <a:r>
              <a:rPr lang="fr-FR"/>
              <a:t>Un skill regroupe une compétence réutilisable sous un nom découvrable. Le fichier SKILL.md commence par un frontmatter qui indique notamment name et description ; son corps porte les instructions. .claude/skills/ concerne le projet, tandis que ~/.claude/skills/ concerne l’utilisateur. L’exemple ci-dessous décrit une compétence locale de reformulation : le modèle reste nécessaire pour l’exécuter, même si le fichier lui-même est stocké sur le disque.</a:t>
            </a:r>
          </a:p>
          <a:p>
            <a:endParaRPr lang="fr-FR"/>
          </a:p>
          <a:p>
            <a:r>
              <a:rPr lang="fr-FR"/>
              <a:t>NOTES FORMATEUR</a:t>
            </a:r>
          </a:p>
          <a:p>
            <a:r>
              <a:rPr lang="fr-FR"/>
              <a:t>Un skill regroupe une compétence réutilisable sous un nom découvrable. Le fichier SKILL.md commence par un frontmatter qui indique notamment name et description ; son corps porte les instructions. .claude/skills/ concerne le projet, tandis que ~/.claude/skills/ concerne l’utilisateur. L’exemple ci-dessous décrit une compétence locale de reformulation : le modèle reste nécessaire pour l’exécuter, même si le fichier lui-même est stocké sur le disque.
Montrer le geste sur un exemple court. Faire distinguer ce qui vient de la documentation et ce qui a effectivement été exécuté. Passer au plan local si le service distant tarde.</a:t>
            </a:r>
          </a:p>
          <a:p>
            <a:endParaRPr lang="fr-FR"/>
          </a:p>
          <a:p>
            <a:r>
              <a:rPr lang="fr-FR"/>
              <a:t>PROMPT OU CODE COMPLET</a:t>
            </a:r>
          </a:p>
          <a:p>
            <a:r>
              <a:rPr lang="fr-FR"/>
              <a:t>Structure d’un SKILL.md</a:t>
            </a:r>
          </a:p>
          <a:p>
            <a:r>
              <a:rPr lang="fr-FR"/>
              <a:t>---
name: ticket-ready
description: Reformule un besoin en ticket SMART, Ready et Done.
argument-hint: "&lt;besoin&gt;"
---
Lis $ARGUMENTS. Retourne objectif, Ready, Done et fichiers.
Signale les informations manquantes. Ne code rien.</a:t>
            </a:r>
          </a:p>
          <a:p>
            <a:endParaRPr lang="fr-FR"/>
          </a:p>
          <a:p>
            <a:r>
              <a:rPr lang="fr-FR"/>
              <a:t>ACTION</a:t>
            </a:r>
          </a:p>
          <a:p>
            <a:r>
              <a:rPr lang="fr-FR"/>
              <a:t>Exercice · 5 min : copiez le skill prompt-5 du kit.</a:t>
            </a:r>
          </a:p>
          <a:p>
            <a:endParaRPr lang="fr-FR"/>
          </a:p>
          <a:p>
            <a:r>
              <a:rPr lang="fr-FR"/>
              <a:t>SOURCES</a:t>
            </a:r>
          </a:p>
          <a:p>
            <a:r>
              <a:rPr lang="fr-FR"/>
              <a:t>Skills Claude Code · consulté le 14/09/2026</a:t>
            </a:r>
          </a:p>
          <a:p>
            <a:r>
              <a:rPr lang="fr-FR"/>
              <a:t>https://code.claude.com/docs/en/skills</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16</a:t>
            </a:fld>
            <a:endParaRPr lang="fr-FR"/>
          </a:p>
        </p:txBody>
      </p:sp>
    </p:spTree>
    <p:extLst>
      <p:ext uri="{BB962C8B-B14F-4D97-AF65-F5344CB8AC3E}">
        <p14:creationId xmlns:p14="http://schemas.microsoft.com/office/powerpoint/2010/main" val="3215932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Brancher un MCP, puis vérifier</a:t>
            </a:r>
          </a:p>
          <a:p>
            <a:endParaRPr lang="fr-FR"/>
          </a:p>
          <a:p>
            <a:r>
              <a:rPr lang="fr-FR"/>
              <a:t>ID : e17</a:t>
            </a:r>
          </a:p>
          <a:p>
            <a:r>
              <a:rPr lang="fr-FR"/>
              <a:t>CHAPITRE : Les outils</a:t>
            </a:r>
          </a:p>
          <a:p>
            <a:endParaRPr lang="fr-FR"/>
          </a:p>
          <a:p>
            <a:r>
              <a:rPr lang="fr-FR"/>
              <a:t>IDEE PRINCIPALE</a:t>
            </a:r>
          </a:p>
          <a:p>
            <a:r>
              <a:rPr lang="fr-FR"/>
              <a:t>Un serveur MCP expose des outils ; il faut encore les tester.</a:t>
            </a:r>
          </a:p>
          <a:p>
            <a:endParaRPr lang="fr-FR"/>
          </a:p>
          <a:p>
            <a:r>
              <a:rPr lang="fr-FR"/>
              <a:t>A L'ECRAN</a:t>
            </a:r>
          </a:p>
          <a:p>
            <a:r>
              <a:rPr lang="fr-FR"/>
              <a:t>Choisir : Le serveur officiel et sa portée.</a:t>
            </a:r>
          </a:p>
          <a:p>
            <a:r>
              <a:rPr lang="fr-FR"/>
              <a:t>Connecter : Ajouter sa configuration à Claude Code.</a:t>
            </a:r>
          </a:p>
          <a:p>
            <a:r>
              <a:rPr lang="fr-FR"/>
              <a:t>Contrôler : Lister le serveur, puis essayer une requête.</a:t>
            </a:r>
          </a:p>
          <a:p>
            <a:endParaRPr lang="fr-FR"/>
          </a:p>
          <a:p>
            <a:r>
              <a:rPr lang="fr-FR"/>
              <a:t>Théorie</a:t>
            </a:r>
          </a:p>
          <a:p>
            <a:r>
              <a:rPr lang="fr-FR"/>
              <a:t>La portée local, project ou user détermine où la connexion est configurée et partagée. Une configuration projet peut être versionnée dans .mcp.json, en conservant les secrets hors du dépôt. Un serveur affiché ne prouve pas qu’une requête aboutira : authentification, réseau ou quota peuvent encore bloquer. Utilisez /mcp dans Claude Code pour inspecter les connexions ; le kit fournit les commandes documentées pour les services de cette formation.</a:t>
            </a:r>
          </a:p>
          <a:p>
            <a:endParaRPr lang="fr-FR"/>
          </a:p>
          <a:p>
            <a:r>
              <a:rPr lang="fr-FR"/>
              <a:t>NOTES FORMATEUR</a:t>
            </a:r>
          </a:p>
          <a:p>
            <a:r>
              <a:rPr lang="fr-FR"/>
              <a:t>La portée local, project ou user détermine où la connexion est configurée et partagée. Une configuration projet peut être versionnée dans .mcp.json, en conservant les secrets hors du dépôt. Un serveur affiché ne prouve pas qu’une requête aboutira : authentification, réseau ou quota peuvent encore bloquer. Utilisez /mcp dans Claude Code pour inspecter les connexions ; le kit fournit les commandes documentées pour les services de cette formation.
Montrer le geste sur un exemple court. Faire distinguer ce qui vient de la documentation et ce qui a effectivement été exécuté. Passer au plan local si le service distant tarde.</a:t>
            </a:r>
          </a:p>
          <a:p>
            <a:endParaRPr lang="fr-FR"/>
          </a:p>
          <a:p>
            <a:r>
              <a:rPr lang="fr-FR"/>
              <a:t>PROMPT OU CODE COMPLET</a:t>
            </a:r>
          </a:p>
          <a:p>
            <a:r>
              <a:rPr lang="fr-FR"/>
              <a:t>Dans le terminal</a:t>
            </a:r>
          </a:p>
          <a:p>
            <a:r>
              <a:rPr lang="fr-FR"/>
              <a:t>claude mcp list</a:t>
            </a:r>
          </a:p>
          <a:p>
            <a:endParaRPr lang="fr-FR"/>
          </a:p>
          <a:p>
            <a:r>
              <a:rPr lang="fr-FR"/>
              <a:t>ACTION</a:t>
            </a:r>
          </a:p>
          <a:p>
            <a:r>
              <a:rPr lang="fr-FR"/>
              <a:t>Exercice · 3 min : trouvez le serveur et son état.</a:t>
            </a:r>
          </a:p>
          <a:p>
            <a:endParaRPr lang="fr-FR"/>
          </a:p>
          <a:p>
            <a:r>
              <a:rPr lang="fr-FR"/>
              <a:t>SOURCES</a:t>
            </a:r>
          </a:p>
          <a:p>
            <a:r>
              <a:rPr lang="fr-FR"/>
              <a:t>MCP Claude Code · consulté le 14/09/2026</a:t>
            </a:r>
          </a:p>
          <a:p>
            <a:r>
              <a:rPr lang="fr-FR"/>
              <a:t>https://code.claude.com/docs/en/mcp</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17</a:t>
            </a:fld>
            <a:endParaRPr lang="fr-FR"/>
          </a:p>
        </p:txBody>
      </p:sp>
    </p:spTree>
    <p:extLst>
      <p:ext uri="{BB962C8B-B14F-4D97-AF65-F5344CB8AC3E}">
        <p14:creationId xmlns:p14="http://schemas.microsoft.com/office/powerpoint/2010/main" val="8743999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Context7 : demander la bonne documentation</a:t>
            </a:r>
          </a:p>
          <a:p>
            <a:endParaRPr lang="fr-FR"/>
          </a:p>
          <a:p>
            <a:r>
              <a:rPr lang="fr-FR"/>
              <a:t>ID : e18</a:t>
            </a:r>
          </a:p>
          <a:p>
            <a:r>
              <a:rPr lang="fr-FR"/>
              <a:t>CHAPITRE : Les outils</a:t>
            </a:r>
          </a:p>
          <a:p>
            <a:endParaRPr lang="fr-FR"/>
          </a:p>
          <a:p>
            <a:r>
              <a:rPr lang="fr-FR"/>
              <a:t>IDEE PRINCIPALE</a:t>
            </a:r>
          </a:p>
          <a:p>
            <a:r>
              <a:rPr lang="fr-FR"/>
              <a:t>Donnez la bibliothèque et sa version avant de coder.</a:t>
            </a:r>
          </a:p>
          <a:p>
            <a:endParaRPr lang="fr-FR"/>
          </a:p>
          <a:p>
            <a:r>
              <a:rPr lang="fr-FR"/>
              <a:t>A L'ECRAN</a:t>
            </a:r>
          </a:p>
          <a:p>
            <a:r>
              <a:rPr lang="fr-FR"/>
              <a:t>Configurer : Dans le terminal : npx ctx7 setup --claude.</a:t>
            </a:r>
          </a:p>
          <a:p>
            <a:r>
              <a:rPr lang="fr-FR"/>
              <a:t>Demander : Nommez la bibliothèque, sa version et la question.</a:t>
            </a:r>
          </a:p>
          <a:p>
            <a:r>
              <a:rPr lang="fr-FR"/>
              <a:t>Comparer : Vérifiez les signatures et les sources reçues.</a:t>
            </a:r>
          </a:p>
          <a:p>
            <a:endParaRPr lang="fr-FR"/>
          </a:p>
          <a:p>
            <a:r>
              <a:rPr lang="fr-FR"/>
              <a:t>Théorie</a:t>
            </a:r>
          </a:p>
          <a:p>
            <a:r>
              <a:rPr lang="fr-FR"/>
              <a:t>Context7 fournit de la documentation de bibliothèques via MCP ou la CLI ctx7. Les outils MCP résolvent d’abord l’identifiant avec resolve-library-id, puis interrogent les extraits avec query-docs. L’assistant de configuration est documenté ; les accès et fichiers effectivement créés restent à contrôler sur chaque poste. Le service a besoin du réseau, y compris lorsqu’un connecteur local relaie les appels ; gardez une copie datée de la documentation utile pour la séance.</a:t>
            </a:r>
          </a:p>
          <a:p>
            <a:endParaRPr lang="fr-FR"/>
          </a:p>
          <a:p>
            <a:r>
              <a:rPr lang="fr-FR"/>
              <a:t>NOTES FORMATEUR</a:t>
            </a:r>
          </a:p>
          <a:p>
            <a:r>
              <a:rPr lang="fr-FR"/>
              <a:t>Context7 fournit de la documentation de bibliothèques via MCP ou la CLI ctx7. Les outils MCP résolvent d’abord l’identifiant avec resolve-library-id, puis interrogent les extraits avec query-docs. L’assistant de configuration est documenté ; les accès et fichiers effectivement créés restent à contrôler sur chaque poste. Le service a besoin du réseau, y compris lorsqu’un connecteur local relaie les appels ; gardez une copie datée de la documentation utile pour la séance.
Montrer le geste sur un exemple court. Faire distinguer ce qui vient de la documentation et ce qui a effectivement été exécuté. Passer au plan local si le service distant tarde.</a:t>
            </a:r>
          </a:p>
          <a:p>
            <a:endParaRPr lang="fr-FR"/>
          </a:p>
          <a:p>
            <a:r>
              <a:rPr lang="fr-FR"/>
              <a:t>PROMPT OU CODE COMPLET</a:t>
            </a:r>
          </a:p>
          <a:p>
            <a:r>
              <a:rPr lang="fr-FR"/>
              <a:t>Prompt à copier</a:t>
            </a:r>
          </a:p>
          <a:p>
            <a:r>
              <a:rPr lang="fr-FR"/>
              <a:t>use context7 pour React, version installée dans package.json.
Comment gérer un formulaire contrôlé et son état de chargement ?
Cite la documentation et montre un exemple minimal.</a:t>
            </a:r>
          </a:p>
          <a:p>
            <a:endParaRPr lang="fr-FR"/>
          </a:p>
          <a:p>
            <a:r>
              <a:rPr lang="fr-FR"/>
              <a:t>ACTION</a:t>
            </a:r>
          </a:p>
          <a:p>
            <a:r>
              <a:rPr lang="fr-FR"/>
              <a:t>Exercice · 3 min : vérifiez une API React utilisée dans le lot.</a:t>
            </a:r>
          </a:p>
          <a:p>
            <a:endParaRPr lang="fr-FR"/>
          </a:p>
          <a:p>
            <a:r>
              <a:rPr lang="fr-FR"/>
              <a:t>SOURCES</a:t>
            </a:r>
          </a:p>
          <a:p>
            <a:r>
              <a:rPr lang="fr-FR"/>
              <a:t>Context7 · consulté le 14/09/2026</a:t>
            </a:r>
          </a:p>
          <a:p>
            <a:r>
              <a:rPr lang="fr-FR"/>
              <a:t>https://context7.com/docs/clients/claude-code</a:t>
            </a:r>
          </a:p>
          <a:p>
            <a:endParaRPr lang="fr-FR"/>
          </a:p>
          <a:p>
            <a:r>
              <a:rPr lang="fr-FR"/>
              <a:t>Dépôt Context7 · consulté le 14/09/2026</a:t>
            </a:r>
          </a:p>
          <a:p>
            <a:r>
              <a:rPr lang="fr-FR"/>
              <a:t>https://github.com/upstash/context7</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18</a:t>
            </a:fld>
            <a:endParaRPr lang="fr-FR"/>
          </a:p>
        </p:txBody>
      </p:sp>
    </p:spTree>
    <p:extLst>
      <p:ext uri="{BB962C8B-B14F-4D97-AF65-F5344CB8AC3E}">
        <p14:creationId xmlns:p14="http://schemas.microsoft.com/office/powerpoint/2010/main" val="3170507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Firecrawl : garder le texte et sa source</a:t>
            </a:r>
          </a:p>
          <a:p>
            <a:endParaRPr lang="fr-FR"/>
          </a:p>
          <a:p>
            <a:r>
              <a:rPr lang="fr-FR"/>
              <a:t>ID : e19</a:t>
            </a:r>
          </a:p>
          <a:p>
            <a:r>
              <a:rPr lang="fr-FR"/>
              <a:t>CHAPITRE : Les outils</a:t>
            </a:r>
          </a:p>
          <a:p>
            <a:endParaRPr lang="fr-FR"/>
          </a:p>
          <a:p>
            <a:r>
              <a:rPr lang="fr-FR"/>
              <a:t>IDEE PRINCIPALE</a:t>
            </a:r>
          </a:p>
          <a:p>
            <a:r>
              <a:rPr lang="fr-FR"/>
              <a:t>Une extraction devient utile après comparaison avec la page.</a:t>
            </a:r>
          </a:p>
          <a:p>
            <a:endParaRPr lang="fr-FR"/>
          </a:p>
          <a:p>
            <a:r>
              <a:rPr lang="fr-FR"/>
              <a:t>A L'ECRAN</a:t>
            </a:r>
          </a:p>
          <a:p>
            <a:r>
              <a:rPr lang="fr-FR"/>
              <a:t>Connecter : Choisissez le mode sans clé ou votre compte.</a:t>
            </a:r>
          </a:p>
          <a:p>
            <a:r>
              <a:rPr lang="fr-FR"/>
              <a:t>Extraire : Demandez une seule URL validée.</a:t>
            </a:r>
          </a:p>
          <a:p>
            <a:r>
              <a:rPr lang="fr-FR"/>
              <a:t>Contrôler : Gardez texte, URL, date et limites.</a:t>
            </a:r>
          </a:p>
          <a:p>
            <a:endParaRPr lang="fr-FR"/>
          </a:p>
          <a:p>
            <a:r>
              <a:rPr lang="fr-FR"/>
              <a:t>Théorie</a:t>
            </a:r>
          </a:p>
          <a:p>
            <a:r>
              <a:rPr lang="fr-FR"/>
              <a:t>Firecrawl propose la recherche, l’extraction de pages et des sorties structurées. Le serveur MCP hébergé dispose d’un mode sans clé avec des limites ; un compte ou une clé peut être utilisé selon le besoin. Une réponse de recherche n’est pas le contenu complet d’une page et ne valide pas ses coordonnées. Pour le lot de Romain, chaque fiche conserve la page source et la date de consultation ; sans réseau, utilisez seulement les copies déjà disponibles et n’annoncez pas une vérification récente.</a:t>
            </a:r>
          </a:p>
          <a:p>
            <a:endParaRPr lang="fr-FR"/>
          </a:p>
          <a:p>
            <a:r>
              <a:rPr lang="fr-FR"/>
              <a:t>NOTES FORMATEUR</a:t>
            </a:r>
          </a:p>
          <a:p>
            <a:r>
              <a:rPr lang="fr-FR"/>
              <a:t>Firecrawl propose la recherche, l’extraction de pages et des sorties structurées. Le serveur MCP hébergé dispose d’un mode sans clé avec des limites ; un compte ou une clé peut être utilisé selon le besoin. Une réponse de recherche n’est pas le contenu complet d’une page et ne valide pas ses coordonnées. Pour le lot de Romain, chaque fiche conserve la page source et la date de consultation ; sans réseau, utilisez seulement les copies déjà disponibles et n’annoncez pas une vérification récente.
Montrer le geste sur un exemple court. Faire distinguer ce qui vient de la documentation et ce qui a effectivement été exécuté. Passer au plan local si le service distant tarde.</a:t>
            </a:r>
          </a:p>
          <a:p>
            <a:endParaRPr lang="fr-FR"/>
          </a:p>
          <a:p>
            <a:r>
              <a:rPr lang="fr-FR"/>
              <a:t>PROMPT OU CODE COMPLET</a:t>
            </a:r>
          </a:p>
          <a:p>
            <a:r>
              <a:rPr lang="fr-FR"/>
              <a:t>Prompt à copier</a:t>
            </a:r>
          </a:p>
          <a:p>
            <a:r>
              <a:rPr lang="fr-FR"/>
              <a:t>Avec Firecrawl, lis l’URL de structure sociale donnée par le PO.
Extrais titre, texte utile, URL et date dans mon lot.
N’invente aucun contact ; note les champs absents.
Montre l’extrait source avant de rédiger la fiche.</a:t>
            </a:r>
          </a:p>
          <a:p>
            <a:endParaRPr lang="fr-FR"/>
          </a:p>
          <a:p>
            <a:r>
              <a:rPr lang="fr-FR"/>
              <a:t>ACTION</a:t>
            </a:r>
          </a:p>
          <a:p>
            <a:r>
              <a:rPr lang="fr-FR"/>
              <a:t>Exercice · 5 min : extrayez et relisez une page de la liste.</a:t>
            </a:r>
          </a:p>
          <a:p>
            <a:endParaRPr lang="fr-FR"/>
          </a:p>
          <a:p>
            <a:r>
              <a:rPr lang="fr-FR"/>
              <a:t>SOURCES</a:t>
            </a:r>
          </a:p>
          <a:p>
            <a:r>
              <a:rPr lang="fr-FR"/>
              <a:t>Firecrawl MCP · consulté le 14/09/2026</a:t>
            </a:r>
          </a:p>
          <a:p>
            <a:r>
              <a:rPr lang="fr-FR"/>
              <a:t>https://docs.firecrawl.dev/mcp-server</a:t>
            </a:r>
          </a:p>
          <a:p>
            <a:endParaRPr lang="fr-FR"/>
          </a:p>
          <a:p>
            <a:r>
              <a:rPr lang="fr-FR"/>
              <a:t>Mode sans clé · consulté le 14/09/2026</a:t>
            </a:r>
          </a:p>
          <a:p>
            <a:r>
              <a:rPr lang="fr-FR"/>
              <a:t>https://docs.firecrawl.dev/mcp-server/keyless</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19</a:t>
            </a:fld>
            <a:endParaRPr lang="fr-FR"/>
          </a:p>
        </p:txBody>
      </p:sp>
    </p:spTree>
    <p:extLst>
      <p:ext uri="{BB962C8B-B14F-4D97-AF65-F5344CB8AC3E}">
        <p14:creationId xmlns:p14="http://schemas.microsoft.com/office/powerpoint/2010/main" val="1199750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Archify : montrer les frontières du projet</a:t>
            </a:r>
          </a:p>
          <a:p>
            <a:endParaRPr lang="fr-FR"/>
          </a:p>
          <a:p>
            <a:r>
              <a:rPr lang="fr-FR"/>
              <a:t>ID : e20</a:t>
            </a:r>
          </a:p>
          <a:p>
            <a:r>
              <a:rPr lang="fr-FR"/>
              <a:t>CHAPITRE : Les outils</a:t>
            </a:r>
          </a:p>
          <a:p>
            <a:endParaRPr lang="fr-FR"/>
          </a:p>
          <a:p>
            <a:r>
              <a:rPr lang="fr-FR"/>
              <a:t>IDEE PRINCIPALE</a:t>
            </a:r>
          </a:p>
          <a:p>
            <a:r>
              <a:rPr lang="fr-FR"/>
              <a:t>Un schéma rend le contrat et les responsabilités visibles.</a:t>
            </a:r>
          </a:p>
          <a:p>
            <a:endParaRPr lang="fr-FR"/>
          </a:p>
          <a:p>
            <a:r>
              <a:rPr lang="fr-FR"/>
              <a:t>A L'ECRAN</a:t>
            </a:r>
          </a:p>
          <a:p>
            <a:r>
              <a:rPr lang="fr-FR"/>
              <a:t>Installer : Suivez le README officiel du dépôt Archify.</a:t>
            </a:r>
          </a:p>
          <a:p>
            <a:r>
              <a:rPr lang="fr-FR"/>
              <a:t>Décrire : Entrées, trois lots et point d’intégration.</a:t>
            </a:r>
          </a:p>
          <a:p>
            <a:r>
              <a:rPr lang="fr-FR"/>
              <a:t>Relire : Ouvrez le HTML et vérifiez chaque flèche.</a:t>
            </a:r>
          </a:p>
          <a:p>
            <a:endParaRPr lang="fr-FR"/>
          </a:p>
          <a:p>
            <a:r>
              <a:rPr lang="fr-FR"/>
              <a:t>Théorie</a:t>
            </a:r>
          </a:p>
          <a:p>
            <a:r>
              <a:rPr lang="fr-FR"/>
              <a:t>Archify est un skill accompagné de scripts qui produit des diagrammes en HTML autonome. Le résultat local peut être consulté sans connexion une fois généré ; la génération par un agent distant reste dépendante de son accès. Le skill v2.16 a été identifié sur le poste formateur, ce qui ne prouve pas son installation chez les apprenants. Commencez par /archify si le skill est disponible et demandez un schéma fidèle au dépôt, en signalant les fichiers seulement prévus.</a:t>
            </a:r>
          </a:p>
          <a:p>
            <a:endParaRPr lang="fr-FR"/>
          </a:p>
          <a:p>
            <a:r>
              <a:rPr lang="fr-FR"/>
              <a:t>NOTES FORMATEUR</a:t>
            </a:r>
          </a:p>
          <a:p>
            <a:r>
              <a:rPr lang="fr-FR"/>
              <a:t>Archify est un skill accompagné de scripts qui produit des diagrammes en HTML autonome. Le résultat local peut être consulté sans connexion une fois généré ; la génération par un agent distant reste dépendante de son accès. Le skill v2.16 a été identifié sur le poste formateur, ce qui ne prouve pas son installation chez les apprenants. Commencez par /archify si le skill est disponible et demandez un schéma fidèle au dépôt, en signalant les fichiers seulement prévus.
Montrer le geste sur un exemple court. Faire distinguer ce qui vient de la documentation et ce qui a effectivement été exécuté. Passer au plan local si le service distant tarde.</a:t>
            </a:r>
          </a:p>
          <a:p>
            <a:endParaRPr lang="fr-FR"/>
          </a:p>
          <a:p>
            <a:r>
              <a:rPr lang="fr-FR"/>
              <a:t>PROMPT OU CODE COMPLET</a:t>
            </a:r>
          </a:p>
          <a:p>
            <a:r>
              <a:rPr lang="fr-FR"/>
              <a:t>Prompt à copier</a:t>
            </a:r>
          </a:p>
          <a:p>
            <a:r>
              <a:rPr lang="fr-FR"/>
              <a:t>/archify Schématise Reconnect Assist :
Romain = connaissances, Ashad = assistant, Nils = annuaire.
Contrat partagé : src/types/orientation.ts.
Intégration : src/app/ et src/services/.
Marque les composants prévus mais encore absents.</a:t>
            </a:r>
          </a:p>
          <a:p>
            <a:endParaRPr lang="fr-FR"/>
          </a:p>
          <a:p>
            <a:r>
              <a:rPr lang="fr-FR"/>
              <a:t>ACTION</a:t>
            </a:r>
          </a:p>
          <a:p>
            <a:r>
              <a:rPr lang="fr-FR"/>
              <a:t>Exercice · 5 min : expliquez le schéma sans lire le code.</a:t>
            </a:r>
          </a:p>
          <a:p>
            <a:endParaRPr lang="fr-FR"/>
          </a:p>
          <a:p>
            <a:r>
              <a:rPr lang="fr-FR"/>
              <a:t>SOURCES</a:t>
            </a:r>
          </a:p>
          <a:p>
            <a:r>
              <a:rPr lang="fr-FR"/>
              <a:t>Archify · consulté le 14/09/2026</a:t>
            </a:r>
          </a:p>
          <a:p>
            <a:r>
              <a:rPr lang="fr-FR"/>
              <a:t>https://github.com/tt-a1i/archify</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20</a:t>
            </a:fld>
            <a:endParaRPr lang="fr-FR"/>
          </a:p>
        </p:txBody>
      </p:sp>
    </p:spTree>
    <p:extLst>
      <p:ext uri="{BB962C8B-B14F-4D97-AF65-F5344CB8AC3E}">
        <p14:creationId xmlns:p14="http://schemas.microsoft.com/office/powerpoint/2010/main" val="41567055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OpenCode : conserver la même méthode</a:t>
            </a:r>
          </a:p>
          <a:p>
            <a:endParaRPr lang="fr-FR"/>
          </a:p>
          <a:p>
            <a:r>
              <a:rPr lang="fr-FR"/>
              <a:t>ID : e21</a:t>
            </a:r>
          </a:p>
          <a:p>
            <a:r>
              <a:rPr lang="fr-FR"/>
              <a:t>CHAPITRE : Les outils</a:t>
            </a:r>
          </a:p>
          <a:p>
            <a:endParaRPr lang="fr-FR"/>
          </a:p>
          <a:p>
            <a:r>
              <a:rPr lang="fr-FR"/>
              <a:t>IDEE PRINCIPALE</a:t>
            </a:r>
          </a:p>
          <a:p>
            <a:r>
              <a:rPr lang="fr-FR"/>
              <a:t>L’agent change ; le ticket, les limites et le Done restent.</a:t>
            </a:r>
          </a:p>
          <a:p>
            <a:endParaRPr lang="fr-FR"/>
          </a:p>
          <a:p>
            <a:r>
              <a:rPr lang="fr-FR"/>
              <a:t>A L'ECRAN</a:t>
            </a:r>
          </a:p>
          <a:p>
            <a:r>
              <a:rPr lang="fr-FR"/>
              <a:t>Ouvrir : Installez OpenCode depuis sa documentation.</a:t>
            </a:r>
          </a:p>
          <a:p>
            <a:r>
              <a:rPr lang="fr-FR"/>
              <a:t>Connecter : /connect choisit un fournisseur ; /models un modèle.</a:t>
            </a:r>
          </a:p>
          <a:p>
            <a:r>
              <a:rPr lang="fr-FR"/>
              <a:t>Cadrer : /init prépare les règles dans AGENTS.md.</a:t>
            </a:r>
          </a:p>
          <a:p>
            <a:endParaRPr lang="fr-FR"/>
          </a:p>
          <a:p>
            <a:r>
              <a:rPr lang="fr-FR"/>
              <a:t>Théorie</a:t>
            </a:r>
          </a:p>
          <a:p>
            <a:r>
              <a:rPr lang="fr-FR"/>
              <a:t>OpenCode est un agent de code ouvert, utilisable avec plusieurs fournisseurs de modèles. Le fournisseur, le coût, les données transmises et la disponibilité se vérifient avant un exercice. Ne supposez pas qu’un abonnement d’une autre application donne automatiquement accès à ses modèles dans OpenCode. La méthode de travail reste transposable : contrat clair, petit lot, lecture du diff et recette ; les apprenants peuvent garder Claude Code pour le MVP.</a:t>
            </a:r>
          </a:p>
          <a:p>
            <a:endParaRPr lang="fr-FR"/>
          </a:p>
          <a:p>
            <a:r>
              <a:rPr lang="fr-FR"/>
              <a:t>NOTES FORMATEUR</a:t>
            </a:r>
          </a:p>
          <a:p>
            <a:r>
              <a:rPr lang="fr-FR"/>
              <a:t>OpenCode est un agent de code ouvert, utilisable avec plusieurs fournisseurs de modèles. Le fournisseur, le coût, les données transmises et la disponibilité se vérifient avant un exercice. Ne supposez pas qu’un abonnement d’une autre application donne automatiquement accès à ses modèles dans OpenCode. La méthode de travail reste transposable : contrat clair, petit lot, lecture du diff et recette ; les apprenants peuvent garder Claude Code pour le MVP.
Montrer le geste sur un exemple court. Faire distinguer ce qui vient de la documentation et ce qui a effectivement été exécuté. Passer au plan local si le service distant tarde.</a:t>
            </a:r>
          </a:p>
          <a:p>
            <a:endParaRPr lang="fr-FR"/>
          </a:p>
          <a:p>
            <a:r>
              <a:rPr lang="fr-FR"/>
              <a:t>PROMPT OU CODE COMPLET</a:t>
            </a:r>
          </a:p>
          <a:p>
            <a:r>
              <a:rPr lang="fr-FR"/>
              <a:t>Prompt à copier</a:t>
            </a:r>
          </a:p>
          <a:p>
            <a:r>
              <a:rPr lang="fr-FR"/>
              <a:t>Lis AGENTS.md et le ticket ANNU-01.
Propose le plan du lot src/features/annuaire/.
Indique les données et accès manquants, sans les deviner.</a:t>
            </a:r>
          </a:p>
          <a:p>
            <a:endParaRPr lang="fr-FR"/>
          </a:p>
          <a:p>
            <a:r>
              <a:rPr lang="fr-FR"/>
              <a:t>ACTION</a:t>
            </a:r>
          </a:p>
          <a:p>
            <a:r>
              <a:rPr lang="fr-FR"/>
              <a:t>Découverte · 3 min : comparez le rôle de AGENTS.md.</a:t>
            </a:r>
          </a:p>
          <a:p>
            <a:endParaRPr lang="fr-FR"/>
          </a:p>
          <a:p>
            <a:r>
              <a:rPr lang="fr-FR"/>
              <a:t>SOURCES</a:t>
            </a:r>
          </a:p>
          <a:p>
            <a:r>
              <a:rPr lang="fr-FR"/>
              <a:t>OpenCode · consulté le 14/09/2026</a:t>
            </a:r>
          </a:p>
          <a:p>
            <a:r>
              <a:rPr lang="fr-FR"/>
              <a:t>https://opencode.ai/docs/</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21</a:t>
            </a:fld>
            <a:endParaRPr lang="fr-FR"/>
          </a:p>
        </p:txBody>
      </p:sp>
    </p:spTree>
    <p:extLst>
      <p:ext uri="{BB962C8B-B14F-4D97-AF65-F5344CB8AC3E}">
        <p14:creationId xmlns:p14="http://schemas.microsoft.com/office/powerpoint/2010/main" val="13920353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Buzz : explorer un espace humains et agents</a:t>
            </a:r>
          </a:p>
          <a:p>
            <a:endParaRPr lang="fr-FR"/>
          </a:p>
          <a:p>
            <a:r>
              <a:rPr lang="fr-FR"/>
              <a:t>ID : e22</a:t>
            </a:r>
          </a:p>
          <a:p>
            <a:r>
              <a:rPr lang="fr-FR"/>
              <a:t>CHAPITRE : Les outils</a:t>
            </a:r>
          </a:p>
          <a:p>
            <a:endParaRPr lang="fr-FR"/>
          </a:p>
          <a:p>
            <a:r>
              <a:rPr lang="fr-FR"/>
              <a:t>IDEE PRINCIPALE</a:t>
            </a:r>
          </a:p>
          <a:p>
            <a:r>
              <a:rPr lang="fr-FR"/>
              <a:t>Une découverte de collaboration, à tester hors du chemin critique.</a:t>
            </a:r>
          </a:p>
          <a:p>
            <a:endParaRPr lang="fr-FR"/>
          </a:p>
          <a:p>
            <a:r>
              <a:rPr lang="fr-FR"/>
              <a:t>A L'ECRAN</a:t>
            </a:r>
          </a:p>
          <a:p>
            <a:r>
              <a:rPr lang="fr-FR"/>
              <a:t>Découvrir : Lisez le projet public et ses versions.</a:t>
            </a:r>
          </a:p>
          <a:p>
            <a:r>
              <a:rPr lang="fr-FR"/>
              <a:t>Préparer : Un canal, un besoin et des documents non sensibles.</a:t>
            </a:r>
          </a:p>
          <a:p>
            <a:r>
              <a:rPr lang="fr-FR"/>
              <a:t>Évaluer : Qui répond, avec quel accès et quelle source ?</a:t>
            </a:r>
          </a:p>
          <a:p>
            <a:endParaRPr lang="fr-FR"/>
          </a:p>
          <a:p>
            <a:r>
              <a:rPr lang="fr-FR"/>
              <a:t>Théorie</a:t>
            </a:r>
          </a:p>
          <a:p>
            <a:r>
              <a:rPr lang="fr-FR"/>
              <a:t>Les recherches récupérées identifient Buzz et le dépôt public block/buzz comme un espace de collaboration où humains et agents peuvent participer. Aucune installation ni utilisation réelle n’a été effectuée dans la préparation du support. L’accès, les libellés de l’interface, la connexion des modèles et le coût restent à vérifier dans l’application et sa documentation actuelle. Présentez le scénario de canal comme une expérience à mener, sans en faire un prérequis pour terminer le MVP.</a:t>
            </a:r>
          </a:p>
          <a:p>
            <a:endParaRPr lang="fr-FR"/>
          </a:p>
          <a:p>
            <a:r>
              <a:rPr lang="fr-FR"/>
              <a:t>NOTES FORMATEUR</a:t>
            </a:r>
          </a:p>
          <a:p>
            <a:r>
              <a:rPr lang="fr-FR"/>
              <a:t>Les recherches récupérées identifient Buzz et le dépôt public block/buzz comme un espace de collaboration où humains et agents peuvent participer. Aucune installation ni utilisation réelle n’a été effectuée dans la préparation du support. L’accès, les libellés de l’interface, la connexion des modèles et le coût restent à vérifier dans l’application et sa documentation actuelle. Présentez le scénario de canal comme une expérience à mener, sans en faire un prérequis pour terminer le MVP.
Montrer le geste sur un exemple court. Faire distinguer ce qui vient de la documentation et ce qui a effectivement été exécuté. Passer au plan local si le service distant tarde.</a:t>
            </a:r>
          </a:p>
          <a:p>
            <a:endParaRPr lang="fr-FR"/>
          </a:p>
          <a:p>
            <a:r>
              <a:rPr lang="fr-FR"/>
              <a:t>PROMPT OU CODE COMPLET</a:t>
            </a:r>
          </a:p>
          <a:p>
            <a:r>
              <a:rPr lang="fr-FR"/>
              <a:t>Prompt à copier</a:t>
            </a:r>
          </a:p>
          <a:p>
            <a:r>
              <a:rPr lang="fr-FR"/>
              <a:t>Scénario à essayer après configuration de Buzz :
Résume les décisions du lot connaissances disponibles ici.
Cite les messages ou fichiers utilisés.
Si une décision manque, indique-le explicitement.</a:t>
            </a:r>
          </a:p>
          <a:p>
            <a:endParaRPr lang="fr-FR"/>
          </a:p>
          <a:p>
            <a:r>
              <a:rPr lang="fr-FR"/>
              <a:t>ACTION</a:t>
            </a:r>
          </a:p>
          <a:p>
            <a:r>
              <a:rPr lang="fr-FR"/>
              <a:t>Découverte · 2 min : formulez une question utile au canal.</a:t>
            </a:r>
          </a:p>
          <a:p>
            <a:endParaRPr lang="fr-FR"/>
          </a:p>
          <a:p>
            <a:r>
              <a:rPr lang="fr-FR"/>
              <a:t>SOURCES</a:t>
            </a:r>
          </a:p>
          <a:p>
            <a:r>
              <a:rPr lang="fr-FR"/>
              <a:t>Buzz · recherche récupérée, accès non testé · consulté le 14/09/2026</a:t>
            </a:r>
          </a:p>
          <a:p>
            <a:r>
              <a:rPr lang="fr-FR"/>
              <a:t>https://buzz.xyz</a:t>
            </a:r>
          </a:p>
          <a:p>
            <a:endParaRPr lang="fr-FR"/>
          </a:p>
          <a:p>
            <a:r>
              <a:rPr lang="fr-FR"/>
              <a:t>Code public Buzz · consulté le 14/09/2026</a:t>
            </a:r>
          </a:p>
          <a:p>
            <a:r>
              <a:rPr lang="fr-FR"/>
              <a:t>https://github.com/block/buzz</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22</a:t>
            </a:fld>
            <a:endParaRPr lang="fr-FR"/>
          </a:p>
        </p:txBody>
      </p:sp>
    </p:spTree>
    <p:extLst>
      <p:ext uri="{BB962C8B-B14F-4D97-AF65-F5344CB8AC3E}">
        <p14:creationId xmlns:p14="http://schemas.microsoft.com/office/powerpoint/2010/main" val="30556383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Karpathy : faire vivre un wiki Markdown</a:t>
            </a:r>
          </a:p>
          <a:p>
            <a:endParaRPr lang="fr-FR"/>
          </a:p>
          <a:p>
            <a:r>
              <a:rPr lang="fr-FR"/>
              <a:t>ID : e23</a:t>
            </a:r>
          </a:p>
          <a:p>
            <a:r>
              <a:rPr lang="fr-FR"/>
              <a:t>CHAPITRE : Les outils</a:t>
            </a:r>
          </a:p>
          <a:p>
            <a:endParaRPr lang="fr-FR"/>
          </a:p>
          <a:p>
            <a:r>
              <a:rPr lang="fr-FR"/>
              <a:t>IDEE PRINCIPALE</a:t>
            </a:r>
          </a:p>
          <a:p>
            <a:r>
              <a:rPr lang="fr-FR"/>
              <a:t>Les sources restent brutes ; le wiki relie ce que vous apprenez.</a:t>
            </a:r>
          </a:p>
          <a:p>
            <a:endParaRPr lang="fr-FR"/>
          </a:p>
          <a:p>
            <a:r>
              <a:rPr lang="fr-FR"/>
              <a:t>A L'ECRAN</a:t>
            </a:r>
          </a:p>
          <a:p>
            <a:r>
              <a:rPr lang="fr-FR"/>
              <a:t>Ingest · intégrer : Lire une source, créer une page reliée.</a:t>
            </a:r>
          </a:p>
          <a:p>
            <a:r>
              <a:rPr lang="fr-FR"/>
              <a:t>Query · interroger : Répondre depuis le wiki en citant.</a:t>
            </a:r>
          </a:p>
          <a:p>
            <a:r>
              <a:rPr lang="fr-FR"/>
              <a:t>Lint · entretenir : Détecter liens cassés, doublons et contradictions.</a:t>
            </a:r>
          </a:p>
          <a:p>
            <a:endParaRPr lang="fr-FR"/>
          </a:p>
          <a:p>
            <a:r>
              <a:rPr lang="fr-FR"/>
              <a:t>Théorie</a:t>
            </a:r>
          </a:p>
          <a:p>
            <a:r>
              <a:rPr lang="fr-FR"/>
              <a:t>LLM Wiki est un patron de travail présenté dans un gist de Karpathy, pas un logiciel à installer. L’agent transforme des sources brutes en pages Markdown persistantes que l’humain peut également lire et modifier. Un index aide à retrouver les pages, un journal garde les changements et des règles définissent la structure attendue. Le kit adapte cette idée avec wiki/raw/ pour les originaux et wiki/pages/ pour la synthèse ; cette organisation conserve le savoir, sans garantir l’exactitude des sources ni rendre un modèle distant disponible hors ligne.</a:t>
            </a:r>
          </a:p>
          <a:p>
            <a:endParaRPr lang="fr-FR"/>
          </a:p>
          <a:p>
            <a:r>
              <a:rPr lang="fr-FR"/>
              <a:t>NOTES FORMATEUR</a:t>
            </a:r>
          </a:p>
          <a:p>
            <a:r>
              <a:rPr lang="fr-FR"/>
              <a:t>LLM Wiki est un patron de travail présenté dans un gist de Karpathy, pas un logiciel à installer. L’agent transforme des sources brutes en pages Markdown persistantes que l’humain peut également lire et modifier. Un index aide à retrouver les pages, un journal garde les changements et des règles définissent la structure attendue. Le kit adapte cette idée avec wiki/raw/ pour les originaux et wiki/pages/ pour la synthèse ; cette organisation conserve le savoir, sans garantir l’exactitude des sources ni rendre un modèle distant disponible hors ligne.
Montrer le geste sur un exemple court. Faire distinguer ce qui vient de la documentation et ce qui a effectivement été exécuté. Passer au plan local si le service distant tarde.</a:t>
            </a:r>
          </a:p>
          <a:p>
            <a:endParaRPr lang="fr-FR"/>
          </a:p>
          <a:p>
            <a:r>
              <a:rPr lang="fr-FR"/>
              <a:t>PROMPT OU CODE COMPLET</a:t>
            </a:r>
          </a:p>
          <a:p>
            <a:r>
              <a:rPr lang="fr-FR"/>
              <a:t>Prompt à copier</a:t>
            </a:r>
          </a:p>
          <a:p>
            <a:r>
              <a:rPr lang="fr-FR"/>
              <a:t>Lis une source dans wiki/raw/ sans la modifier.
Propose une page dans wiki/pages/ avec son lien source.
Signale les incertitudes et les contradictions.
Propose ensuite une entrée dans index.md et log.md.</a:t>
            </a:r>
          </a:p>
          <a:p>
            <a:endParaRPr lang="fr-FR"/>
          </a:p>
          <a:p>
            <a:r>
              <a:rPr lang="fr-FR"/>
              <a:t>ACTION</a:t>
            </a:r>
          </a:p>
          <a:p>
            <a:r>
              <a:rPr lang="fr-FR"/>
              <a:t>Exercice · 5 min : proposez une page à partir d’une source locale.</a:t>
            </a:r>
          </a:p>
          <a:p>
            <a:endParaRPr lang="fr-FR"/>
          </a:p>
          <a:p>
            <a:r>
              <a:rPr lang="fr-FR"/>
              <a:t>SOURCES</a:t>
            </a:r>
          </a:p>
          <a:p>
            <a:r>
              <a:rPr lang="fr-FR"/>
              <a:t>Karpathy · LLM Wiki · consulté le 14/09/2026</a:t>
            </a:r>
          </a:p>
          <a:p>
            <a:r>
              <a:rPr lang="fr-FR"/>
              <a:t>https://gist.github.com/karpathy/442a6bf555914893e9891c11519de94f</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23</a:t>
            </a:fld>
            <a:endParaRPr lang="fr-FR"/>
          </a:p>
        </p:txBody>
      </p:sp>
    </p:spTree>
    <p:extLst>
      <p:ext uri="{BB962C8B-B14F-4D97-AF65-F5344CB8AC3E}">
        <p14:creationId xmlns:p14="http://schemas.microsoft.com/office/powerpoint/2010/main" val="3228875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MVP tient dans un parcours</a:t>
            </a:r>
          </a:p>
          <a:p>
            <a:endParaRPr lang="fr-FR"/>
          </a:p>
          <a:p>
            <a:r>
              <a:rPr lang="fr-FR"/>
              <a:t>ID : e24</a:t>
            </a:r>
          </a:p>
          <a:p>
            <a:r>
              <a:rPr lang="fr-FR"/>
              <a:t>CHAPITRE : Le MVP</a:t>
            </a:r>
          </a:p>
          <a:p>
            <a:endParaRPr lang="fr-FR"/>
          </a:p>
          <a:p>
            <a:r>
              <a:rPr lang="fr-FR"/>
              <a:t>IDEE PRINCIPALE</a:t>
            </a:r>
          </a:p>
          <a:p>
            <a:r>
              <a:rPr lang="fr-FR"/>
              <a:t>Choisir un besoin → comprendre → trouver une structure → contacter.</a:t>
            </a:r>
          </a:p>
          <a:p>
            <a:endParaRPr lang="fr-FR"/>
          </a:p>
          <a:p>
            <a:r>
              <a:rPr lang="fr-FR"/>
              <a:t>A L'ECRAN</a:t>
            </a:r>
          </a:p>
          <a:p>
            <a:r>
              <a:rPr lang="fr-FR"/>
              <a:t>Public : Des personnes confrontées aux barrières de langue et d’accès.</a:t>
            </a:r>
          </a:p>
          <a:p>
            <a:r>
              <a:rPr lang="fr-FR"/>
              <a:t>Périmètre proposé : Une ville, des sources choisies, un mode de réponse confirmé.</a:t>
            </a:r>
          </a:p>
          <a:p>
            <a:r>
              <a:rPr lang="fr-FR"/>
              <a:t>Stack réelle : Projet App Web : React, Vite et TypeScript.</a:t>
            </a:r>
          </a:p>
          <a:p>
            <a:r>
              <a:rPr lang="fr-FR"/>
              <a:t>Reporté : Chat libre, carte intégrée et couverture nationale.</a:t>
            </a:r>
          </a:p>
          <a:p>
            <a:endParaRPr lang="fr-FR"/>
          </a:p>
          <a:p>
            <a:r>
              <a:rPr lang="fr-FR"/>
              <a:t>Théorie</a:t>
            </a:r>
          </a:p>
          <a:p>
            <a:r>
              <a:rPr lang="fr-FR"/>
              <a:t>Reconnect Assist est le fil rouge issu des échanges : aider à s’orienter vers des structures sociales, avec une interface accessible à des personnes peu technophiles. La formation reste dans le projet web commencé, même si les apprenants développent habituellement en PHP. Ville, langues et catégories sont des décisions à confirmer, pas des faits déjà validés. Une démonstration avec textes préparés est acceptable si le mode sans IA est annoncé ; elle ne prouve pas une intégration LLM. Le PO choisit un mode connecté seulement si un endpoint serveur est déjà prêt et validé ; les secrets restent côté serveur et les réponses indiquent leurs sources.</a:t>
            </a:r>
          </a:p>
          <a:p>
            <a:endParaRPr lang="fr-FR"/>
          </a:p>
          <a:p>
            <a:r>
              <a:rPr lang="fr-FR"/>
              <a:t>NOTES FORMATEUR</a:t>
            </a:r>
          </a:p>
          <a:p>
            <a:r>
              <a:rPr lang="fr-FR"/>
              <a:t>Reconnect Assist est le fil rouge issu des échanges : aider à s’orienter vers des structures sociales, avec une interface accessible à des personnes peu technophiles. La formation reste dans le projet web commencé, même si les apprenants développent habituellement en PHP. Ville, langues et catégories sont des décisions à confirmer, pas des faits déjà validés. Une démonstration avec textes préparés est acceptable si le mode sans IA est annoncé ; elle ne prouve pas une intégration LLM. Le PO choisit un mode connecté seulement si un endpoint serveur est déjà prêt et validé ; les secrets restent côté serveur et les réponses indiquent leurs sources.
Définir une démo réalisable avec les accès réellement disponibles.</a:t>
            </a:r>
          </a:p>
          <a:p>
            <a:endParaRPr lang="fr-FR"/>
          </a:p>
          <a:p>
            <a:r>
              <a:rPr lang="fr-FR"/>
              <a:t>ACTION</a:t>
            </a:r>
          </a:p>
          <a:p>
            <a:r>
              <a:rPr lang="fr-FR"/>
              <a:t>À 9h00 : validez le parcours et ce que vous reportez.</a:t>
            </a:r>
          </a:p>
          <a:p>
            <a:endParaRPr lang="fr-FR"/>
          </a:p>
          <a:p>
            <a:r>
              <a:rPr lang="fr-FR"/>
              <a:t>SOURCES</a:t>
            </a:r>
          </a:p>
          <a:p>
            <a:r>
              <a:rPr lang="fr-FR"/>
              <a:t>Dépôt et cadrage de formation · lus le 14/09/2026</a:t>
            </a:r>
          </a:p>
          <a:p>
            <a:r>
              <a:rPr lang="fr-FR"/>
              <a:t>https://github.com/Shadojin94/dev_ag_reconnect</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24</a:t>
            </a:fld>
            <a:endParaRPr lang="fr-FR"/>
          </a:p>
        </p:txBody>
      </p:sp>
    </p:spTree>
    <p:extLst>
      <p:ext uri="{BB962C8B-B14F-4D97-AF65-F5344CB8AC3E}">
        <p14:creationId xmlns:p14="http://schemas.microsoft.com/office/powerpoint/2010/main" val="5316252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Trois lots. Un point d’intégration.</a:t>
            </a:r>
          </a:p>
          <a:p>
            <a:endParaRPr lang="fr-FR"/>
          </a:p>
          <a:p>
            <a:r>
              <a:rPr lang="fr-FR"/>
              <a:t>ID : e25</a:t>
            </a:r>
          </a:p>
          <a:p>
            <a:r>
              <a:rPr lang="fr-FR"/>
              <a:t>CHAPITRE : Le MVP</a:t>
            </a:r>
          </a:p>
          <a:p>
            <a:endParaRPr lang="fr-FR"/>
          </a:p>
          <a:p>
            <a:r>
              <a:rPr lang="fr-FR"/>
              <a:t>IDEE PRINCIPALE</a:t>
            </a:r>
          </a:p>
          <a:p>
            <a:r>
              <a:rPr lang="fr-FR"/>
              <a:t>Répartition proposée : chaque personne confirme son périmètre.</a:t>
            </a:r>
          </a:p>
          <a:p>
            <a:endParaRPr lang="fr-FR"/>
          </a:p>
          <a:p>
            <a:r>
              <a:rPr lang="fr-FR"/>
              <a:t>A L'ECRAN</a:t>
            </a:r>
          </a:p>
          <a:p>
            <a:r>
              <a:rPr lang="fr-FR"/>
              <a:t>Romain · connaissances : src/features/base-connaissances/</a:t>
            </a:r>
          </a:p>
          <a:p>
            <a:r>
              <a:rPr lang="fr-FR"/>
              <a:t>Ashad · assistant : src/features/assistant/</a:t>
            </a:r>
          </a:p>
          <a:p>
            <a:r>
              <a:rPr lang="fr-FR"/>
              <a:t>Nils · annuaire : src/features/annuaire/</a:t>
            </a:r>
          </a:p>
          <a:p>
            <a:r>
              <a:rPr lang="fr-FR"/>
              <a:t>Cédric · intégration : Contrat, services et application commune.</a:t>
            </a:r>
          </a:p>
          <a:p>
            <a:endParaRPr lang="fr-FR"/>
          </a:p>
          <a:p>
            <a:r>
              <a:rPr lang="fr-FR"/>
              <a:t>Théorie</a:t>
            </a:r>
          </a:p>
          <a:p>
            <a:r>
              <a:rPr lang="fr-FR"/>
              <a:t>Cette organisation reste à confirmer avec l’équipe : Cédric est proposé pour l’intégration en plus de son rôle de PO. Les responsabilités prolongent la répartition demandée : collecte et base de connaissances, dialogue multilingue, puis contacts et carte. Les trois lots ne modifient pas directement les fichiers d’assemblage ni les types partagés. Les noms de dossiers sont proposés par le cadrage ; l’intégration les crée ou les confirme avant le départ. Chacun reste responsable de la relecture du code qu’il présente, même lorsque l’agent l’a généré.</a:t>
            </a:r>
          </a:p>
          <a:p>
            <a:endParaRPr lang="fr-FR"/>
          </a:p>
          <a:p>
            <a:r>
              <a:rPr lang="fr-FR"/>
              <a:t>NOTES FORMATEUR</a:t>
            </a:r>
          </a:p>
          <a:p>
            <a:r>
              <a:rPr lang="fr-FR"/>
              <a:t>Cette organisation reste à confirmer avec l’équipe : Cédric est proposé pour l’intégration en plus de son rôle de PO. Les responsabilités prolongent la répartition demandée : collecte et base de connaissances, dialogue multilingue, puis contacts et carte. Les trois lots ne modifient pas directement les fichiers d’assemblage ni les types partagés. Les noms de dossiers sont proposés par le cadrage ; l’intégration les crée ou les confirme avant le départ. Chacun reste responsable de la relecture du code qu’il présente, même lorsque l’agent l’a généré.
Faire confirmer qui possède chaque dossier avant le lancement.</a:t>
            </a:r>
          </a:p>
          <a:p>
            <a:endParaRPr lang="fr-FR"/>
          </a:p>
          <a:p>
            <a:r>
              <a:rPr lang="fr-FR"/>
              <a:t>ACTION</a:t>
            </a:r>
          </a:p>
          <a:p>
            <a:r>
              <a:rPr lang="fr-FR"/>
              <a:t>Avant de lancer : pointez le dossier de votre lot.</a:t>
            </a:r>
          </a:p>
          <a:p>
            <a:endParaRPr lang="fr-FR"/>
          </a:p>
          <a:p>
            <a:r>
              <a:rPr lang="fr-FR"/>
              <a:t>SOURCES</a:t>
            </a:r>
          </a:p>
          <a:p>
            <a:r>
              <a:rPr lang="fr-FR"/>
              <a:t>Dépôt et cadrage de formation · lus le 14/09/2026</a:t>
            </a:r>
          </a:p>
          <a:p>
            <a:r>
              <a:rPr lang="fr-FR"/>
              <a:t>https://github.com/Shadojin94/dev_ag_reconnect</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25</a:t>
            </a:fld>
            <a:endParaRPr lang="fr-FR"/>
          </a:p>
        </p:txBody>
      </p:sp>
    </p:spTree>
    <p:extLst>
      <p:ext uri="{BB962C8B-B14F-4D97-AF65-F5344CB8AC3E}">
        <p14:creationId xmlns:p14="http://schemas.microsoft.com/office/powerpoint/2010/main" val="21101086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contrat permet de travailler en parallèle</a:t>
            </a:r>
          </a:p>
          <a:p>
            <a:endParaRPr lang="fr-FR"/>
          </a:p>
          <a:p>
            <a:r>
              <a:rPr lang="fr-FR"/>
              <a:t>ID : e26</a:t>
            </a:r>
          </a:p>
          <a:p>
            <a:r>
              <a:rPr lang="fr-FR"/>
              <a:t>CHAPITRE : Le MVP</a:t>
            </a:r>
          </a:p>
          <a:p>
            <a:endParaRPr lang="fr-FR"/>
          </a:p>
          <a:p>
            <a:r>
              <a:rPr lang="fr-FR"/>
              <a:t>IDEE PRINCIPALE</a:t>
            </a:r>
          </a:p>
          <a:p>
            <a:r>
              <a:rPr lang="fr-FR"/>
              <a:t>Les types partagés deviennent la frontière entre les lots.</a:t>
            </a:r>
          </a:p>
          <a:p>
            <a:endParaRPr lang="fr-FR"/>
          </a:p>
          <a:p>
            <a:r>
              <a:rPr lang="fr-FR"/>
              <a:t>A L'ECRAN</a:t>
            </a:r>
          </a:p>
          <a:p>
            <a:r>
              <a:rPr lang="fr-FR"/>
              <a:t>Entrée : OrientationQuery : langue, besoin, ville, mots-clés.</a:t>
            </a:r>
          </a:p>
          <a:p>
            <a:r>
              <a:rPr lang="fr-FR"/>
              <a:t>Connaissances : KnowledgeItem : texte, catégorie et source.</a:t>
            </a:r>
          </a:p>
          <a:p>
            <a:r>
              <a:rPr lang="fr-FR"/>
              <a:t>Structures : Organisation : identité et contacts disponibles.</a:t>
            </a:r>
          </a:p>
          <a:p>
            <a:r>
              <a:rPr lang="fr-FR"/>
              <a:t>Sortie : OrientationResult : fiches, organismes, explication.</a:t>
            </a:r>
          </a:p>
          <a:p>
            <a:endParaRPr lang="fr-FR"/>
          </a:p>
          <a:p>
            <a:r>
              <a:rPr lang="fr-FR"/>
              <a:t>Théorie</a:t>
            </a:r>
          </a:p>
          <a:p>
            <a:r>
              <a:rPr lang="fr-FR"/>
              <a:t>Le contrat complet est fourni dans kit/CONTRAT-DONNEES.md comme proposition à valider avec l’équipe. Les fonctions searchKnowledge, findOrganisations et explain renvoient des promesses, même si la démo utilise des données locales ; une future source distante pourra conserver l’interface. Les fixtures TypeScript sont un choix proposé pour faire contrôler leur forme par les types du projet. Une feature utilise le contrat et les exports publics, sans aller chercher les fichiers internes d’une autre feature.</a:t>
            </a:r>
          </a:p>
          <a:p>
            <a:endParaRPr lang="fr-FR"/>
          </a:p>
          <a:p>
            <a:r>
              <a:rPr lang="fr-FR"/>
              <a:t>NOTES FORMATEUR</a:t>
            </a:r>
          </a:p>
          <a:p>
            <a:r>
              <a:rPr lang="fr-FR"/>
              <a:t>Le contrat complet est fourni dans kit/CONTRAT-DONNEES.md comme proposition à valider avec l’équipe. Les fonctions searchKnowledge, findOrganisations et explain renvoient des promesses, même si la démo utilise des données locales ; une future source distante pourra conserver l’interface. Les fixtures TypeScript sont un choix proposé pour faire contrôler leur forme par les types du projet. Une feature utilise le contrat et les exports publics, sans aller chercher les fichiers internes d’une autre feature.
Faire confirmer les décisions proposées par le PO. Distinguer la cible pédagogique, les fichiers réellement présents et ce qui reste à produire. Demander une preuve observable avant de déclarer le ticket terminé.</a:t>
            </a:r>
          </a:p>
          <a:p>
            <a:endParaRPr lang="fr-FR"/>
          </a:p>
          <a:p>
            <a:r>
              <a:rPr lang="fr-FR"/>
              <a:t>PROMPT OU CODE COMPLET</a:t>
            </a:r>
          </a:p>
          <a:p>
            <a:r>
              <a:rPr lang="fr-FR"/>
              <a:t>Signatures proposées</a:t>
            </a:r>
          </a:p>
          <a:p>
            <a:r>
              <a:rPr lang="fr-FR"/>
              <a:t>searchKnowledge(query): Promise&lt;KnowledgeItem[]&gt;
findOrganisations(query): Promise&lt;Organisation[]&gt;
explain(query, items): Promise&lt;Explanation&gt;</a:t>
            </a:r>
          </a:p>
          <a:p>
            <a:endParaRPr lang="fr-FR"/>
          </a:p>
          <a:p>
            <a:r>
              <a:rPr lang="fr-FR"/>
              <a:t>ACTION</a:t>
            </a:r>
          </a:p>
          <a:p>
            <a:r>
              <a:rPr lang="fr-FR"/>
              <a:t>À 9h55 : relisez les signatures avant de lancer les lots.</a:t>
            </a:r>
          </a:p>
          <a:p>
            <a:endParaRPr lang="fr-FR"/>
          </a:p>
          <a:p>
            <a:r>
              <a:rPr lang="fr-FR"/>
              <a:t>SOURCES</a:t>
            </a:r>
          </a:p>
          <a:p>
            <a:r>
              <a:rPr lang="fr-FR"/>
              <a:t>Dépôt et cadrage de formation · lus le 14/09/2026</a:t>
            </a:r>
          </a:p>
          <a:p>
            <a:r>
              <a:rPr lang="fr-FR"/>
              <a:t>https://github.com/Shadojin94/dev_ag_reconnect</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26</a:t>
            </a:fld>
            <a:endParaRPr lang="fr-FR"/>
          </a:p>
        </p:txBody>
      </p:sp>
    </p:spTree>
    <p:extLst>
      <p:ext uri="{BB962C8B-B14F-4D97-AF65-F5344CB8AC3E}">
        <p14:creationId xmlns:p14="http://schemas.microsoft.com/office/powerpoint/2010/main" val="2342353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KB-01 · Romain</a:t>
            </a:r>
          </a:p>
          <a:p>
            <a:endParaRPr lang="fr-FR"/>
          </a:p>
          <a:p>
            <a:r>
              <a:rPr lang="fr-FR"/>
              <a:t>ID : e27</a:t>
            </a:r>
          </a:p>
          <a:p>
            <a:r>
              <a:rPr lang="fr-FR"/>
              <a:t>CHAPITRE : Le MVP</a:t>
            </a:r>
          </a:p>
          <a:p>
            <a:endParaRPr lang="fr-FR"/>
          </a:p>
          <a:p>
            <a:r>
              <a:rPr lang="fr-FR"/>
              <a:t>IDEE PRINCIPALE</a:t>
            </a:r>
          </a:p>
          <a:p>
            <a:r>
              <a:rPr lang="fr-FR"/>
              <a:t>Base de connaissances sourcée</a:t>
            </a:r>
          </a:p>
          <a:p>
            <a:endParaRPr lang="fr-FR"/>
          </a:p>
          <a:p>
            <a:r>
              <a:rPr lang="fr-FR"/>
              <a:t>A L'ECRAN</a:t>
            </a:r>
          </a:p>
          <a:p>
            <a:r>
              <a:rPr lang="fr-FR"/>
              <a:t>SMART : 8 fiches sourcées et consultables à 10h45.</a:t>
            </a:r>
          </a:p>
          <a:p>
            <a:r>
              <a:rPr lang="fr-FR"/>
              <a:t>Ready : Contrat, catégories et sources disponibles.</a:t>
            </a:r>
          </a:p>
          <a:p>
            <a:r>
              <a:rPr lang="fr-FR"/>
              <a:t>Done : Recherche, source et cas vide vérifiés.</a:t>
            </a:r>
          </a:p>
          <a:p>
            <a:r>
              <a:rPr lang="fr-FR"/>
              <a:t>Fichiers : src/features/base-connaissances/**</a:t>
            </a:r>
          </a:p>
          <a:p>
            <a:endParaRPr lang="fr-FR"/>
          </a:p>
          <a:p>
            <a:r>
              <a:rPr lang="fr-FR"/>
              <a:t>Théorie</a:t>
            </a:r>
          </a:p>
          <a:p>
            <a:r>
              <a:rPr lang="fr-FR"/>
              <a:t>Objectif proposé : À 10h45, proposer huit fiches issues des sources validées, searchKnowledge(query) et KnowledgeList, avec source et repli de langue ; lint et build réussissent. Ready : Contrat src/types/orientation.ts partagé et lu. Catégories, langues et huit sources ou fiches cibles validées par le PO. Copies de pages disponibles ou collecte testée ; branche à jour et lot attribué. Done : Huit KnowledgeItem typés : titre, résumé, catégorie, mots-clés, source et date réelle de consultation ; traductions validées ou explicitement signalées. Recherche par catégorie testée et résultat vide traité ; langue absente : repli en français. KnowledgeList montre le lien source ; aucune information absente n’est inventée ; lint et build réussissent, diff relu. Dépendances : INT-01 phase 1 : contrat et façade stub prêts avant lancement. Le ticket complet du kit porte les mêmes critères. Les quantités sont des objectifs pédagogiques à valider ; réduire le périmètre si les sources ne sont pas disponibles, sans inventer les données.</a:t>
            </a:r>
          </a:p>
          <a:p>
            <a:endParaRPr lang="fr-FR"/>
          </a:p>
          <a:p>
            <a:r>
              <a:rPr lang="fr-FR"/>
              <a:t>NOTES FORMATEUR</a:t>
            </a:r>
          </a:p>
          <a:p>
            <a:r>
              <a:rPr lang="fr-FR"/>
              <a:t>Objectif proposé : À 10h45, proposer huit fiches issues des sources validées, searchKnowledge(query) et KnowledgeList, avec source et repli de langue ; lint et build réussissent. Ready : Contrat src/types/orientation.ts partagé et lu. Catégories, langues et huit sources ou fiches cibles validées par le PO. Copies de pages disponibles ou collecte testée ; branche à jour et lot attribué. Done : Huit KnowledgeItem typés : titre, résumé, catégorie, mots-clés, source et date réelle de consultation ; traductions validées ou explicitement signalées. Recherche par catégorie testée et résultat vide traité ; langue absente : repli en français. KnowledgeList montre le lien source ; aucune information absente n’est inventée ; lint et build réussissent, diff relu. Dépendances : INT-01 phase 1 : contrat et façade stub prêts avant lancement. Le ticket complet du kit porte les mêmes critères. Les quantités sont des objectifs pédagogiques à valider ; réduire le périmètre si les sources ne sont pas disponibles, sans inventer les données.
Faire confirmer les décisions proposées par le PO. Distinguer la cible pédagogique, les fichiers réellement présents et ce qui reste à produire. Demander une preuve observable avant de déclarer le ticket terminé.</a:t>
            </a:r>
          </a:p>
          <a:p>
            <a:endParaRPr lang="fr-FR"/>
          </a:p>
          <a:p>
            <a:r>
              <a:rPr lang="fr-FR"/>
              <a:t>PROMPT OU CODE COMPLET</a:t>
            </a:r>
          </a:p>
          <a:p>
            <a:r>
              <a:rPr lang="fr-FR"/>
              <a:t>Prompt à copier</a:t>
            </a:r>
          </a:p>
          <a:p>
            <a:r>
              <a:rPr lang="fr-FR"/>
              <a:t>/prompt-5 KB-01 dans TICKETS-DEMAIN.md
Vérifie Ready avant de proposer le plan.
Indique les preuves nécessaires pour passer Done.</a:t>
            </a:r>
          </a:p>
          <a:p>
            <a:endParaRPr lang="fr-FR"/>
          </a:p>
          <a:p>
            <a:r>
              <a:rPr lang="fr-FR"/>
              <a:t>ACTION</a:t>
            </a:r>
          </a:p>
          <a:p>
            <a:r>
              <a:rPr lang="fr-FR"/>
              <a:t>Ouvrez TICKETS-DEMAIN.md et confirmez Ready.</a:t>
            </a:r>
          </a:p>
          <a:p>
            <a:endParaRPr lang="fr-FR"/>
          </a:p>
          <a:p>
            <a:r>
              <a:rPr lang="fr-FR"/>
              <a:t>SOURCES</a:t>
            </a:r>
          </a:p>
          <a:p>
            <a:r>
              <a:rPr lang="fr-FR"/>
              <a:t>Dépôt et cadrage de formation · lus le 14/09/2026</a:t>
            </a:r>
          </a:p>
          <a:p>
            <a:r>
              <a:rPr lang="fr-FR"/>
              <a:t>https://github.com/Shadojin94/dev_ag_reconnect</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27</a:t>
            </a:fld>
            <a:endParaRPr lang="fr-FR"/>
          </a:p>
        </p:txBody>
      </p:sp>
    </p:spTree>
    <p:extLst>
      <p:ext uri="{BB962C8B-B14F-4D97-AF65-F5344CB8AC3E}">
        <p14:creationId xmlns:p14="http://schemas.microsoft.com/office/powerpoint/2010/main" val="11669353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ASSIST-01 · Ashad</a:t>
            </a:r>
          </a:p>
          <a:p>
            <a:endParaRPr lang="fr-FR"/>
          </a:p>
          <a:p>
            <a:r>
              <a:rPr lang="fr-FR"/>
              <a:t>ID : e28</a:t>
            </a:r>
          </a:p>
          <a:p>
            <a:r>
              <a:rPr lang="fr-FR"/>
              <a:t>CHAPITRE : Le MVP</a:t>
            </a:r>
          </a:p>
          <a:p>
            <a:endParaRPr lang="fr-FR"/>
          </a:p>
          <a:p>
            <a:r>
              <a:rPr lang="fr-FR"/>
              <a:t>IDEE PRINCIPALE</a:t>
            </a:r>
          </a:p>
          <a:p>
            <a:r>
              <a:rPr lang="fr-FR"/>
              <a:t>Assistant multilingue simple</a:t>
            </a:r>
          </a:p>
          <a:p>
            <a:endParaRPr lang="fr-FR"/>
          </a:p>
          <a:p>
            <a:r>
              <a:rPr lang="fr-FR"/>
              <a:t>A L'ECRAN</a:t>
            </a:r>
          </a:p>
          <a:p>
            <a:r>
              <a:rPr lang="fr-FR"/>
              <a:t>SMART : Un parcours multilingue et un mode choisi à 10h45.</a:t>
            </a:r>
          </a:p>
          <a:p>
            <a:r>
              <a:rPr lang="fr-FR"/>
              <a:t>Ready : Contrat, langues ; endpoint validé ou repli choisi.</a:t>
            </a:r>
          </a:p>
          <a:p>
            <a:r>
              <a:rPr lang="fr-FR"/>
              <a:t>Done : Sources, erreurs et mode réel vérifiés.</a:t>
            </a:r>
          </a:p>
          <a:p>
            <a:r>
              <a:rPr lang="fr-FR"/>
              <a:t>Fichiers : src/features/assistant/**</a:t>
            </a:r>
          </a:p>
          <a:p>
            <a:endParaRPr lang="fr-FR"/>
          </a:p>
          <a:p>
            <a:r>
              <a:rPr lang="fr-FR"/>
              <a:t>Théorie</a:t>
            </a:r>
          </a:p>
          <a:p>
            <a:r>
              <a:rPr lang="fr-FR"/>
              <a:t>Objectif proposé : À 10h45, fournir un parcours langue → besoin → ville qui émet OrientationQuery et affiche une réponse sourcée dans la langue choisie : mode LLM si l’endpoint serveur est prêt et validé, sinon repli annoncé sans IA ; lint et build réussissent. Ready : Contrat et façade stub disponibles pour travailler sans les autres lots. Langues de démonstration et libellés français validés par le PO. PO : choisir avant lancement le mode connecté si un endpoint serveur est prêt et validé (clé côté serveur, sources renvoyées), sinon le repli avec textes préparés. La construction d’un backend supplémentaire exige un périmètre séparé. Done : Même jeu de libellés pour les langues retenues, avec repli français si une traduction manque. Choisir un besoin produit une OrientationQuery valide ; les états chargement, aucun résultat et erreur sont affichés. La recette indique le mode réellement testé : réponse LLM sourcée via endpoint validé, ou réponse préparée marquée sans IA. Parcours utilisable au clavier et sur écran étroit, boutons d’au moins 44 px ; lint et build réussissent, diff et capture relus. Dépendances : INT-01 phase 1 : contrat et façade stub. Le mode montré doit être annoncé ; une réponse préparée ne prouve pas une intégration LLM.</a:t>
            </a:r>
          </a:p>
          <a:p>
            <a:endParaRPr lang="fr-FR"/>
          </a:p>
          <a:p>
            <a:r>
              <a:rPr lang="fr-FR"/>
              <a:t>NOTES FORMATEUR</a:t>
            </a:r>
          </a:p>
          <a:p>
            <a:r>
              <a:rPr lang="fr-FR"/>
              <a:t>Objectif proposé : À 10h45, fournir un parcours langue → besoin → ville qui émet OrientationQuery et affiche une réponse sourcée dans la langue choisie : mode LLM si l’endpoint serveur est prêt et validé, sinon repli annoncé sans IA ; lint et build réussissent. Ready : Contrat et façade stub disponibles pour travailler sans les autres lots. Langues de démonstration et libellés français validés par le PO. PO : choisir avant lancement le mode connecté si un endpoint serveur est prêt et validé (clé côté serveur, sources renvoyées), sinon le repli avec textes préparés. La construction d’un backend supplémentaire exige un périmètre séparé. Done : Même jeu de libellés pour les langues retenues, avec repli français si une traduction manque. Choisir un besoin produit une OrientationQuery valide ; les états chargement, aucun résultat et erreur sont affichés. La recette indique le mode réellement testé : réponse LLM sourcée via endpoint validé, ou réponse préparée marquée sans IA. Parcours utilisable au clavier et sur écran étroit, boutons d’au moins 44 px ; lint et build réussissent, diff et capture relus. Dépendances : INT-01 phase 1 : contrat et façade stub. Le mode montré doit être annoncé ; une réponse préparée ne prouve pas une intégration LLM.
Faire choisir le mode par le PO avant de lancer Ashad. Ne pas ajouter un backend au lot implicitement.</a:t>
            </a:r>
          </a:p>
          <a:p>
            <a:endParaRPr lang="fr-FR"/>
          </a:p>
          <a:p>
            <a:r>
              <a:rPr lang="fr-FR"/>
              <a:t>PROMPT OU CODE COMPLET</a:t>
            </a:r>
          </a:p>
          <a:p>
            <a:r>
              <a:rPr lang="fr-FR"/>
              <a:t>Prompt à copier</a:t>
            </a:r>
          </a:p>
          <a:p>
            <a:r>
              <a:rPr lang="fr-FR"/>
              <a:t>/prompt-5 ASSIST-01 dans TICKETS-DEMAIN.md
Vérifie Ready avant de proposer le plan.
Indique les preuves nécessaires pour passer Done.</a:t>
            </a:r>
          </a:p>
          <a:p>
            <a:endParaRPr lang="fr-FR"/>
          </a:p>
          <a:p>
            <a:r>
              <a:rPr lang="fr-FR"/>
              <a:t>ACTION</a:t>
            </a:r>
          </a:p>
          <a:p>
            <a:r>
              <a:rPr lang="fr-FR"/>
              <a:t>Ouvrez TICKETS-DEMAIN.md et confirmez Ready.</a:t>
            </a:r>
          </a:p>
          <a:p>
            <a:endParaRPr lang="fr-FR"/>
          </a:p>
          <a:p>
            <a:r>
              <a:rPr lang="fr-FR"/>
              <a:t>SOURCES</a:t>
            </a:r>
          </a:p>
          <a:p>
            <a:r>
              <a:rPr lang="fr-FR"/>
              <a:t>Dépôt et cadrage de formation · lus le 14/09/2026</a:t>
            </a:r>
          </a:p>
          <a:p>
            <a:r>
              <a:rPr lang="fr-FR"/>
              <a:t>https://github.com/Shadojin94/dev_ag_reconnect</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28</a:t>
            </a:fld>
            <a:endParaRPr lang="fr-FR"/>
          </a:p>
        </p:txBody>
      </p:sp>
    </p:spTree>
    <p:extLst>
      <p:ext uri="{BB962C8B-B14F-4D97-AF65-F5344CB8AC3E}">
        <p14:creationId xmlns:p14="http://schemas.microsoft.com/office/powerpoint/2010/main" val="31606683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ANNU-01 · Nils</a:t>
            </a:r>
          </a:p>
          <a:p>
            <a:endParaRPr lang="fr-FR"/>
          </a:p>
          <a:p>
            <a:r>
              <a:rPr lang="fr-FR"/>
              <a:t>ID : e29</a:t>
            </a:r>
          </a:p>
          <a:p>
            <a:r>
              <a:rPr lang="fr-FR"/>
              <a:t>CHAPITRE : Le MVP</a:t>
            </a:r>
          </a:p>
          <a:p>
            <a:endParaRPr lang="fr-FR"/>
          </a:p>
          <a:p>
            <a:r>
              <a:rPr lang="fr-FR"/>
              <a:t>IDEE PRINCIPALE</a:t>
            </a:r>
          </a:p>
          <a:p>
            <a:r>
              <a:rPr lang="fr-FR"/>
              <a:t>Annuaire et contacts vérifiables</a:t>
            </a:r>
          </a:p>
          <a:p>
            <a:endParaRPr lang="fr-FR"/>
          </a:p>
          <a:p>
            <a:r>
              <a:rPr lang="fr-FR"/>
              <a:t>A L'ECRAN</a:t>
            </a:r>
          </a:p>
          <a:p>
            <a:r>
              <a:rPr lang="fr-FR"/>
              <a:t>SMART : 6 structures et leurs contacts vérifiables à 10h45.</a:t>
            </a:r>
          </a:p>
          <a:p>
            <a:r>
              <a:rPr lang="fr-FR"/>
              <a:t>Ready : Contrat, ville et sources des coordonnées.</a:t>
            </a:r>
          </a:p>
          <a:p>
            <a:r>
              <a:rPr lang="fr-FR"/>
              <a:t>Done : Filtres, champs absents et liens contrôlés.</a:t>
            </a:r>
          </a:p>
          <a:p>
            <a:r>
              <a:rPr lang="fr-FR"/>
              <a:t>Fichiers : src/features/annuaire/**</a:t>
            </a:r>
          </a:p>
          <a:p>
            <a:endParaRPr lang="fr-FR"/>
          </a:p>
          <a:p>
            <a:r>
              <a:rPr lang="fr-FR"/>
              <a:t>Théorie</a:t>
            </a:r>
          </a:p>
          <a:p>
            <a:r>
              <a:rPr lang="fr-FR"/>
              <a:t>Objectif proposé : À 10h45, proposer six structures de la ville choisie, findOrganisations(query) et OrganisationList avec des coordonnées sourcées et un lien carte si l’adresse est disponible ; lint et build réussissent. Ready : Contrat partagé et ville de démonstration fixés. Six structures cibles et sources disponibles validées avec le PO. Lien carte externe retenu pour la matinée ; branche à jour et lot attribué. Done : Six Organisation typées, avec source et ville ; téléphone, e-mail, horaires ou adresse inconnus restent absents. Filtre par ville et catégorie vérifié ; ville inconnue : résultat vide ; aucun bouton de contact sans valeur sourcée. Carte liée seulement si l’adresse est disponible ; le fonctionnement du site externe est distingué de l’URL construite ; lint et build réussissent, diff relu. Dépendances : INT-01 phase 1 : contrat partagé. Le ticket complet du kit porte les mêmes critères. Les quantités sont des objectifs pédagogiques à valider ; réduire le périmètre si les sources ne sont pas disponibles, sans inventer les données.</a:t>
            </a:r>
          </a:p>
          <a:p>
            <a:endParaRPr lang="fr-FR"/>
          </a:p>
          <a:p>
            <a:r>
              <a:rPr lang="fr-FR"/>
              <a:t>NOTES FORMATEUR</a:t>
            </a:r>
          </a:p>
          <a:p>
            <a:r>
              <a:rPr lang="fr-FR"/>
              <a:t>Objectif proposé : À 10h45, proposer six structures de la ville choisie, findOrganisations(query) et OrganisationList avec des coordonnées sourcées et un lien carte si l’adresse est disponible ; lint et build réussissent. Ready : Contrat partagé et ville de démonstration fixés. Six structures cibles et sources disponibles validées avec le PO. Lien carte externe retenu pour la matinée ; branche à jour et lot attribué. Done : Six Organisation typées, avec source et ville ; téléphone, e-mail, horaires ou adresse inconnus restent absents. Filtre par ville et catégorie vérifié ; ville inconnue : résultat vide ; aucun bouton de contact sans valeur sourcée. Carte liée seulement si l’adresse est disponible ; le fonctionnement du site externe est distingué de l’URL construite ; lint et build réussissent, diff relu. Dépendances : INT-01 phase 1 : contrat partagé. Le ticket complet du kit porte les mêmes critères. Les quantités sont des objectifs pédagogiques à valider ; réduire le périmètre si les sources ne sont pas disponibles, sans inventer les données.
Faire confirmer les décisions proposées par le PO. Distinguer la cible pédagogique, les fichiers réellement présents et ce qui reste à produire. Demander une preuve observable avant de déclarer le ticket terminé.</a:t>
            </a:r>
          </a:p>
          <a:p>
            <a:endParaRPr lang="fr-FR"/>
          </a:p>
          <a:p>
            <a:r>
              <a:rPr lang="fr-FR"/>
              <a:t>PROMPT OU CODE COMPLET</a:t>
            </a:r>
          </a:p>
          <a:p>
            <a:r>
              <a:rPr lang="fr-FR"/>
              <a:t>Prompt à copier</a:t>
            </a:r>
          </a:p>
          <a:p>
            <a:r>
              <a:rPr lang="fr-FR"/>
              <a:t>/prompt-5 ANNU-01 dans TICKETS-DEMAIN.md
Vérifie Ready avant de proposer le plan.
Indique les preuves nécessaires pour passer Done.</a:t>
            </a:r>
          </a:p>
          <a:p>
            <a:endParaRPr lang="fr-FR"/>
          </a:p>
          <a:p>
            <a:r>
              <a:rPr lang="fr-FR"/>
              <a:t>ACTION</a:t>
            </a:r>
          </a:p>
          <a:p>
            <a:r>
              <a:rPr lang="fr-FR"/>
              <a:t>Ouvrez TICKETS-DEMAIN.md et confirmez Ready.</a:t>
            </a:r>
          </a:p>
          <a:p>
            <a:endParaRPr lang="fr-FR"/>
          </a:p>
          <a:p>
            <a:r>
              <a:rPr lang="fr-FR"/>
              <a:t>SOURCES</a:t>
            </a:r>
          </a:p>
          <a:p>
            <a:r>
              <a:rPr lang="fr-FR"/>
              <a:t>Dépôt et cadrage de formation · lus le 14/09/2026</a:t>
            </a:r>
          </a:p>
          <a:p>
            <a:r>
              <a:rPr lang="fr-FR"/>
              <a:t>https://github.com/Shadojin94/dev_ag_reconnect</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29</a:t>
            </a:fld>
            <a:endParaRPr lang="fr-FR"/>
          </a:p>
        </p:txBody>
      </p:sp>
    </p:spTree>
    <p:extLst>
      <p:ext uri="{BB962C8B-B14F-4D97-AF65-F5344CB8AC3E}">
        <p14:creationId xmlns:p14="http://schemas.microsoft.com/office/powerpoint/2010/main" val="13551430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INT-01 · Cédric</a:t>
            </a:r>
          </a:p>
          <a:p>
            <a:endParaRPr lang="fr-FR"/>
          </a:p>
          <a:p>
            <a:r>
              <a:rPr lang="fr-FR"/>
              <a:t>ID : e30</a:t>
            </a:r>
          </a:p>
          <a:p>
            <a:r>
              <a:rPr lang="fr-FR"/>
              <a:t>CHAPITRE : Le MVP</a:t>
            </a:r>
          </a:p>
          <a:p>
            <a:endParaRPr lang="fr-FR"/>
          </a:p>
          <a:p>
            <a:r>
              <a:rPr lang="fr-FR"/>
              <a:t>IDEE PRINCIPALE</a:t>
            </a:r>
          </a:p>
          <a:p>
            <a:r>
              <a:rPr lang="fr-FR"/>
              <a:t>Contrat commun et intégration</a:t>
            </a:r>
          </a:p>
          <a:p>
            <a:endParaRPr lang="fr-FR"/>
          </a:p>
          <a:p>
            <a:r>
              <a:rPr lang="fr-FR"/>
              <a:t>A L'ECRAN</a:t>
            </a:r>
          </a:p>
          <a:p>
            <a:r>
              <a:rPr lang="fr-FR"/>
              <a:t>SMART : Contrat à 9h55 ; intégration prête à 12h00.</a:t>
            </a:r>
          </a:p>
          <a:p>
            <a:r>
              <a:rPr lang="fr-FR"/>
              <a:t>Ready : Décisions PO et périmètres partagés.</a:t>
            </a:r>
          </a:p>
          <a:p>
            <a:r>
              <a:rPr lang="fr-FR"/>
              <a:t>Done : Parcours complet et cas limites vérifiés.</a:t>
            </a:r>
          </a:p>
          <a:p>
            <a:r>
              <a:rPr lang="fr-FR"/>
              <a:t>Fichiers : src/app/, src/types/, src/services/ et assemblage.</a:t>
            </a:r>
          </a:p>
          <a:p>
            <a:endParaRPr lang="fr-FR"/>
          </a:p>
          <a:p>
            <a:r>
              <a:rPr lang="fr-FR"/>
              <a:t>Théorie</a:t>
            </a:r>
          </a:p>
          <a:p>
            <a:r>
              <a:rPr lang="fr-FR"/>
              <a:t>Objectif proposé : À 9h55, partager un contrat et une façade stub ; à 12h00, intégrer les trois lots avec lint et build réussis, puis présenter à 12h15 un parcours complet et ses limites. Ready : PO : ville, catégories, langues, données et mode sans IA confirmés. Périmètres attribués et conventions relues ; l’état réel des tickets GitHub est contrôlé. Squelette ouvrable et ordre d’intégration annoncé à l’équipe. Done : src/types/orientation.ts et src/services/orientation.ts donnent les mêmes signatures aux trois lots ; les modifications du contrat sont annoncées. Assemblage dans src/app/ ; les lots exposent leurs fonctions et composants via index.ts sans import interne entre features. Lint et build réussissent après intégration ; recette besoin → réponse → organisme → contact disponible, plus cas vide et mode sans IA ; limites consignées. Dépendances : Phase 1 avant les lots ; phase 2 après leur relecture. Ordre proposé : KB-01 → ANNU-01 → ASSIST-01. Le ticket complet du kit porte les mêmes critères. Les quantités sont des objectifs pédagogiques à valider ; réduire le périmètre si les sources ne sont pas disponibles, sans inventer les données.</a:t>
            </a:r>
          </a:p>
          <a:p>
            <a:endParaRPr lang="fr-FR"/>
          </a:p>
          <a:p>
            <a:r>
              <a:rPr lang="fr-FR"/>
              <a:t>NOTES FORMATEUR</a:t>
            </a:r>
          </a:p>
          <a:p>
            <a:r>
              <a:rPr lang="fr-FR"/>
              <a:t>Objectif proposé : À 9h55, partager un contrat et une façade stub ; à 12h00, intégrer les trois lots avec lint et build réussis, puis présenter à 12h15 un parcours complet et ses limites. Ready : PO : ville, catégories, langues, données et mode sans IA confirmés. Périmètres attribués et conventions relues ; l’état réel des tickets GitHub est contrôlé. Squelette ouvrable et ordre d’intégration annoncé à l’équipe. Done : src/types/orientation.ts et src/services/orientation.ts donnent les mêmes signatures aux trois lots ; les modifications du contrat sont annoncées. Assemblage dans src/app/ ; les lots exposent leurs fonctions et composants via index.ts sans import interne entre features. Lint et build réussissent après intégration ; recette besoin → réponse → organisme → contact disponible, plus cas vide et mode sans IA ; limites consignées. Dépendances : Phase 1 avant les lots ; phase 2 après leur relecture. Ordre proposé : KB-01 → ANNU-01 → ASSIST-01. Le ticket complet du kit porte les mêmes critères. Les quantités sont des objectifs pédagogiques à valider ; réduire le périmètre si les sources ne sont pas disponibles, sans inventer les données.
Faire confirmer les décisions proposées par le PO. Distinguer la cible pédagogique, les fichiers réellement présents et ce qui reste à produire. Demander une preuve observable avant de déclarer le ticket terminé.</a:t>
            </a:r>
          </a:p>
          <a:p>
            <a:endParaRPr lang="fr-FR"/>
          </a:p>
          <a:p>
            <a:r>
              <a:rPr lang="fr-FR"/>
              <a:t>PROMPT OU CODE COMPLET</a:t>
            </a:r>
          </a:p>
          <a:p>
            <a:r>
              <a:rPr lang="fr-FR"/>
              <a:t>Prompt à copier</a:t>
            </a:r>
          </a:p>
          <a:p>
            <a:r>
              <a:rPr lang="fr-FR"/>
              <a:t>/prompt-5 INT-01 dans TICKETS-DEMAIN.md
Vérifie Ready avant de proposer le plan.
Indique les preuves nécessaires pour passer Done.</a:t>
            </a:r>
          </a:p>
          <a:p>
            <a:endParaRPr lang="fr-FR"/>
          </a:p>
          <a:p>
            <a:r>
              <a:rPr lang="fr-FR"/>
              <a:t>ACTION</a:t>
            </a:r>
          </a:p>
          <a:p>
            <a:r>
              <a:rPr lang="fr-FR"/>
              <a:t>Ouvrez TICKETS-DEMAIN.md et confirmez Ready.</a:t>
            </a:r>
          </a:p>
          <a:p>
            <a:endParaRPr lang="fr-FR"/>
          </a:p>
          <a:p>
            <a:r>
              <a:rPr lang="fr-FR"/>
              <a:t>SOURCES</a:t>
            </a:r>
          </a:p>
          <a:p>
            <a:r>
              <a:rPr lang="fr-FR"/>
              <a:t>Dépôt et cadrage de formation · lus le 14/09/2026</a:t>
            </a:r>
          </a:p>
          <a:p>
            <a:r>
              <a:rPr lang="fr-FR"/>
              <a:t>https://github.com/Shadojin94/dev_ag_reconnect</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30</a:t>
            </a:fld>
            <a:endParaRPr lang="fr-FR"/>
          </a:p>
        </p:txBody>
      </p:sp>
    </p:spTree>
    <p:extLst>
      <p:ext uri="{BB962C8B-B14F-4D97-AF65-F5344CB8AC3E}">
        <p14:creationId xmlns:p14="http://schemas.microsoft.com/office/powerpoint/2010/main" val="18163487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matinée alterne travail et apprentissage</a:t>
            </a:r>
          </a:p>
          <a:p>
            <a:endParaRPr lang="fr-FR"/>
          </a:p>
          <a:p>
            <a:r>
              <a:rPr lang="fr-FR"/>
              <a:t>ID : e31</a:t>
            </a:r>
          </a:p>
          <a:p>
            <a:r>
              <a:rPr lang="fr-FR"/>
              <a:t>CHAPITRE : Le MVP</a:t>
            </a:r>
          </a:p>
          <a:p>
            <a:endParaRPr lang="fr-FR"/>
          </a:p>
          <a:p>
            <a:r>
              <a:rPr lang="fr-FR"/>
              <a:t>IDEE PRINCIPALE</a:t>
            </a:r>
          </a:p>
          <a:p>
            <a:r>
              <a:rPr lang="fr-FR"/>
              <a:t>Les heures sont des cibles de séance, à ajuster aux blocages.</a:t>
            </a:r>
          </a:p>
          <a:p>
            <a:endParaRPr lang="fr-FR"/>
          </a:p>
          <a:p>
            <a:r>
              <a:rPr lang="fr-FR"/>
              <a:t>A L'ECRAN</a:t>
            </a:r>
          </a:p>
          <a:p>
            <a:r>
              <a:rPr lang="fr-FR"/>
              <a:t>9h00–9h40 : Décisions PO, exercices outils et tickets.</a:t>
            </a:r>
          </a:p>
          <a:p>
            <a:r>
              <a:rPr lang="fr-FR"/>
              <a:t>9h40–10h05 : Contrat commun, reformulation et lancement.</a:t>
            </a:r>
          </a:p>
          <a:p>
            <a:r>
              <a:rPr lang="fr-FR"/>
              <a:t>10h05–10h45 : Théorie pendant l’exécution ; point blocages.</a:t>
            </a:r>
          </a:p>
          <a:p>
            <a:r>
              <a:rPr lang="fr-FR"/>
              <a:t>10h45–11h45 : Relecture, intégration et corrections.</a:t>
            </a:r>
          </a:p>
          <a:p>
            <a:r>
              <a:rPr lang="fr-FR"/>
              <a:t>11h45–12h30 : Recette, démonstration à 12h15, bilan.</a:t>
            </a:r>
          </a:p>
          <a:p>
            <a:endParaRPr lang="fr-FR"/>
          </a:p>
          <a:p>
            <a:r>
              <a:rPr lang="fr-FR"/>
              <a:t>Théorie</a:t>
            </a:r>
          </a:p>
          <a:p>
            <a:r>
              <a:rPr lang="fr-FR"/>
              <a:t>Le cadrage réserve d’abord un temps de décision et de prise en main. Le contrat commun est une dépendance réelle : le lancer avant sa validation peut créer du travail incompatible entre les trois lots. Pendant la théorie, un point de situation court distingue attente réseau, information manquante et difficulté d’implémentation. À partir de la recette, corrigez les défauts qui empêchent le parcours ; consignez les améliorations pour après la démo.</a:t>
            </a:r>
          </a:p>
          <a:p>
            <a:endParaRPr lang="fr-FR"/>
          </a:p>
          <a:p>
            <a:r>
              <a:rPr lang="fr-FR"/>
              <a:t>NOTES FORMATEUR</a:t>
            </a:r>
          </a:p>
          <a:p>
            <a:r>
              <a:rPr lang="fr-FR"/>
              <a:t>Le cadrage réserve d’abord un temps de décision et de prise en main. Le contrat commun est une dépendance réelle : le lancer avant sa validation peut créer du travail incompatible entre les trois lots. Pendant la théorie, un point de situation court distingue attente réseau, information manquante et difficulté d’implémentation. À partir de la recette, corrigez les défauts qui empêchent le parcours ; consignez les améliorations pour après la démo.
Faire confirmer les décisions proposées par le PO. Distinguer la cible pédagogique, les fichiers réellement présents et ce qui reste à produire. Demander une preuve observable avant de déclarer le ticket terminé.</a:t>
            </a:r>
          </a:p>
          <a:p>
            <a:endParaRPr lang="fr-FR"/>
          </a:p>
          <a:p>
            <a:r>
              <a:rPr lang="fr-FR"/>
              <a:t>ACTION</a:t>
            </a:r>
          </a:p>
          <a:p>
            <a:r>
              <a:rPr lang="fr-FR"/>
              <a:t>À chaque point : signalez terminé, bloqué ou à réduire.</a:t>
            </a:r>
          </a:p>
          <a:p>
            <a:endParaRPr lang="fr-FR"/>
          </a:p>
          <a:p>
            <a:r>
              <a:rPr lang="fr-FR"/>
              <a:t>SOURCES</a:t>
            </a:r>
          </a:p>
          <a:p>
            <a:r>
              <a:rPr lang="fr-FR"/>
              <a:t>Dépôt et cadrage de formation · lus le 14/09/2026</a:t>
            </a:r>
          </a:p>
          <a:p>
            <a:r>
              <a:rPr lang="fr-FR"/>
              <a:t>https://github.com/Shadojin94/dev_ag_reconnect</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31</a:t>
            </a:fld>
            <a:endParaRPr lang="fr-FR"/>
          </a:p>
        </p:txBody>
      </p:sp>
    </p:spTree>
    <p:extLst>
      <p:ext uri="{BB962C8B-B14F-4D97-AF65-F5344CB8AC3E}">
        <p14:creationId xmlns:p14="http://schemas.microsoft.com/office/powerpoint/2010/main" val="1177590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Sans réseau : montrer ce qui existe vraiment</a:t>
            </a:r>
          </a:p>
          <a:p>
            <a:endParaRPr lang="fr-FR"/>
          </a:p>
          <a:p>
            <a:r>
              <a:rPr lang="fr-FR"/>
              <a:t>ID : e32</a:t>
            </a:r>
          </a:p>
          <a:p>
            <a:r>
              <a:rPr lang="fr-FR"/>
              <a:t>CHAPITRE : Le MVP</a:t>
            </a:r>
          </a:p>
          <a:p>
            <a:endParaRPr lang="fr-FR"/>
          </a:p>
          <a:p>
            <a:r>
              <a:rPr lang="fr-FR"/>
              <a:t>IDEE PRINCIPALE</a:t>
            </a:r>
          </a:p>
          <a:p>
            <a:r>
              <a:rPr lang="fr-FR"/>
              <a:t>Fichiers locaux disponibles ≠ agent cloud disponible.</a:t>
            </a:r>
          </a:p>
          <a:p>
            <a:endParaRPr lang="fr-FR"/>
          </a:p>
          <a:p>
            <a:r>
              <a:rPr lang="fr-FR"/>
              <a:t>A L'ECRAN</a:t>
            </a:r>
          </a:p>
          <a:p>
            <a:r>
              <a:rPr lang="fr-FR"/>
              <a:t>Garder : Sources, traductions et fixtures déjà enregistrées.</a:t>
            </a:r>
          </a:p>
          <a:p>
            <a:r>
              <a:rPr lang="fr-FR"/>
              <a:t>Afficher : Une réponse préparée, identifiée « mode sans IA ».</a:t>
            </a:r>
          </a:p>
          <a:p>
            <a:r>
              <a:rPr lang="fr-FR"/>
              <a:t>Poursuivre : Relire, assembler et corriger localement si possible.</a:t>
            </a:r>
          </a:p>
          <a:p>
            <a:r>
              <a:rPr lang="fr-FR"/>
              <a:t>Reporter : Collecte, nouveaux paquets et validation distante.</a:t>
            </a:r>
          </a:p>
          <a:p>
            <a:endParaRPr lang="fr-FR"/>
          </a:p>
          <a:p>
            <a:r>
              <a:rPr lang="fr-FR"/>
              <a:t>Théorie</a:t>
            </a:r>
          </a:p>
          <a:p>
            <a:r>
              <a:rPr lang="fr-FR"/>
              <a:t>Un fichier HTML autonome se consulte sans réseau ; un projet Vite nécessite aussi ses dépendances déjà installées. Une copie de source garde sa date d’origine : elle ne devient pas une vérification du jour. Si les données manquent, réduisez la démonstration ou utilisez un cas d’école signalé comme fictif, sans inventer de contacts réels. Un modèle local n’est une solution que s’il est déjà installé, configuré et testé ; ce support n’en suppose aucun.</a:t>
            </a:r>
          </a:p>
          <a:p>
            <a:endParaRPr lang="fr-FR"/>
          </a:p>
          <a:p>
            <a:r>
              <a:rPr lang="fr-FR"/>
              <a:t>NOTES FORMATEUR</a:t>
            </a:r>
          </a:p>
          <a:p>
            <a:r>
              <a:rPr lang="fr-FR"/>
              <a:t>Un fichier HTML autonome se consulte sans réseau ; un projet Vite nécessite aussi ses dépendances déjà installées. Une copie de source garde sa date d’origine : elle ne devient pas une vérification du jour. Si les données manquent, réduisez la démonstration ou utilisez un cas d’école signalé comme fictif, sans inventer de contacts réels. Un modèle local n’est une solution que s’il est déjà installé, configuré et testé ; ce support n’en suppose aucun.
Faire confirmer les décisions proposées par le PO. Distinguer la cible pédagogique, les fichiers réellement présents et ce qui reste à produire. Demander une preuve observable avant de déclarer le ticket terminé.</a:t>
            </a:r>
          </a:p>
          <a:p>
            <a:endParaRPr lang="fr-FR"/>
          </a:p>
          <a:p>
            <a:r>
              <a:rPr lang="fr-FR"/>
              <a:t>ACTION</a:t>
            </a:r>
          </a:p>
          <a:p>
            <a:r>
              <a:rPr lang="fr-FR"/>
              <a:t>Exercice · 3 min : annoncez la limite de votre plan B.</a:t>
            </a:r>
          </a:p>
          <a:p>
            <a:endParaRPr lang="fr-FR"/>
          </a:p>
          <a:p>
            <a:r>
              <a:rPr lang="fr-FR"/>
              <a:t>SOURCES</a:t>
            </a:r>
          </a:p>
          <a:p>
            <a:r>
              <a:rPr lang="fr-FR"/>
              <a:t>Dépôt et cadrage de formation · lus le 14/09/2026</a:t>
            </a:r>
          </a:p>
          <a:p>
            <a:r>
              <a:rPr lang="fr-FR"/>
              <a:t>https://github.com/Shadojin94/dev_ag_reconnect</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32</a:t>
            </a:fld>
            <a:endParaRPr lang="fr-FR"/>
          </a:p>
        </p:txBody>
      </p:sp>
    </p:spTree>
    <p:extLst>
      <p:ext uri="{BB962C8B-B14F-4D97-AF65-F5344CB8AC3E}">
        <p14:creationId xmlns:p14="http://schemas.microsoft.com/office/powerpoint/2010/main" val="23930111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PO vérifie un résultat humain</a:t>
            </a:r>
          </a:p>
          <a:p>
            <a:endParaRPr lang="fr-FR"/>
          </a:p>
          <a:p>
            <a:r>
              <a:rPr lang="fr-FR"/>
              <a:t>ID : e33</a:t>
            </a:r>
          </a:p>
          <a:p>
            <a:r>
              <a:rPr lang="fr-FR"/>
              <a:t>CHAPITRE : Le MVP</a:t>
            </a:r>
          </a:p>
          <a:p>
            <a:endParaRPr lang="fr-FR"/>
          </a:p>
          <a:p>
            <a:r>
              <a:rPr lang="fr-FR"/>
              <a:t>IDEE PRINCIPALE</a:t>
            </a:r>
          </a:p>
          <a:p>
            <a:r>
              <a:rPr lang="fr-FR"/>
              <a:t>La démo répond à un besoin et montre ses limites.</a:t>
            </a:r>
          </a:p>
          <a:p>
            <a:endParaRPr lang="fr-FR"/>
          </a:p>
          <a:p>
            <a:r>
              <a:rPr lang="fr-FR"/>
              <a:t>A L'ECRAN</a:t>
            </a:r>
          </a:p>
          <a:p>
            <a:r>
              <a:rPr lang="fr-FR"/>
              <a:t>Comprendre : Le besoin et la langue se choisissent facilement.</a:t>
            </a:r>
          </a:p>
          <a:p>
            <a:r>
              <a:rPr lang="fr-FR"/>
              <a:t>Expliquer : La réponse indique sa source et le mode réellement testé.</a:t>
            </a:r>
          </a:p>
          <a:p>
            <a:r>
              <a:rPr lang="fr-FR"/>
              <a:t>Orienter : La structure correspond au besoin et à la ville.</a:t>
            </a:r>
          </a:p>
          <a:p>
            <a:r>
              <a:rPr lang="fr-FR"/>
              <a:t>Contacter : Chaque contact affiché vient d’une source.</a:t>
            </a:r>
          </a:p>
          <a:p>
            <a:r>
              <a:rPr lang="fr-FR"/>
              <a:t>Échouer proprement : Aucun résultat ou champ absent reste compréhensible.</a:t>
            </a:r>
          </a:p>
          <a:p>
            <a:endParaRPr lang="fr-FR"/>
          </a:p>
          <a:p>
            <a:r>
              <a:rPr lang="fr-FR"/>
              <a:t>Théorie</a:t>
            </a:r>
          </a:p>
          <a:p>
            <a:r>
              <a:rPr lang="fr-FR"/>
              <a:t>La recette suit le parcours attendu plutôt qu’une visite de tous les fichiers. Testez un cas nominal et plusieurs limites : une ville inconnue, une traduction absente et un téléphone manquant. Vérifiez que le contenu ne transforme pas une information générale en une promesse personnalisée et que les sources restent accessibles. Une validation sur navigateur local, sur écran étroit et sur téléphone sont des preuves différentes : consignez seulement celles réellement effectuées.</a:t>
            </a:r>
          </a:p>
          <a:p>
            <a:endParaRPr lang="fr-FR"/>
          </a:p>
          <a:p>
            <a:r>
              <a:rPr lang="fr-FR"/>
              <a:t>NOTES FORMATEUR</a:t>
            </a:r>
          </a:p>
          <a:p>
            <a:r>
              <a:rPr lang="fr-FR"/>
              <a:t>La recette suit le parcours attendu plutôt qu’une visite de tous les fichiers. Testez un cas nominal et plusieurs limites : une ville inconnue, une traduction absente et un téléphone manquant. Vérifiez que le contenu ne transforme pas une information générale en une promesse personnalisée et que les sources restent accessibles. Une validation sur navigateur local, sur écran étroit et sur téléphone sont des preuves différentes : consignez seulement celles réellement effectuées.
Faire confirmer les décisions proposées par le PO. Distinguer la cible pédagogique, les fichiers réellement présents et ce qui reste à produire. Demander une preuve observable avant de déclarer le ticket terminé.</a:t>
            </a:r>
          </a:p>
          <a:p>
            <a:endParaRPr lang="fr-FR"/>
          </a:p>
          <a:p>
            <a:r>
              <a:rPr lang="fr-FR"/>
              <a:t>PROMPT OU CODE COMPLET</a:t>
            </a:r>
          </a:p>
          <a:p>
            <a:r>
              <a:rPr lang="fr-FR"/>
              <a:t>Prompt à copier</a:t>
            </a:r>
          </a:p>
          <a:p>
            <a:r>
              <a:rPr lang="fr-FR"/>
              <a:t>Recette : besoin → réponse → organisme → contact disponible.
Teste aussi ville inconnue et téléphone absent.
Note attendu, observé et preuve.
Classe les écarts : bloquant pour la démo ou à reporter.</a:t>
            </a:r>
          </a:p>
          <a:p>
            <a:endParaRPr lang="fr-FR"/>
          </a:p>
          <a:p>
            <a:r>
              <a:rPr lang="fr-FR"/>
              <a:t>ACTION</a:t>
            </a:r>
          </a:p>
          <a:p>
            <a:r>
              <a:rPr lang="fr-FR"/>
              <a:t>À 11h45 : jouez le scénario depuis un écran neuf.</a:t>
            </a:r>
          </a:p>
          <a:p>
            <a:endParaRPr lang="fr-FR"/>
          </a:p>
          <a:p>
            <a:r>
              <a:rPr lang="fr-FR"/>
              <a:t>SOURCES</a:t>
            </a:r>
          </a:p>
          <a:p>
            <a:r>
              <a:rPr lang="fr-FR"/>
              <a:t>Dépôt et cadrage de formation · lus le 14/09/2026</a:t>
            </a:r>
          </a:p>
          <a:p>
            <a:r>
              <a:rPr lang="fr-FR"/>
              <a:t>https://github.com/Shadojin94/dev_ag_reconnect</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33</a:t>
            </a:fld>
            <a:endParaRPr lang="fr-FR"/>
          </a:p>
        </p:txBody>
      </p:sp>
    </p:spTree>
    <p:extLst>
      <p:ext uri="{BB962C8B-B14F-4D97-AF65-F5344CB8AC3E}">
        <p14:creationId xmlns:p14="http://schemas.microsoft.com/office/powerpoint/2010/main" val="27479880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fiche à garder</a:t>
            </a:r>
          </a:p>
          <a:p>
            <a:endParaRPr lang="fr-FR"/>
          </a:p>
          <a:p>
            <a:r>
              <a:rPr lang="fr-FR"/>
              <a:t>ID : e34</a:t>
            </a:r>
          </a:p>
          <a:p>
            <a:r>
              <a:rPr lang="fr-FR"/>
              <a:t>CHAPITRE : Garder</a:t>
            </a:r>
          </a:p>
          <a:p>
            <a:endParaRPr lang="fr-FR"/>
          </a:p>
          <a:p>
            <a:r>
              <a:rPr lang="fr-FR"/>
              <a:t>IDEE PRINCIPALE</a:t>
            </a:r>
          </a:p>
          <a:p>
            <a:r>
              <a:rPr lang="fr-FR"/>
              <a:t>Reprenez cette routine au prochain ticket.</a:t>
            </a:r>
          </a:p>
          <a:p>
            <a:endParaRPr lang="fr-FR"/>
          </a:p>
          <a:p>
            <a:r>
              <a:rPr lang="fr-FR"/>
              <a:t>A L'ECRAN</a:t>
            </a:r>
          </a:p>
          <a:p>
            <a:r>
              <a:rPr lang="fr-FR"/>
              <a:t>1 Cadrer : « Transforme ce besoin en ticket Ready et Done. »</a:t>
            </a:r>
          </a:p>
          <a:p>
            <a:r>
              <a:rPr lang="fr-FR"/>
              <a:t>2 Donner le contexte : « Lis les règles, le contrat et mon dossier. »</a:t>
            </a:r>
          </a:p>
          <a:p>
            <a:r>
              <a:rPr lang="fr-FR"/>
              <a:t>3 Améliorer le prompt : « Reformule la demande en cinq blocs. »</a:t>
            </a:r>
          </a:p>
          <a:p>
            <a:r>
              <a:rPr lang="fr-FR"/>
              <a:t>4 Lancer : « Exécute ce lot et rapporte les preuves. »</a:t>
            </a:r>
          </a:p>
          <a:p>
            <a:r>
              <a:rPr lang="fr-FR"/>
              <a:t>5 Vérifier et garder : « Contrôle le Done et propose une note wiki. »</a:t>
            </a:r>
          </a:p>
          <a:p>
            <a:endParaRPr lang="fr-FR"/>
          </a:p>
          <a:p>
            <a:r>
              <a:rPr lang="fr-FR"/>
              <a:t>Théorie</a:t>
            </a:r>
          </a:p>
          <a:p>
            <a:r>
              <a:rPr lang="fr-FR"/>
              <a:t>La routine évite de reconstruire votre manière de travailler à chaque session. Les cinq prompts restent adaptables au besoin : ils n’obligent pas à déployer plusieurs agents pour une petite modification. Ce qui reste constant est le lien entre objectif, périmètre, résultat et preuve. La fiche Markdown du kit peut être imprimée ou placée dans les favoris du projet.</a:t>
            </a:r>
          </a:p>
          <a:p>
            <a:endParaRPr lang="fr-FR"/>
          </a:p>
          <a:p>
            <a:r>
              <a:rPr lang="fr-FR"/>
              <a:t>NOTES FORMATEUR</a:t>
            </a:r>
          </a:p>
          <a:p>
            <a:r>
              <a:rPr lang="fr-FR"/>
              <a:t>La routine évite de reconstruire votre manière de travailler à chaque session. Les cinq prompts restent adaptables au besoin : ils n’obligent pas à déployer plusieurs agents pour une petite modification. Ce qui reste constant est le lien entre objectif, périmètre, résultat et preuve. La fiche Markdown du kit peut être imprimée ou placée dans les favoris du projet.
Faire confirmer les décisions proposées par le PO. Distinguer la cible pédagogique, les fichiers réellement présents et ce qui reste à produire. Demander une preuve observable avant de déclarer le ticket terminé.</a:t>
            </a:r>
          </a:p>
          <a:p>
            <a:endParaRPr lang="fr-FR"/>
          </a:p>
          <a:p>
            <a:r>
              <a:rPr lang="fr-FR"/>
              <a:t>ACTION</a:t>
            </a:r>
          </a:p>
          <a:p>
            <a:r>
              <a:rPr lang="fr-FR"/>
              <a:t>Conservez FICHE-5-ETAPES.md près de vos tickets.</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34</a:t>
            </a:fld>
            <a:endParaRPr lang="fr-FR"/>
          </a:p>
        </p:txBody>
      </p:sp>
    </p:spTree>
    <p:extLst>
      <p:ext uri="{BB962C8B-B14F-4D97-AF65-F5344CB8AC3E}">
        <p14:creationId xmlns:p14="http://schemas.microsoft.com/office/powerpoint/2010/main" val="16017804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kit se copie dans le projet</a:t>
            </a:r>
          </a:p>
          <a:p>
            <a:endParaRPr lang="fr-FR"/>
          </a:p>
          <a:p>
            <a:r>
              <a:rPr lang="fr-FR"/>
              <a:t>ID : e35</a:t>
            </a:r>
          </a:p>
          <a:p>
            <a:r>
              <a:rPr lang="fr-FR"/>
              <a:t>CHAPITRE : Garder</a:t>
            </a:r>
          </a:p>
          <a:p>
            <a:endParaRPr lang="fr-FR"/>
          </a:p>
          <a:p>
            <a:r>
              <a:rPr lang="fr-FR"/>
              <a:t>IDEE PRINCIPALE</a:t>
            </a:r>
          </a:p>
          <a:p>
            <a:r>
              <a:rPr lang="fr-FR"/>
              <a:t>Trois skills et des fichiers de référence prêts à adapter.</a:t>
            </a:r>
          </a:p>
          <a:p>
            <a:endParaRPr lang="fr-FR"/>
          </a:p>
          <a:p>
            <a:r>
              <a:rPr lang="fr-FR"/>
              <a:t>A L'ECRAN</a:t>
            </a:r>
          </a:p>
          <a:p>
            <a:r>
              <a:rPr lang="fr-FR"/>
              <a:t>Reformuler : /prompt-5 et /ticket-ready.</a:t>
            </a:r>
          </a:p>
          <a:p>
            <a:r>
              <a:rPr lang="fr-FR"/>
              <a:t>Exécuter : /lancer-workflow en cinq étapes.</a:t>
            </a:r>
          </a:p>
          <a:p>
            <a:r>
              <a:rPr lang="fr-FR"/>
              <a:t>Préparer : Tickets, contrat et exemple de CLAUDE.md.</a:t>
            </a:r>
          </a:p>
          <a:p>
            <a:r>
              <a:rPr lang="fr-FR"/>
              <a:t>Garder : Wiki, sources et plan sans réseau.</a:t>
            </a:r>
          </a:p>
          <a:p>
            <a:endParaRPr lang="fr-FR"/>
          </a:p>
          <a:p>
            <a:r>
              <a:rPr lang="fr-FR"/>
              <a:t>Théorie</a:t>
            </a:r>
          </a:p>
          <a:p>
            <a:r>
              <a:rPr lang="fr-FR"/>
              <a:t>Le README du kit indique quels fichiers copier à la racine de Projet App Web. Si .claude/ ou CLAUDE.md existe déjà, ajoutez les nouveaux skills et fusionnez les règles utiles au lieu de remplacer la configuration. Les documents de tickets et de contrat sont des propositions à confirmer avant le MVP. Les notices distinguent commandes vues dans les sources, essais réalisés et accès restant à tester sur les postes.</a:t>
            </a:r>
          </a:p>
          <a:p>
            <a:endParaRPr lang="fr-FR"/>
          </a:p>
          <a:p>
            <a:r>
              <a:rPr lang="fr-FR"/>
              <a:t>NOTES FORMATEUR</a:t>
            </a:r>
          </a:p>
          <a:p>
            <a:r>
              <a:rPr lang="fr-FR"/>
              <a:t>Le README du kit indique quels fichiers copier à la racine de Projet App Web. Si .claude/ ou CLAUDE.md existe déjà, ajoutez les nouveaux skills et fusionnez les règles utiles au lieu de remplacer la configuration. Les documents de tickets et de contrat sont des propositions à confirmer avant le MVP. Les notices distinguent commandes vues dans les sources, essais réalisés et accès restant à tester sur les postes.
Faire confirmer les décisions proposées par le PO. Distinguer la cible pédagogique, les fichiers réellement présents et ce qui reste à produire. Demander une preuve observable avant de déclarer le ticket terminé.</a:t>
            </a:r>
          </a:p>
          <a:p>
            <a:endParaRPr lang="fr-FR"/>
          </a:p>
          <a:p>
            <a:r>
              <a:rPr lang="fr-FR"/>
              <a:t>PROMPT OU CODE COMPLET</a:t>
            </a:r>
          </a:p>
          <a:p>
            <a:r>
              <a:rPr lang="fr-FR"/>
              <a:t>Prompt à copier</a:t>
            </a:r>
          </a:p>
          <a:p>
            <a:r>
              <a:rPr lang="fr-FR"/>
              <a:t>/prompt-5 Afficher les organismes du jeu validé.
Retourne les cinq blocs, Ready et Done ; ne code rien.</a:t>
            </a:r>
          </a:p>
          <a:p>
            <a:endParaRPr lang="fr-FR"/>
          </a:p>
          <a:p>
            <a:r>
              <a:rPr lang="fr-FR"/>
              <a:t>ACTION</a:t>
            </a:r>
          </a:p>
          <a:p>
            <a:r>
              <a:rPr lang="fr-FR"/>
              <a:t>Copiez les trois dossiers de skills, puis ouvrez /prompt-5.</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35</a:t>
            </a:fld>
            <a:endParaRPr lang="fr-FR"/>
          </a:p>
        </p:txBody>
      </p:sp>
    </p:spTree>
    <p:extLst>
      <p:ext uri="{BB962C8B-B14F-4D97-AF65-F5344CB8AC3E}">
        <p14:creationId xmlns:p14="http://schemas.microsoft.com/office/powerpoint/2010/main" val="21133061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Prenez un ticket. Rendez-le Ready.</a:t>
            </a:r>
          </a:p>
          <a:p>
            <a:endParaRPr lang="fr-FR"/>
          </a:p>
          <a:p>
            <a:r>
              <a:rPr lang="fr-FR"/>
              <a:t>ID : e36</a:t>
            </a:r>
          </a:p>
          <a:p>
            <a:r>
              <a:rPr lang="fr-FR"/>
              <a:t>CHAPITRE : Garder</a:t>
            </a:r>
          </a:p>
          <a:p>
            <a:endParaRPr lang="fr-FR"/>
          </a:p>
          <a:p>
            <a:r>
              <a:rPr lang="fr-FR"/>
              <a:t>IDEE PRINCIPALE</a:t>
            </a:r>
          </a:p>
          <a:p>
            <a:r>
              <a:rPr lang="fr-FR"/>
              <a:t>La prochaine action tient en cinq minutes.</a:t>
            </a:r>
          </a:p>
          <a:p>
            <a:endParaRPr lang="fr-FR"/>
          </a:p>
          <a:p>
            <a:r>
              <a:rPr lang="fr-FR"/>
              <a:t>A L'ECRAN</a:t>
            </a:r>
          </a:p>
          <a:p>
            <a:r>
              <a:rPr lang="fr-FR"/>
              <a:t>Votre point de départ : Le besoin, les fichiers et la preuve attendue.</a:t>
            </a:r>
          </a:p>
          <a:p>
            <a:r>
              <a:rPr lang="fr-FR"/>
              <a:t>Votre soutien : Cédric Atticot dit Ravino · formateur et PO.</a:t>
            </a:r>
          </a:p>
          <a:p>
            <a:r>
              <a:rPr lang="fr-FR"/>
              <a:t>Votre repère : 1 Cadrer → 2 Donner le contexte → 3 Améliorer le prompt</a:t>
            </a:r>
          </a:p>
          <a:p>
            <a:endParaRPr lang="fr-FR"/>
          </a:p>
          <a:p>
            <a:r>
              <a:rPr lang="fr-FR"/>
              <a:t>Théorie</a:t>
            </a:r>
          </a:p>
          <a:p>
            <a:r>
              <a:rPr lang="fr-FR"/>
              <a:t>Commencez par un seul ticket et vérifiez qu’un autre participant comprend ce qui doit changer. Les fichiers manquants et les décisions ouvertes apparaissent avant le lancement, pas à la fin de l’implémentation. Le prochain geste consiste à reformuler le besoin et obtenir un plan dont vous pouvez expliquer les choix. Retrouvez ensuite 4 Lancer et 5 Vérifier et garder pour aller jusqu’à une livraison contrôlée.</a:t>
            </a:r>
          </a:p>
          <a:p>
            <a:endParaRPr lang="fr-FR"/>
          </a:p>
          <a:p>
            <a:r>
              <a:rPr lang="fr-FR"/>
              <a:t>NOTES FORMATEUR</a:t>
            </a:r>
          </a:p>
          <a:p>
            <a:r>
              <a:rPr lang="fr-FR"/>
              <a:t>Commencez par un seul ticket et vérifiez qu’un autre participant comprend ce qui doit changer. Les fichiers manquants et les décisions ouvertes apparaissent avant le lancement, pas à la fin de l’implémentation. Le prochain geste consiste à reformuler le besoin et obtenir un plan dont vous pouvez expliquer les choix. Retrouvez ensuite 4 Lancer et 5 Vérifier et garder pour aller jusqu’à une livraison contrôlée.
Faire confirmer les décisions proposées par le PO. Distinguer la cible pédagogique, les fichiers réellement présents et ce qui reste à produire. Demander une preuve observable avant de déclarer le ticket terminé.</a:t>
            </a:r>
          </a:p>
          <a:p>
            <a:endParaRPr lang="fr-FR"/>
          </a:p>
          <a:p>
            <a:r>
              <a:rPr lang="fr-FR"/>
              <a:t>PROMPT OU CODE COMPLET</a:t>
            </a:r>
          </a:p>
          <a:p>
            <a:r>
              <a:rPr lang="fr-FR"/>
              <a:t>Prompt à copier</a:t>
            </a:r>
          </a:p>
          <a:p>
            <a:r>
              <a:rPr lang="fr-FR"/>
              <a:t>/ticket-ready Mon prochain besoin est :
Décris ici le changement attendu pour l’utilisateur.</a:t>
            </a:r>
          </a:p>
          <a:p>
            <a:endParaRPr lang="fr-FR"/>
          </a:p>
          <a:p>
            <a:r>
              <a:rPr lang="fr-FR"/>
              <a:t>ACTION</a:t>
            </a:r>
          </a:p>
          <a:p>
            <a:r>
              <a:rPr lang="fr-FR"/>
              <a:t>Lancez /ticket-ready sur votre prochain besoin.</a:t>
            </a:r>
          </a:p>
        </p:txBody>
      </p:sp>
      <p:sp>
        <p:nvSpPr>
          <p:cNvPr id="4" name="Espace réservé du numéro de diapositive 3"/>
          <p:cNvSpPr>
            <a:spLocks noGrp="1"/>
          </p:cNvSpPr>
          <p:nvPr>
            <p:ph type="sldNum" sz="quarter" idx="5"/>
          </p:nvPr>
        </p:nvSpPr>
        <p:spPr/>
        <p:txBody>
          <a:bodyPr/>
          <a:lstStyle/>
          <a:p>
            <a:fld id="{E721E078-4436-4451-B932-21E9A1286CD3}" type="slidenum">
              <a:rPr lang="fr-FR" smtClean="0"/>
              <a:t>36</a:t>
            </a:fld>
            <a:endParaRPr lang="fr-FR"/>
          </a:p>
        </p:txBody>
      </p:sp>
    </p:spTree>
    <p:extLst>
      <p:ext uri="{BB962C8B-B14F-4D97-AF65-F5344CB8AC3E}">
        <p14:creationId xmlns:p14="http://schemas.microsoft.com/office/powerpoint/2010/main" val="2326211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161EDA-5276-9382-1717-687C14A65396}"/>
              </a:ext>
            </a:extLst>
          </p:cNvPr>
          <p:cNvSpPr>
            <a:spLocks noGrp="1"/>
          </p:cNvSpPr>
          <p:nvPr>
            <p:ph type="ctrTitle"/>
          </p:nvPr>
        </p:nvSpPr>
        <p:spPr>
          <a:xfrm>
            <a:off x="2032000" y="1496484"/>
            <a:ext cx="12192000" cy="3183467"/>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25790BD-AB30-856F-3E42-7872306D5F0C}"/>
              </a:ext>
            </a:extLst>
          </p:cNvPr>
          <p:cNvSpPr>
            <a:spLocks noGrp="1"/>
          </p:cNvSpPr>
          <p:nvPr>
            <p:ph type="subTitle" idx="1"/>
          </p:nvPr>
        </p:nvSpPr>
        <p:spPr>
          <a:xfrm>
            <a:off x="2032000" y="4802717"/>
            <a:ext cx="12192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197B4EE3-058E-FCDB-FD5D-7548DE632522}"/>
              </a:ext>
            </a:extLst>
          </p:cNvPr>
          <p:cNvSpPr>
            <a:spLocks noGrp="1"/>
          </p:cNvSpPr>
          <p:nvPr>
            <p:ph type="dt" sz="half" idx="10"/>
          </p:nvPr>
        </p:nvSpPr>
        <p:spPr/>
        <p:txBody>
          <a:bodyPr/>
          <a:lstStyle/>
          <a:p>
            <a:fld id="{A2EE03CE-28B8-49DD-9887-133DB5D8B59C}" type="datetimeFigureOut">
              <a:rPr lang="fr-FR" smtClean="0"/>
              <a:t>14/09/2026</a:t>
            </a:fld>
            <a:endParaRPr lang="fr-FR"/>
          </a:p>
        </p:txBody>
      </p:sp>
      <p:sp>
        <p:nvSpPr>
          <p:cNvPr id="5" name="Espace réservé du pied de page 4">
            <a:extLst>
              <a:ext uri="{FF2B5EF4-FFF2-40B4-BE49-F238E27FC236}">
                <a16:creationId xmlns:a16="http://schemas.microsoft.com/office/drawing/2014/main" id="{B607CB43-2127-A36F-ED53-4AF43E62454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FB5AF89-F7D4-0316-CBBD-E2A902CF9380}"/>
              </a:ext>
            </a:extLst>
          </p:cNvPr>
          <p:cNvSpPr>
            <a:spLocks noGrp="1"/>
          </p:cNvSpPr>
          <p:nvPr>
            <p:ph type="sldNum" sz="quarter" idx="12"/>
          </p:nvPr>
        </p:nvSpPr>
        <p:spPr/>
        <p:txBody>
          <a:bodyPr/>
          <a:lstStyle/>
          <a:p>
            <a:fld id="{0B38B6AC-F1BC-430E-A9DA-B657E8549227}" type="slidenum">
              <a:rPr lang="fr-FR" smtClean="0"/>
              <a:t>‹N°›</a:t>
            </a:fld>
            <a:endParaRPr lang="fr-FR"/>
          </a:p>
        </p:txBody>
      </p:sp>
    </p:spTree>
    <p:extLst>
      <p:ext uri="{BB962C8B-B14F-4D97-AF65-F5344CB8AC3E}">
        <p14:creationId xmlns:p14="http://schemas.microsoft.com/office/powerpoint/2010/main" val="3699007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9F0BE7-8239-15D8-A49D-DD8E6693D15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C17DE38-9F13-F22C-C862-DE47EAE0E92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291AB16-F9B4-AC96-F032-0DA21D16E9F2}"/>
              </a:ext>
            </a:extLst>
          </p:cNvPr>
          <p:cNvSpPr>
            <a:spLocks noGrp="1"/>
          </p:cNvSpPr>
          <p:nvPr>
            <p:ph type="dt" sz="half" idx="10"/>
          </p:nvPr>
        </p:nvSpPr>
        <p:spPr/>
        <p:txBody>
          <a:bodyPr/>
          <a:lstStyle/>
          <a:p>
            <a:fld id="{A2EE03CE-28B8-49DD-9887-133DB5D8B59C}" type="datetimeFigureOut">
              <a:rPr lang="fr-FR" smtClean="0"/>
              <a:t>14/09/2026</a:t>
            </a:fld>
            <a:endParaRPr lang="fr-FR"/>
          </a:p>
        </p:txBody>
      </p:sp>
      <p:sp>
        <p:nvSpPr>
          <p:cNvPr id="5" name="Espace réservé du pied de page 4">
            <a:extLst>
              <a:ext uri="{FF2B5EF4-FFF2-40B4-BE49-F238E27FC236}">
                <a16:creationId xmlns:a16="http://schemas.microsoft.com/office/drawing/2014/main" id="{BBB8FE07-8688-7147-8C82-E1299018260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3E15642-8EB4-0493-BFDC-471190E7F94F}"/>
              </a:ext>
            </a:extLst>
          </p:cNvPr>
          <p:cNvSpPr>
            <a:spLocks noGrp="1"/>
          </p:cNvSpPr>
          <p:nvPr>
            <p:ph type="sldNum" sz="quarter" idx="12"/>
          </p:nvPr>
        </p:nvSpPr>
        <p:spPr/>
        <p:txBody>
          <a:bodyPr/>
          <a:lstStyle/>
          <a:p>
            <a:fld id="{0B38B6AC-F1BC-430E-A9DA-B657E8549227}" type="slidenum">
              <a:rPr lang="fr-FR" smtClean="0"/>
              <a:t>‹N°›</a:t>
            </a:fld>
            <a:endParaRPr lang="fr-FR"/>
          </a:p>
        </p:txBody>
      </p:sp>
    </p:spTree>
    <p:extLst>
      <p:ext uri="{BB962C8B-B14F-4D97-AF65-F5344CB8AC3E}">
        <p14:creationId xmlns:p14="http://schemas.microsoft.com/office/powerpoint/2010/main" val="4169772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8E0A8D-420E-CDBC-CD90-F2FF5EA8F005}"/>
              </a:ext>
            </a:extLst>
          </p:cNvPr>
          <p:cNvSpPr>
            <a:spLocks noGrp="1"/>
          </p:cNvSpPr>
          <p:nvPr>
            <p:ph type="title"/>
          </p:nvPr>
        </p:nvSpPr>
        <p:spPr>
          <a:xfrm>
            <a:off x="1109133" y="2279653"/>
            <a:ext cx="14020800" cy="3803649"/>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28AF7EF-71FA-5F80-26ED-2B3E7F852B6D}"/>
              </a:ext>
            </a:extLst>
          </p:cNvPr>
          <p:cNvSpPr>
            <a:spLocks noGrp="1"/>
          </p:cNvSpPr>
          <p:nvPr>
            <p:ph type="body" idx="1"/>
          </p:nvPr>
        </p:nvSpPr>
        <p:spPr>
          <a:xfrm>
            <a:off x="1109133" y="6119286"/>
            <a:ext cx="14020800" cy="2000249"/>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9587483-C4FF-2F22-38A9-2A77E2B4E036}"/>
              </a:ext>
            </a:extLst>
          </p:cNvPr>
          <p:cNvSpPr>
            <a:spLocks noGrp="1"/>
          </p:cNvSpPr>
          <p:nvPr>
            <p:ph type="dt" sz="half" idx="10"/>
          </p:nvPr>
        </p:nvSpPr>
        <p:spPr/>
        <p:txBody>
          <a:bodyPr/>
          <a:lstStyle/>
          <a:p>
            <a:fld id="{A2EE03CE-28B8-49DD-9887-133DB5D8B59C}" type="datetimeFigureOut">
              <a:rPr lang="fr-FR" smtClean="0"/>
              <a:t>14/09/2026</a:t>
            </a:fld>
            <a:endParaRPr lang="fr-FR"/>
          </a:p>
        </p:txBody>
      </p:sp>
      <p:sp>
        <p:nvSpPr>
          <p:cNvPr id="5" name="Espace réservé du pied de page 4">
            <a:extLst>
              <a:ext uri="{FF2B5EF4-FFF2-40B4-BE49-F238E27FC236}">
                <a16:creationId xmlns:a16="http://schemas.microsoft.com/office/drawing/2014/main" id="{893E5572-9118-6015-36AE-0A2E038EDFB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E02DE2D-7645-861B-C914-DD38CB603D0B}"/>
              </a:ext>
            </a:extLst>
          </p:cNvPr>
          <p:cNvSpPr>
            <a:spLocks noGrp="1"/>
          </p:cNvSpPr>
          <p:nvPr>
            <p:ph type="sldNum" sz="quarter" idx="12"/>
          </p:nvPr>
        </p:nvSpPr>
        <p:spPr/>
        <p:txBody>
          <a:bodyPr/>
          <a:lstStyle/>
          <a:p>
            <a:fld id="{0B38B6AC-F1BC-430E-A9DA-B657E8549227}" type="slidenum">
              <a:rPr lang="fr-FR" smtClean="0"/>
              <a:t>‹N°›</a:t>
            </a:fld>
            <a:endParaRPr lang="fr-FR"/>
          </a:p>
        </p:txBody>
      </p:sp>
    </p:spTree>
    <p:extLst>
      <p:ext uri="{BB962C8B-B14F-4D97-AF65-F5344CB8AC3E}">
        <p14:creationId xmlns:p14="http://schemas.microsoft.com/office/powerpoint/2010/main" val="3289882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B010E7-9828-81E2-B03B-DB0CEF1C8E9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EA8385A-2003-0F3D-8CCA-652399B937D4}"/>
              </a:ext>
            </a:extLst>
          </p:cNvPr>
          <p:cNvSpPr>
            <a:spLocks noGrp="1"/>
          </p:cNvSpPr>
          <p:nvPr>
            <p:ph sz="half" idx="1"/>
          </p:nvPr>
        </p:nvSpPr>
        <p:spPr>
          <a:xfrm>
            <a:off x="1117600" y="2434167"/>
            <a:ext cx="6908800" cy="5801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CD98069-2CE7-7FB6-F4B7-215B0C1445A9}"/>
              </a:ext>
            </a:extLst>
          </p:cNvPr>
          <p:cNvSpPr>
            <a:spLocks noGrp="1"/>
          </p:cNvSpPr>
          <p:nvPr>
            <p:ph sz="half" idx="2"/>
          </p:nvPr>
        </p:nvSpPr>
        <p:spPr>
          <a:xfrm>
            <a:off x="8229600" y="2434167"/>
            <a:ext cx="6908800" cy="5801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4208D5D-378E-FBE2-E78C-5CD388F5FBAC}"/>
              </a:ext>
            </a:extLst>
          </p:cNvPr>
          <p:cNvSpPr>
            <a:spLocks noGrp="1"/>
          </p:cNvSpPr>
          <p:nvPr>
            <p:ph type="dt" sz="half" idx="10"/>
          </p:nvPr>
        </p:nvSpPr>
        <p:spPr/>
        <p:txBody>
          <a:bodyPr/>
          <a:lstStyle/>
          <a:p>
            <a:fld id="{A2EE03CE-28B8-49DD-9887-133DB5D8B59C}" type="datetimeFigureOut">
              <a:rPr lang="fr-FR" smtClean="0"/>
              <a:t>14/09/2026</a:t>
            </a:fld>
            <a:endParaRPr lang="fr-FR"/>
          </a:p>
        </p:txBody>
      </p:sp>
      <p:sp>
        <p:nvSpPr>
          <p:cNvPr id="6" name="Espace réservé du pied de page 5">
            <a:extLst>
              <a:ext uri="{FF2B5EF4-FFF2-40B4-BE49-F238E27FC236}">
                <a16:creationId xmlns:a16="http://schemas.microsoft.com/office/drawing/2014/main" id="{6A193C05-70D1-54F8-85AB-20E7D3015F0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DAFAF38-036B-EA96-2861-99D95FAB9E59}"/>
              </a:ext>
            </a:extLst>
          </p:cNvPr>
          <p:cNvSpPr>
            <a:spLocks noGrp="1"/>
          </p:cNvSpPr>
          <p:nvPr>
            <p:ph type="sldNum" sz="quarter" idx="12"/>
          </p:nvPr>
        </p:nvSpPr>
        <p:spPr/>
        <p:txBody>
          <a:bodyPr/>
          <a:lstStyle/>
          <a:p>
            <a:fld id="{0B38B6AC-F1BC-430E-A9DA-B657E8549227}" type="slidenum">
              <a:rPr lang="fr-FR" smtClean="0"/>
              <a:t>‹N°›</a:t>
            </a:fld>
            <a:endParaRPr lang="fr-FR"/>
          </a:p>
        </p:txBody>
      </p:sp>
    </p:spTree>
    <p:extLst>
      <p:ext uri="{BB962C8B-B14F-4D97-AF65-F5344CB8AC3E}">
        <p14:creationId xmlns:p14="http://schemas.microsoft.com/office/powerpoint/2010/main" val="154503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885EDD-F462-B2DF-BA0A-FDF3338DD101}"/>
              </a:ext>
            </a:extLst>
          </p:cNvPr>
          <p:cNvSpPr>
            <a:spLocks noGrp="1"/>
          </p:cNvSpPr>
          <p:nvPr>
            <p:ph type="title"/>
          </p:nvPr>
        </p:nvSpPr>
        <p:spPr>
          <a:xfrm>
            <a:off x="1119717" y="486836"/>
            <a:ext cx="14020800" cy="1767417"/>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83EE706-9DD0-7972-6273-F830786FA178}"/>
              </a:ext>
            </a:extLst>
          </p:cNvPr>
          <p:cNvSpPr>
            <a:spLocks noGrp="1"/>
          </p:cNvSpPr>
          <p:nvPr>
            <p:ph type="body" idx="1"/>
          </p:nvPr>
        </p:nvSpPr>
        <p:spPr>
          <a:xfrm>
            <a:off x="1119719" y="2241551"/>
            <a:ext cx="6877049"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099B670-474F-FF96-E058-700A62760E41}"/>
              </a:ext>
            </a:extLst>
          </p:cNvPr>
          <p:cNvSpPr>
            <a:spLocks noGrp="1"/>
          </p:cNvSpPr>
          <p:nvPr>
            <p:ph sz="half" idx="2"/>
          </p:nvPr>
        </p:nvSpPr>
        <p:spPr>
          <a:xfrm>
            <a:off x="1119719" y="3340100"/>
            <a:ext cx="6877049" cy="4912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61D85C9-1651-04AC-8687-F1AC6C9E21CC}"/>
              </a:ext>
            </a:extLst>
          </p:cNvPr>
          <p:cNvSpPr>
            <a:spLocks noGrp="1"/>
          </p:cNvSpPr>
          <p:nvPr>
            <p:ph type="body" sz="quarter" idx="3"/>
          </p:nvPr>
        </p:nvSpPr>
        <p:spPr>
          <a:xfrm>
            <a:off x="8229601" y="2241551"/>
            <a:ext cx="6910917"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E020AC5-4588-9DD4-BC09-1336D9B0AE7C}"/>
              </a:ext>
            </a:extLst>
          </p:cNvPr>
          <p:cNvSpPr>
            <a:spLocks noGrp="1"/>
          </p:cNvSpPr>
          <p:nvPr>
            <p:ph sz="quarter" idx="4"/>
          </p:nvPr>
        </p:nvSpPr>
        <p:spPr>
          <a:xfrm>
            <a:off x="8229601" y="3340100"/>
            <a:ext cx="6910917" cy="491278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1D4284C-32FE-87DF-67ED-4B7067596E98}"/>
              </a:ext>
            </a:extLst>
          </p:cNvPr>
          <p:cNvSpPr>
            <a:spLocks noGrp="1"/>
          </p:cNvSpPr>
          <p:nvPr>
            <p:ph type="dt" sz="half" idx="10"/>
          </p:nvPr>
        </p:nvSpPr>
        <p:spPr/>
        <p:txBody>
          <a:bodyPr/>
          <a:lstStyle/>
          <a:p>
            <a:fld id="{A2EE03CE-28B8-49DD-9887-133DB5D8B59C}" type="datetimeFigureOut">
              <a:rPr lang="fr-FR" smtClean="0"/>
              <a:t>14/09/2026</a:t>
            </a:fld>
            <a:endParaRPr lang="fr-FR"/>
          </a:p>
        </p:txBody>
      </p:sp>
      <p:sp>
        <p:nvSpPr>
          <p:cNvPr id="8" name="Espace réservé du pied de page 7">
            <a:extLst>
              <a:ext uri="{FF2B5EF4-FFF2-40B4-BE49-F238E27FC236}">
                <a16:creationId xmlns:a16="http://schemas.microsoft.com/office/drawing/2014/main" id="{84211384-5C06-348A-4A90-E120ADD253C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52B9CCD-C9E0-FD33-7812-BB3FC28995BD}"/>
              </a:ext>
            </a:extLst>
          </p:cNvPr>
          <p:cNvSpPr>
            <a:spLocks noGrp="1"/>
          </p:cNvSpPr>
          <p:nvPr>
            <p:ph type="sldNum" sz="quarter" idx="12"/>
          </p:nvPr>
        </p:nvSpPr>
        <p:spPr/>
        <p:txBody>
          <a:bodyPr/>
          <a:lstStyle/>
          <a:p>
            <a:fld id="{0B38B6AC-F1BC-430E-A9DA-B657E8549227}" type="slidenum">
              <a:rPr lang="fr-FR" smtClean="0"/>
              <a:t>‹N°›</a:t>
            </a:fld>
            <a:endParaRPr lang="fr-FR"/>
          </a:p>
        </p:txBody>
      </p:sp>
    </p:spTree>
    <p:extLst>
      <p:ext uri="{BB962C8B-B14F-4D97-AF65-F5344CB8AC3E}">
        <p14:creationId xmlns:p14="http://schemas.microsoft.com/office/powerpoint/2010/main" val="2789806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CD87F8-F207-8A95-5680-A9A37071349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CE7E5EC-B290-A091-038B-D12186E43ECB}"/>
              </a:ext>
            </a:extLst>
          </p:cNvPr>
          <p:cNvSpPr>
            <a:spLocks noGrp="1"/>
          </p:cNvSpPr>
          <p:nvPr>
            <p:ph type="dt" sz="half" idx="10"/>
          </p:nvPr>
        </p:nvSpPr>
        <p:spPr/>
        <p:txBody>
          <a:bodyPr/>
          <a:lstStyle/>
          <a:p>
            <a:fld id="{A2EE03CE-28B8-49DD-9887-133DB5D8B59C}" type="datetimeFigureOut">
              <a:rPr lang="fr-FR" smtClean="0"/>
              <a:t>14/09/2026</a:t>
            </a:fld>
            <a:endParaRPr lang="fr-FR"/>
          </a:p>
        </p:txBody>
      </p:sp>
      <p:sp>
        <p:nvSpPr>
          <p:cNvPr id="4" name="Espace réservé du pied de page 3">
            <a:extLst>
              <a:ext uri="{FF2B5EF4-FFF2-40B4-BE49-F238E27FC236}">
                <a16:creationId xmlns:a16="http://schemas.microsoft.com/office/drawing/2014/main" id="{151EDB99-5252-2944-CB60-8D8244F95CC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F0AB79F-DFA6-BB9C-3F57-413B6528FD1E}"/>
              </a:ext>
            </a:extLst>
          </p:cNvPr>
          <p:cNvSpPr>
            <a:spLocks noGrp="1"/>
          </p:cNvSpPr>
          <p:nvPr>
            <p:ph type="sldNum" sz="quarter" idx="12"/>
          </p:nvPr>
        </p:nvSpPr>
        <p:spPr/>
        <p:txBody>
          <a:bodyPr/>
          <a:lstStyle/>
          <a:p>
            <a:fld id="{0B38B6AC-F1BC-430E-A9DA-B657E8549227}" type="slidenum">
              <a:rPr lang="fr-FR" smtClean="0"/>
              <a:t>‹N°›</a:t>
            </a:fld>
            <a:endParaRPr lang="fr-FR"/>
          </a:p>
        </p:txBody>
      </p:sp>
    </p:spTree>
    <p:extLst>
      <p:ext uri="{BB962C8B-B14F-4D97-AF65-F5344CB8AC3E}">
        <p14:creationId xmlns:p14="http://schemas.microsoft.com/office/powerpoint/2010/main" val="3515971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8399DA8-BE80-33B8-60ED-46D455E200D4}"/>
              </a:ext>
            </a:extLst>
          </p:cNvPr>
          <p:cNvSpPr>
            <a:spLocks noGrp="1"/>
          </p:cNvSpPr>
          <p:nvPr>
            <p:ph type="dt" sz="half" idx="10"/>
          </p:nvPr>
        </p:nvSpPr>
        <p:spPr/>
        <p:txBody>
          <a:bodyPr/>
          <a:lstStyle/>
          <a:p>
            <a:fld id="{A2EE03CE-28B8-49DD-9887-133DB5D8B59C}" type="datetimeFigureOut">
              <a:rPr lang="fr-FR" smtClean="0"/>
              <a:t>14/09/2026</a:t>
            </a:fld>
            <a:endParaRPr lang="fr-FR"/>
          </a:p>
        </p:txBody>
      </p:sp>
      <p:sp>
        <p:nvSpPr>
          <p:cNvPr id="3" name="Espace réservé du pied de page 2">
            <a:extLst>
              <a:ext uri="{FF2B5EF4-FFF2-40B4-BE49-F238E27FC236}">
                <a16:creationId xmlns:a16="http://schemas.microsoft.com/office/drawing/2014/main" id="{32CD950C-5198-2471-6338-3B815683F03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E5D5D52-F515-698E-D75E-F0FEDF3F65CF}"/>
              </a:ext>
            </a:extLst>
          </p:cNvPr>
          <p:cNvSpPr>
            <a:spLocks noGrp="1"/>
          </p:cNvSpPr>
          <p:nvPr>
            <p:ph type="sldNum" sz="quarter" idx="12"/>
          </p:nvPr>
        </p:nvSpPr>
        <p:spPr/>
        <p:txBody>
          <a:bodyPr/>
          <a:lstStyle/>
          <a:p>
            <a:fld id="{0B38B6AC-F1BC-430E-A9DA-B657E8549227}" type="slidenum">
              <a:rPr lang="fr-FR" smtClean="0"/>
              <a:t>‹N°›</a:t>
            </a:fld>
            <a:endParaRPr lang="fr-FR"/>
          </a:p>
        </p:txBody>
      </p:sp>
    </p:spTree>
    <p:extLst>
      <p:ext uri="{BB962C8B-B14F-4D97-AF65-F5344CB8AC3E}">
        <p14:creationId xmlns:p14="http://schemas.microsoft.com/office/powerpoint/2010/main" val="3876775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90517B-11BC-6775-0EA7-5AB71D114671}"/>
              </a:ext>
            </a:extLst>
          </p:cNvPr>
          <p:cNvSpPr>
            <a:spLocks noGrp="1"/>
          </p:cNvSpPr>
          <p:nvPr>
            <p:ph type="title"/>
          </p:nvPr>
        </p:nvSpPr>
        <p:spPr>
          <a:xfrm>
            <a:off x="1119719" y="609600"/>
            <a:ext cx="5242983" cy="21336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5275C01-9FC4-9A2E-0E09-586AD288598E}"/>
              </a:ext>
            </a:extLst>
          </p:cNvPr>
          <p:cNvSpPr>
            <a:spLocks noGrp="1"/>
          </p:cNvSpPr>
          <p:nvPr>
            <p:ph idx="1"/>
          </p:nvPr>
        </p:nvSpPr>
        <p:spPr>
          <a:xfrm>
            <a:off x="6910917" y="1316569"/>
            <a:ext cx="822960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C4F7303-6D48-0FCC-1970-D650A0C7912F}"/>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9DE5A49-45A9-CA36-DAE9-56D9A316278E}"/>
              </a:ext>
            </a:extLst>
          </p:cNvPr>
          <p:cNvSpPr>
            <a:spLocks noGrp="1"/>
          </p:cNvSpPr>
          <p:nvPr>
            <p:ph type="dt" sz="half" idx="10"/>
          </p:nvPr>
        </p:nvSpPr>
        <p:spPr/>
        <p:txBody>
          <a:bodyPr/>
          <a:lstStyle/>
          <a:p>
            <a:fld id="{A2EE03CE-28B8-49DD-9887-133DB5D8B59C}" type="datetimeFigureOut">
              <a:rPr lang="fr-FR" smtClean="0"/>
              <a:t>14/09/2026</a:t>
            </a:fld>
            <a:endParaRPr lang="fr-FR"/>
          </a:p>
        </p:txBody>
      </p:sp>
      <p:sp>
        <p:nvSpPr>
          <p:cNvPr id="6" name="Espace réservé du pied de page 5">
            <a:extLst>
              <a:ext uri="{FF2B5EF4-FFF2-40B4-BE49-F238E27FC236}">
                <a16:creationId xmlns:a16="http://schemas.microsoft.com/office/drawing/2014/main" id="{86B8D9FD-1BAC-D4B8-B7C8-6C618D09C9C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254E2DA-113A-6318-74B5-CBCF620E291E}"/>
              </a:ext>
            </a:extLst>
          </p:cNvPr>
          <p:cNvSpPr>
            <a:spLocks noGrp="1"/>
          </p:cNvSpPr>
          <p:nvPr>
            <p:ph type="sldNum" sz="quarter" idx="12"/>
          </p:nvPr>
        </p:nvSpPr>
        <p:spPr/>
        <p:txBody>
          <a:bodyPr/>
          <a:lstStyle/>
          <a:p>
            <a:fld id="{0B38B6AC-F1BC-430E-A9DA-B657E8549227}" type="slidenum">
              <a:rPr lang="fr-FR" smtClean="0"/>
              <a:t>‹N°›</a:t>
            </a:fld>
            <a:endParaRPr lang="fr-FR"/>
          </a:p>
        </p:txBody>
      </p:sp>
    </p:spTree>
    <p:extLst>
      <p:ext uri="{BB962C8B-B14F-4D97-AF65-F5344CB8AC3E}">
        <p14:creationId xmlns:p14="http://schemas.microsoft.com/office/powerpoint/2010/main" val="1812281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251672-87B1-54EF-65EE-1323B894781A}"/>
              </a:ext>
            </a:extLst>
          </p:cNvPr>
          <p:cNvSpPr>
            <a:spLocks noGrp="1"/>
          </p:cNvSpPr>
          <p:nvPr>
            <p:ph type="title"/>
          </p:nvPr>
        </p:nvSpPr>
        <p:spPr>
          <a:xfrm>
            <a:off x="1119719" y="609600"/>
            <a:ext cx="5242983" cy="21336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2E9FAD-A0A4-937E-0B3C-4CBA461DBBB4}"/>
              </a:ext>
            </a:extLst>
          </p:cNvPr>
          <p:cNvSpPr>
            <a:spLocks noGrp="1"/>
          </p:cNvSpPr>
          <p:nvPr>
            <p:ph type="pic" idx="1"/>
          </p:nvPr>
        </p:nvSpPr>
        <p:spPr>
          <a:xfrm>
            <a:off x="6910917" y="1316569"/>
            <a:ext cx="8229600" cy="649816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F0CADA6-C2E7-9EB4-57A9-8650EBDC509D}"/>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BF8555D-84B7-E2EE-5DBC-2DB66E2EF936}"/>
              </a:ext>
            </a:extLst>
          </p:cNvPr>
          <p:cNvSpPr>
            <a:spLocks noGrp="1"/>
          </p:cNvSpPr>
          <p:nvPr>
            <p:ph type="dt" sz="half" idx="10"/>
          </p:nvPr>
        </p:nvSpPr>
        <p:spPr/>
        <p:txBody>
          <a:bodyPr/>
          <a:lstStyle/>
          <a:p>
            <a:fld id="{A2EE03CE-28B8-49DD-9887-133DB5D8B59C}" type="datetimeFigureOut">
              <a:rPr lang="fr-FR" smtClean="0"/>
              <a:t>14/09/2026</a:t>
            </a:fld>
            <a:endParaRPr lang="fr-FR"/>
          </a:p>
        </p:txBody>
      </p:sp>
      <p:sp>
        <p:nvSpPr>
          <p:cNvPr id="6" name="Espace réservé du pied de page 5">
            <a:extLst>
              <a:ext uri="{FF2B5EF4-FFF2-40B4-BE49-F238E27FC236}">
                <a16:creationId xmlns:a16="http://schemas.microsoft.com/office/drawing/2014/main" id="{27F0F03A-A498-2EEE-0C2C-BE00B58B208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3B4E778-0C64-DAAF-0D8B-B41A71813B31}"/>
              </a:ext>
            </a:extLst>
          </p:cNvPr>
          <p:cNvSpPr>
            <a:spLocks noGrp="1"/>
          </p:cNvSpPr>
          <p:nvPr>
            <p:ph type="sldNum" sz="quarter" idx="12"/>
          </p:nvPr>
        </p:nvSpPr>
        <p:spPr/>
        <p:txBody>
          <a:bodyPr/>
          <a:lstStyle/>
          <a:p>
            <a:fld id="{0B38B6AC-F1BC-430E-A9DA-B657E8549227}" type="slidenum">
              <a:rPr lang="fr-FR" smtClean="0"/>
              <a:t>‹N°›</a:t>
            </a:fld>
            <a:endParaRPr lang="fr-FR"/>
          </a:p>
        </p:txBody>
      </p:sp>
    </p:spTree>
    <p:extLst>
      <p:ext uri="{BB962C8B-B14F-4D97-AF65-F5344CB8AC3E}">
        <p14:creationId xmlns:p14="http://schemas.microsoft.com/office/powerpoint/2010/main" val="512663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B8AFD7-9B83-3C75-FD63-CF8B9A82C69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69FFCD1-8520-8225-3ACC-55231A33921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8DEC760-E446-CD3C-9198-4257444B25A9}"/>
              </a:ext>
            </a:extLst>
          </p:cNvPr>
          <p:cNvSpPr>
            <a:spLocks noGrp="1"/>
          </p:cNvSpPr>
          <p:nvPr>
            <p:ph type="dt" sz="half" idx="10"/>
          </p:nvPr>
        </p:nvSpPr>
        <p:spPr/>
        <p:txBody>
          <a:bodyPr/>
          <a:lstStyle/>
          <a:p>
            <a:fld id="{A2EE03CE-28B8-49DD-9887-133DB5D8B59C}" type="datetimeFigureOut">
              <a:rPr lang="fr-FR" smtClean="0"/>
              <a:t>14/09/2026</a:t>
            </a:fld>
            <a:endParaRPr lang="fr-FR"/>
          </a:p>
        </p:txBody>
      </p:sp>
      <p:sp>
        <p:nvSpPr>
          <p:cNvPr id="5" name="Espace réservé du pied de page 4">
            <a:extLst>
              <a:ext uri="{FF2B5EF4-FFF2-40B4-BE49-F238E27FC236}">
                <a16:creationId xmlns:a16="http://schemas.microsoft.com/office/drawing/2014/main" id="{B3D58C28-EFBE-AB63-45B8-8BC7356D9F0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42FD10-E103-2CCB-E476-768337E70765}"/>
              </a:ext>
            </a:extLst>
          </p:cNvPr>
          <p:cNvSpPr>
            <a:spLocks noGrp="1"/>
          </p:cNvSpPr>
          <p:nvPr>
            <p:ph type="sldNum" sz="quarter" idx="12"/>
          </p:nvPr>
        </p:nvSpPr>
        <p:spPr/>
        <p:txBody>
          <a:bodyPr/>
          <a:lstStyle/>
          <a:p>
            <a:fld id="{0B38B6AC-F1BC-430E-A9DA-B657E8549227}" type="slidenum">
              <a:rPr lang="fr-FR" smtClean="0"/>
              <a:t>‹N°›</a:t>
            </a:fld>
            <a:endParaRPr lang="fr-FR"/>
          </a:p>
        </p:txBody>
      </p:sp>
    </p:spTree>
    <p:extLst>
      <p:ext uri="{BB962C8B-B14F-4D97-AF65-F5344CB8AC3E}">
        <p14:creationId xmlns:p14="http://schemas.microsoft.com/office/powerpoint/2010/main" val="3692400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2E3BB70-1970-5BC6-3255-3C356D2C7248}"/>
              </a:ext>
            </a:extLst>
          </p:cNvPr>
          <p:cNvSpPr>
            <a:spLocks noGrp="1"/>
          </p:cNvSpPr>
          <p:nvPr>
            <p:ph type="title" orient="vert"/>
          </p:nvPr>
        </p:nvSpPr>
        <p:spPr>
          <a:xfrm>
            <a:off x="11633200" y="486834"/>
            <a:ext cx="3505200" cy="7749117"/>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2D6E8DC-0F60-9EB8-0D87-10EFC0AE0748}"/>
              </a:ext>
            </a:extLst>
          </p:cNvPr>
          <p:cNvSpPr>
            <a:spLocks noGrp="1"/>
          </p:cNvSpPr>
          <p:nvPr>
            <p:ph type="body" orient="vert" idx="1"/>
          </p:nvPr>
        </p:nvSpPr>
        <p:spPr>
          <a:xfrm>
            <a:off x="1117600" y="486834"/>
            <a:ext cx="10312400" cy="77491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C65BAA2-1F2B-ACB2-0A56-2FE069A38F43}"/>
              </a:ext>
            </a:extLst>
          </p:cNvPr>
          <p:cNvSpPr>
            <a:spLocks noGrp="1"/>
          </p:cNvSpPr>
          <p:nvPr>
            <p:ph type="dt" sz="half" idx="10"/>
          </p:nvPr>
        </p:nvSpPr>
        <p:spPr/>
        <p:txBody>
          <a:bodyPr/>
          <a:lstStyle/>
          <a:p>
            <a:fld id="{A2EE03CE-28B8-49DD-9887-133DB5D8B59C}" type="datetimeFigureOut">
              <a:rPr lang="fr-FR" smtClean="0"/>
              <a:t>14/09/2026</a:t>
            </a:fld>
            <a:endParaRPr lang="fr-FR"/>
          </a:p>
        </p:txBody>
      </p:sp>
      <p:sp>
        <p:nvSpPr>
          <p:cNvPr id="5" name="Espace réservé du pied de page 4">
            <a:extLst>
              <a:ext uri="{FF2B5EF4-FFF2-40B4-BE49-F238E27FC236}">
                <a16:creationId xmlns:a16="http://schemas.microsoft.com/office/drawing/2014/main" id="{567AA81A-5E6A-E76E-3D50-A21CAF31E6B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610BFC8-72D9-5C54-19FF-DEE9C206D9BF}"/>
              </a:ext>
            </a:extLst>
          </p:cNvPr>
          <p:cNvSpPr>
            <a:spLocks noGrp="1"/>
          </p:cNvSpPr>
          <p:nvPr>
            <p:ph type="sldNum" sz="quarter" idx="12"/>
          </p:nvPr>
        </p:nvSpPr>
        <p:spPr/>
        <p:txBody>
          <a:bodyPr/>
          <a:lstStyle/>
          <a:p>
            <a:fld id="{0B38B6AC-F1BC-430E-A9DA-B657E8549227}" type="slidenum">
              <a:rPr lang="fr-FR" smtClean="0"/>
              <a:t>‹N°›</a:t>
            </a:fld>
            <a:endParaRPr lang="fr-FR"/>
          </a:p>
        </p:txBody>
      </p:sp>
    </p:spTree>
    <p:extLst>
      <p:ext uri="{BB962C8B-B14F-4D97-AF65-F5344CB8AC3E}">
        <p14:creationId xmlns:p14="http://schemas.microsoft.com/office/powerpoint/2010/main" val="3824363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09C4F67-96A6-30C5-8419-3AB116065E44}"/>
              </a:ext>
            </a:extLst>
          </p:cNvPr>
          <p:cNvSpPr>
            <a:spLocks noGrp="1"/>
          </p:cNvSpPr>
          <p:nvPr>
            <p:ph type="title"/>
          </p:nvPr>
        </p:nvSpPr>
        <p:spPr>
          <a:xfrm>
            <a:off x="1117600" y="486836"/>
            <a:ext cx="14020800" cy="1767417"/>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0D1E455F-FCB2-F481-A86D-58AF112306F0}"/>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2C4B24-E65D-13CA-1672-2FCB31B0B635}"/>
              </a:ext>
            </a:extLst>
          </p:cNvPr>
          <p:cNvSpPr>
            <a:spLocks noGrp="1"/>
          </p:cNvSpPr>
          <p:nvPr>
            <p:ph type="dt" sz="half" idx="2"/>
          </p:nvPr>
        </p:nvSpPr>
        <p:spPr>
          <a:xfrm>
            <a:off x="1117600" y="8475136"/>
            <a:ext cx="3657600" cy="486833"/>
          </a:xfrm>
          <a:prstGeom prst="rect">
            <a:avLst/>
          </a:prstGeom>
        </p:spPr>
        <p:txBody>
          <a:bodyPr vert="horz" lIns="91440" tIns="45720" rIns="91440" bIns="45720" rtlCol="0" anchor="ctr"/>
          <a:lstStyle>
            <a:lvl1pPr algn="l">
              <a:defRPr sz="1200">
                <a:solidFill>
                  <a:schemeClr val="tx1">
                    <a:tint val="82000"/>
                  </a:schemeClr>
                </a:solidFill>
              </a:defRPr>
            </a:lvl1pPr>
          </a:lstStyle>
          <a:p>
            <a:fld id="{A2EE03CE-28B8-49DD-9887-133DB5D8B59C}" type="datetimeFigureOut">
              <a:rPr lang="fr-FR" smtClean="0"/>
              <a:t>14/09/2026</a:t>
            </a:fld>
            <a:endParaRPr lang="fr-FR"/>
          </a:p>
        </p:txBody>
      </p:sp>
      <p:sp>
        <p:nvSpPr>
          <p:cNvPr id="5" name="Espace réservé du pied de page 4">
            <a:extLst>
              <a:ext uri="{FF2B5EF4-FFF2-40B4-BE49-F238E27FC236}">
                <a16:creationId xmlns:a16="http://schemas.microsoft.com/office/drawing/2014/main" id="{76D7731B-05D8-148C-AED0-C26762E1D918}"/>
              </a:ext>
            </a:extLst>
          </p:cNvPr>
          <p:cNvSpPr>
            <a:spLocks noGrp="1"/>
          </p:cNvSpPr>
          <p:nvPr>
            <p:ph type="ftr" sz="quarter" idx="3"/>
          </p:nvPr>
        </p:nvSpPr>
        <p:spPr>
          <a:xfrm>
            <a:off x="5384800" y="8475136"/>
            <a:ext cx="5486400" cy="486833"/>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3FFED1C7-E30A-F4BB-45DA-762E9C18E864}"/>
              </a:ext>
            </a:extLst>
          </p:cNvPr>
          <p:cNvSpPr>
            <a:spLocks noGrp="1"/>
          </p:cNvSpPr>
          <p:nvPr>
            <p:ph type="sldNum" sz="quarter" idx="4"/>
          </p:nvPr>
        </p:nvSpPr>
        <p:spPr>
          <a:xfrm>
            <a:off x="11480800" y="8475136"/>
            <a:ext cx="3657600" cy="486833"/>
          </a:xfrm>
          <a:prstGeom prst="rect">
            <a:avLst/>
          </a:prstGeom>
        </p:spPr>
        <p:txBody>
          <a:bodyPr vert="horz" lIns="91440" tIns="45720" rIns="91440" bIns="45720" rtlCol="0" anchor="ctr"/>
          <a:lstStyle>
            <a:lvl1pPr algn="r">
              <a:defRPr sz="1200">
                <a:solidFill>
                  <a:schemeClr val="tx1">
                    <a:tint val="82000"/>
                  </a:schemeClr>
                </a:solidFill>
              </a:defRPr>
            </a:lvl1pPr>
          </a:lstStyle>
          <a:p>
            <a:fld id="{0B38B6AC-F1BC-430E-A9DA-B657E8549227}" type="slidenum">
              <a:rPr lang="fr-FR" smtClean="0"/>
              <a:t>‹N°›</a:t>
            </a:fld>
            <a:endParaRPr lang="fr-FR"/>
          </a:p>
        </p:txBody>
      </p:sp>
    </p:spTree>
    <p:extLst>
      <p:ext uri="{BB962C8B-B14F-4D97-AF65-F5344CB8AC3E}">
        <p14:creationId xmlns:p14="http://schemas.microsoft.com/office/powerpoint/2010/main" val="1051927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e01">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BE3C6CB3-5B14-0FE0-DEF1-4AD5EC222495}"/>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RECONNECT    15 SEPTEMBRE 2026</a:t>
            </a:r>
          </a:p>
        </p:txBody>
      </p:sp>
      <p:sp>
        <p:nvSpPr>
          <p:cNvPr id="3" name="Titre">
            <a:extLst>
              <a:ext uri="{FF2B5EF4-FFF2-40B4-BE49-F238E27FC236}">
                <a16:creationId xmlns:a16="http://schemas.microsoft.com/office/drawing/2014/main" id="{BBB25D65-36B3-679B-9E65-AA06FAE31F8B}"/>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6000">
                <a:solidFill>
                  <a:srgbClr val="F4EDE0"/>
                </a:solidFill>
                <a:latin typeface="Georgia" panose="02040502050405020303" pitchFamily="18" charset="0"/>
              </a:rPr>
              <a:t>Développer avec des agents</a:t>
            </a:r>
          </a:p>
        </p:txBody>
      </p:sp>
      <p:sp>
        <p:nvSpPr>
          <p:cNvPr id="4" name="Idee">
            <a:extLst>
              <a:ext uri="{FF2B5EF4-FFF2-40B4-BE49-F238E27FC236}">
                <a16:creationId xmlns:a16="http://schemas.microsoft.com/office/drawing/2014/main" id="{5BE11BDA-C4E5-6D17-E6F6-0BF77B41F205}"/>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Une méthode en 5 étapes. Un support à garder.</a:t>
            </a:r>
          </a:p>
        </p:txBody>
      </p:sp>
      <p:sp>
        <p:nvSpPr>
          <p:cNvPr id="5" name="Item_title_1">
            <a:extLst>
              <a:ext uri="{FF2B5EF4-FFF2-40B4-BE49-F238E27FC236}">
                <a16:creationId xmlns:a16="http://schemas.microsoft.com/office/drawing/2014/main" id="{6E81B9C0-29D7-9E20-D57E-D016AEF87418}"/>
              </a:ext>
            </a:extLst>
          </p:cNvPr>
          <p:cNvSpPr txBox="1"/>
          <p:nvPr/>
        </p:nvSpPr>
        <p:spPr>
          <a:xfrm>
            <a:off x="965200" y="4292599"/>
            <a:ext cx="4402667"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9h00 · Prendre en main</a:t>
            </a:r>
          </a:p>
        </p:txBody>
      </p:sp>
      <p:sp>
        <p:nvSpPr>
          <p:cNvPr id="6" name="Item_text_1">
            <a:extLst>
              <a:ext uri="{FF2B5EF4-FFF2-40B4-BE49-F238E27FC236}">
                <a16:creationId xmlns:a16="http://schemas.microsoft.com/office/drawing/2014/main" id="{C7746F41-15A2-5D44-6318-53CD096E893A}"/>
              </a:ext>
            </a:extLst>
          </p:cNvPr>
          <p:cNvSpPr txBox="1"/>
          <p:nvPr/>
        </p:nvSpPr>
        <p:spPr>
          <a:xfrm>
            <a:off x="965200" y="4825999"/>
            <a:ext cx="4402667" cy="2286000"/>
          </a:xfrm>
          <a:prstGeom prst="rect">
            <a:avLst/>
          </a:prstGeom>
          <a:noFill/>
        </p:spPr>
        <p:txBody>
          <a:bodyPr vert="horz" wrap="square" lIns="0" tIns="0" rIns="0" bIns="0" rtlCol="0">
            <a:noAutofit/>
          </a:bodyPr>
          <a:lstStyle/>
          <a:p>
            <a:r>
              <a:rPr lang="fr-FR" sz="2600">
                <a:solidFill>
                  <a:srgbClr val="F4EDE0"/>
                </a:solidFill>
                <a:latin typeface="Outfit" pitchFamily="2" charset="0"/>
              </a:rPr>
              <a:t>Exercices courts sur les outils et le ticket.</a:t>
            </a:r>
          </a:p>
        </p:txBody>
      </p:sp>
      <p:sp>
        <p:nvSpPr>
          <p:cNvPr id="7" name="Item_title_2">
            <a:extLst>
              <a:ext uri="{FF2B5EF4-FFF2-40B4-BE49-F238E27FC236}">
                <a16:creationId xmlns:a16="http://schemas.microsoft.com/office/drawing/2014/main" id="{D61B507E-4CFD-FEF4-2AD7-8FA913AAAF39}"/>
              </a:ext>
            </a:extLst>
          </p:cNvPr>
          <p:cNvSpPr txBox="1"/>
          <p:nvPr/>
        </p:nvSpPr>
        <p:spPr>
          <a:xfrm>
            <a:off x="5926667" y="4292599"/>
            <a:ext cx="4402667"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9h40 · Préparer le lancement</a:t>
            </a:r>
          </a:p>
        </p:txBody>
      </p:sp>
      <p:sp>
        <p:nvSpPr>
          <p:cNvPr id="8" name="Item_text_2">
            <a:extLst>
              <a:ext uri="{FF2B5EF4-FFF2-40B4-BE49-F238E27FC236}">
                <a16:creationId xmlns:a16="http://schemas.microsoft.com/office/drawing/2014/main" id="{9619A0BA-BBAF-DE65-57C2-3BA0E9446DF7}"/>
              </a:ext>
            </a:extLst>
          </p:cNvPr>
          <p:cNvSpPr txBox="1"/>
          <p:nvPr/>
        </p:nvSpPr>
        <p:spPr>
          <a:xfrm>
            <a:off x="5926667" y="4825999"/>
            <a:ext cx="4402667" cy="2286000"/>
          </a:xfrm>
          <a:prstGeom prst="rect">
            <a:avLst/>
          </a:prstGeom>
          <a:noFill/>
        </p:spPr>
        <p:txBody>
          <a:bodyPr vert="horz" wrap="square" lIns="0" tIns="0" rIns="0" bIns="0" rtlCol="0">
            <a:noAutofit/>
          </a:bodyPr>
          <a:lstStyle/>
          <a:p>
            <a:r>
              <a:rPr lang="fr-FR" sz="2600">
                <a:solidFill>
                  <a:srgbClr val="F4EDE0"/>
                </a:solidFill>
                <a:latin typeface="Outfit" pitchFamily="2" charset="0"/>
              </a:rPr>
              <a:t>Contrat commun, puis agents par lot.</a:t>
            </a:r>
          </a:p>
        </p:txBody>
      </p:sp>
      <p:sp>
        <p:nvSpPr>
          <p:cNvPr id="9" name="Item_title_3">
            <a:extLst>
              <a:ext uri="{FF2B5EF4-FFF2-40B4-BE49-F238E27FC236}">
                <a16:creationId xmlns:a16="http://schemas.microsoft.com/office/drawing/2014/main" id="{FBCE62BC-9EA5-4565-09DD-608D5E8C163C}"/>
              </a:ext>
            </a:extLst>
          </p:cNvPr>
          <p:cNvSpPr txBox="1"/>
          <p:nvPr/>
        </p:nvSpPr>
        <p:spPr>
          <a:xfrm>
            <a:off x="10888133" y="4292599"/>
            <a:ext cx="4402667"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12h15 · Montrer le MVP</a:t>
            </a:r>
          </a:p>
        </p:txBody>
      </p:sp>
      <p:sp>
        <p:nvSpPr>
          <p:cNvPr id="10" name="Item_text_3">
            <a:extLst>
              <a:ext uri="{FF2B5EF4-FFF2-40B4-BE49-F238E27FC236}">
                <a16:creationId xmlns:a16="http://schemas.microsoft.com/office/drawing/2014/main" id="{7C735004-5FD5-0B50-B149-6A878643D85D}"/>
              </a:ext>
            </a:extLst>
          </p:cNvPr>
          <p:cNvSpPr txBox="1"/>
          <p:nvPr/>
        </p:nvSpPr>
        <p:spPr>
          <a:xfrm>
            <a:off x="10888133" y="4825999"/>
            <a:ext cx="4402667" cy="2286000"/>
          </a:xfrm>
          <a:prstGeom prst="rect">
            <a:avLst/>
          </a:prstGeom>
          <a:noFill/>
        </p:spPr>
        <p:txBody>
          <a:bodyPr vert="horz" wrap="square" lIns="0" tIns="0" rIns="0" bIns="0" rtlCol="0">
            <a:noAutofit/>
          </a:bodyPr>
          <a:lstStyle/>
          <a:p>
            <a:r>
              <a:rPr lang="fr-FR" sz="2600">
                <a:solidFill>
                  <a:srgbClr val="F4EDE0"/>
                </a:solidFill>
                <a:latin typeface="Outfit" pitchFamily="2" charset="0"/>
              </a:rPr>
              <a:t>Un besoin, une réponse, une structure, un contact.</a:t>
            </a:r>
          </a:p>
        </p:txBody>
      </p:sp>
      <p:sp>
        <p:nvSpPr>
          <p:cNvPr id="11" name="Action">
            <a:extLst>
              <a:ext uri="{FF2B5EF4-FFF2-40B4-BE49-F238E27FC236}">
                <a16:creationId xmlns:a16="http://schemas.microsoft.com/office/drawing/2014/main" id="{F43A3B68-69AA-2E0D-E9B0-9D57E81B8FCD}"/>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Commencez par votre besoin du jour.</a:t>
            </a:r>
          </a:p>
        </p:txBody>
      </p:sp>
    </p:spTree>
    <p:extLst>
      <p:ext uri="{BB962C8B-B14F-4D97-AF65-F5344CB8AC3E}">
        <p14:creationId xmlns:p14="http://schemas.microsoft.com/office/powerpoint/2010/main" val="651730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e02">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71F156D3-0B43-E631-2D9B-084617ED28E3}"/>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Ouverture    02/36</a:t>
            </a:r>
          </a:p>
        </p:txBody>
      </p:sp>
      <p:sp>
        <p:nvSpPr>
          <p:cNvPr id="3" name="Titre">
            <a:extLst>
              <a:ext uri="{FF2B5EF4-FFF2-40B4-BE49-F238E27FC236}">
                <a16:creationId xmlns:a16="http://schemas.microsoft.com/office/drawing/2014/main" id="{639E6868-E875-A224-EA1C-0E6B70A80E2B}"/>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Projeter maintenant. Retrouver ensuite</a:t>
            </a:r>
          </a:p>
        </p:txBody>
      </p:sp>
      <p:sp>
        <p:nvSpPr>
          <p:cNvPr id="4" name="Idee">
            <a:extLst>
              <a:ext uri="{FF2B5EF4-FFF2-40B4-BE49-F238E27FC236}">
                <a16:creationId xmlns:a16="http://schemas.microsoft.com/office/drawing/2014/main" id="{5064572D-47A2-2438-A246-5A5666C33FE6}"/>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Lisez l’essentiel à l’écran ; ouvrez « Théorie » pour approfondir.</a:t>
            </a:r>
          </a:p>
        </p:txBody>
      </p:sp>
      <p:sp>
        <p:nvSpPr>
          <p:cNvPr id="5" name="Item_title_1">
            <a:extLst>
              <a:ext uri="{FF2B5EF4-FFF2-40B4-BE49-F238E27FC236}">
                <a16:creationId xmlns:a16="http://schemas.microsoft.com/office/drawing/2014/main" id="{48C02164-7827-DA16-AE3C-1EF34D7D74D3}"/>
              </a:ext>
            </a:extLst>
          </p:cNvPr>
          <p:cNvSpPr txBox="1"/>
          <p:nvPr/>
        </p:nvSpPr>
        <p:spPr>
          <a:xfrm>
            <a:off x="965200" y="42925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Parcourir</a:t>
            </a:r>
          </a:p>
        </p:txBody>
      </p:sp>
      <p:sp>
        <p:nvSpPr>
          <p:cNvPr id="6" name="Item_text_1">
            <a:extLst>
              <a:ext uri="{FF2B5EF4-FFF2-40B4-BE49-F238E27FC236}">
                <a16:creationId xmlns:a16="http://schemas.microsoft.com/office/drawing/2014/main" id="{71E239A6-8A3A-7451-49F2-F0FEA3E55CB9}"/>
              </a:ext>
            </a:extLst>
          </p:cNvPr>
          <p:cNvSpPr txBox="1"/>
          <p:nvPr/>
        </p:nvSpPr>
        <p:spPr>
          <a:xfrm>
            <a:off x="965200" y="48259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Flèches, défilement ou sommaire.</a:t>
            </a:r>
          </a:p>
        </p:txBody>
      </p:sp>
      <p:sp>
        <p:nvSpPr>
          <p:cNvPr id="7" name="Item_title_2">
            <a:extLst>
              <a:ext uri="{FF2B5EF4-FFF2-40B4-BE49-F238E27FC236}">
                <a16:creationId xmlns:a16="http://schemas.microsoft.com/office/drawing/2014/main" id="{AC4B84EC-E425-1BD9-B997-5C666258BB34}"/>
              </a:ext>
            </a:extLst>
          </p:cNvPr>
          <p:cNvSpPr txBox="1"/>
          <p:nvPr/>
        </p:nvSpPr>
        <p:spPr>
          <a:xfrm>
            <a:off x="8407400" y="42925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Copier</a:t>
            </a:r>
          </a:p>
        </p:txBody>
      </p:sp>
      <p:sp>
        <p:nvSpPr>
          <p:cNvPr id="8" name="Item_text_2">
            <a:extLst>
              <a:ext uri="{FF2B5EF4-FFF2-40B4-BE49-F238E27FC236}">
                <a16:creationId xmlns:a16="http://schemas.microsoft.com/office/drawing/2014/main" id="{C0DDF5AC-931D-0A1E-1ECE-A153CDFF250D}"/>
              </a:ext>
            </a:extLst>
          </p:cNvPr>
          <p:cNvSpPr txBox="1"/>
          <p:nvPr/>
        </p:nvSpPr>
        <p:spPr>
          <a:xfrm>
            <a:off x="8407400" y="48259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Un prompt ou une commande par méthode.</a:t>
            </a:r>
          </a:p>
        </p:txBody>
      </p:sp>
      <p:sp>
        <p:nvSpPr>
          <p:cNvPr id="9" name="Item_title_3">
            <a:extLst>
              <a:ext uri="{FF2B5EF4-FFF2-40B4-BE49-F238E27FC236}">
                <a16:creationId xmlns:a16="http://schemas.microsoft.com/office/drawing/2014/main" id="{BF1DDC94-3F50-E6C0-6C2A-E3E6B6A5BC3F}"/>
              </a:ext>
            </a:extLst>
          </p:cNvPr>
          <p:cNvSpPr txBox="1"/>
          <p:nvPr/>
        </p:nvSpPr>
        <p:spPr>
          <a:xfrm>
            <a:off x="965200" y="60578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Approfondir</a:t>
            </a:r>
          </a:p>
        </p:txBody>
      </p:sp>
      <p:sp>
        <p:nvSpPr>
          <p:cNvPr id="10" name="Item_text_3">
            <a:extLst>
              <a:ext uri="{FF2B5EF4-FFF2-40B4-BE49-F238E27FC236}">
                <a16:creationId xmlns:a16="http://schemas.microsoft.com/office/drawing/2014/main" id="{837D7717-2442-344F-D8B1-E91204415D10}"/>
              </a:ext>
            </a:extLst>
          </p:cNvPr>
          <p:cNvSpPr txBox="1"/>
          <p:nvPr/>
        </p:nvSpPr>
        <p:spPr>
          <a:xfrm>
            <a:off x="965200" y="65912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Explications, limites et sources dans « Théorie ».</a:t>
            </a:r>
          </a:p>
        </p:txBody>
      </p:sp>
      <p:sp>
        <p:nvSpPr>
          <p:cNvPr id="11" name="Item_title_4">
            <a:extLst>
              <a:ext uri="{FF2B5EF4-FFF2-40B4-BE49-F238E27FC236}">
                <a16:creationId xmlns:a16="http://schemas.microsoft.com/office/drawing/2014/main" id="{16BF53E5-3A42-FF08-EAC9-1CA9E370005F}"/>
              </a:ext>
            </a:extLst>
          </p:cNvPr>
          <p:cNvSpPr txBox="1"/>
          <p:nvPr/>
        </p:nvSpPr>
        <p:spPr>
          <a:xfrm>
            <a:off x="8407400" y="60578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Emporter</a:t>
            </a:r>
          </a:p>
        </p:txBody>
      </p:sp>
      <p:sp>
        <p:nvSpPr>
          <p:cNvPr id="12" name="Item_text_4">
            <a:extLst>
              <a:ext uri="{FF2B5EF4-FFF2-40B4-BE49-F238E27FC236}">
                <a16:creationId xmlns:a16="http://schemas.microsoft.com/office/drawing/2014/main" id="{5AD3D8F3-1D98-0312-1065-E3152156CEE4}"/>
              </a:ext>
            </a:extLst>
          </p:cNvPr>
          <p:cNvSpPr txBox="1"/>
          <p:nvPr/>
        </p:nvSpPr>
        <p:spPr>
          <a:xfrm>
            <a:off x="8407400" y="65912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Le deck, le PowerPoint et le kit local.</a:t>
            </a:r>
          </a:p>
        </p:txBody>
      </p:sp>
      <p:sp>
        <p:nvSpPr>
          <p:cNvPr id="13" name="Action">
            <a:extLst>
              <a:ext uri="{FF2B5EF4-FFF2-40B4-BE49-F238E27FC236}">
                <a16:creationId xmlns:a16="http://schemas.microsoft.com/office/drawing/2014/main" id="{1DB6DE2C-5C14-3F46-C68E-6AE845761563}"/>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Ouvrez une fiche « Théorie », puis refermez-la.</a:t>
            </a:r>
          </a:p>
        </p:txBody>
      </p:sp>
    </p:spTree>
    <p:extLst>
      <p:ext uri="{BB962C8B-B14F-4D97-AF65-F5344CB8AC3E}">
        <p14:creationId xmlns:p14="http://schemas.microsoft.com/office/powerpoint/2010/main" val="172454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e03">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1AB8A265-6FB4-E551-AA90-A052D49A6BFD}"/>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La méthode    03/36</a:t>
            </a:r>
          </a:p>
        </p:txBody>
      </p:sp>
      <p:sp>
        <p:nvSpPr>
          <p:cNvPr id="3" name="Titre">
            <a:extLst>
              <a:ext uri="{FF2B5EF4-FFF2-40B4-BE49-F238E27FC236}">
                <a16:creationId xmlns:a16="http://schemas.microsoft.com/office/drawing/2014/main" id="{2CBBE818-F5E3-CB7C-EA65-625F3A0ED28A}"/>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Un agent avance dans une boucle</a:t>
            </a:r>
          </a:p>
        </p:txBody>
      </p:sp>
      <p:sp>
        <p:nvSpPr>
          <p:cNvPr id="4" name="Idee">
            <a:extLst>
              <a:ext uri="{FF2B5EF4-FFF2-40B4-BE49-F238E27FC236}">
                <a16:creationId xmlns:a16="http://schemas.microsoft.com/office/drawing/2014/main" id="{F8D98C3F-809F-AC4E-1E81-FA37373C6B50}"/>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Lire → planifier → agir → vérifier → recommencer.</a:t>
            </a:r>
          </a:p>
        </p:txBody>
      </p:sp>
      <p:sp>
        <p:nvSpPr>
          <p:cNvPr id="5" name="Item_1">
            <a:extLst>
              <a:ext uri="{FF2B5EF4-FFF2-40B4-BE49-F238E27FC236}">
                <a16:creationId xmlns:a16="http://schemas.microsoft.com/office/drawing/2014/main" id="{052988C7-23A2-705B-3F37-160EBD37F910}"/>
              </a:ext>
            </a:extLst>
          </p:cNvPr>
          <p:cNvSpPr txBox="1"/>
          <p:nvPr/>
        </p:nvSpPr>
        <p:spPr>
          <a:xfrm>
            <a:off x="965200" y="41020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Lire :</a:t>
            </a:r>
            <a:r>
              <a:rPr lang="fr-FR" sz="2400">
                <a:solidFill>
                  <a:srgbClr val="F4EDE0"/>
                </a:solidFill>
                <a:latin typeface="Outfit" pitchFamily="2" charset="0"/>
              </a:rPr>
              <a:t> Trouver les fichiers et comprendre le besoin.</a:t>
            </a:r>
          </a:p>
        </p:txBody>
      </p:sp>
      <p:sp>
        <p:nvSpPr>
          <p:cNvPr id="6" name="Item_2">
            <a:extLst>
              <a:ext uri="{FF2B5EF4-FFF2-40B4-BE49-F238E27FC236}">
                <a16:creationId xmlns:a16="http://schemas.microsoft.com/office/drawing/2014/main" id="{218799B8-0F8B-75B6-8F01-4CCA55C7B9F3}"/>
              </a:ext>
            </a:extLst>
          </p:cNvPr>
          <p:cNvSpPr txBox="1"/>
          <p:nvPr/>
        </p:nvSpPr>
        <p:spPr>
          <a:xfrm>
            <a:off x="965200" y="50736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Planifier :</a:t>
            </a:r>
            <a:r>
              <a:rPr lang="fr-FR" sz="2400">
                <a:solidFill>
                  <a:srgbClr val="F4EDE0"/>
                </a:solidFill>
                <a:latin typeface="Outfit" pitchFamily="2" charset="0"/>
              </a:rPr>
              <a:t> Choisir une prochaine action limitée.</a:t>
            </a:r>
          </a:p>
        </p:txBody>
      </p:sp>
      <p:sp>
        <p:nvSpPr>
          <p:cNvPr id="7" name="Item_3">
            <a:extLst>
              <a:ext uri="{FF2B5EF4-FFF2-40B4-BE49-F238E27FC236}">
                <a16:creationId xmlns:a16="http://schemas.microsoft.com/office/drawing/2014/main" id="{E826E840-74D1-36FE-8DD8-F16FBB7BCA2E}"/>
              </a:ext>
            </a:extLst>
          </p:cNvPr>
          <p:cNvSpPr txBox="1"/>
          <p:nvPr/>
        </p:nvSpPr>
        <p:spPr>
          <a:xfrm>
            <a:off x="965200" y="60451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Agir :</a:t>
            </a:r>
            <a:r>
              <a:rPr lang="fr-FR" sz="2400">
                <a:solidFill>
                  <a:srgbClr val="F4EDE0"/>
                </a:solidFill>
                <a:latin typeface="Outfit" pitchFamily="2" charset="0"/>
              </a:rPr>
              <a:t> Appeler un outil, modifier, exécuter.</a:t>
            </a:r>
          </a:p>
        </p:txBody>
      </p:sp>
      <p:sp>
        <p:nvSpPr>
          <p:cNvPr id="8" name="Item_4">
            <a:extLst>
              <a:ext uri="{FF2B5EF4-FFF2-40B4-BE49-F238E27FC236}">
                <a16:creationId xmlns:a16="http://schemas.microsoft.com/office/drawing/2014/main" id="{F49346DD-902E-2FEE-A6A5-B676FD072288}"/>
              </a:ext>
            </a:extLst>
          </p:cNvPr>
          <p:cNvSpPr txBox="1"/>
          <p:nvPr/>
        </p:nvSpPr>
        <p:spPr>
          <a:xfrm>
            <a:off x="965200" y="70167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Vérifier :</a:t>
            </a:r>
            <a:r>
              <a:rPr lang="fr-FR" sz="2400">
                <a:solidFill>
                  <a:srgbClr val="F4EDE0"/>
                </a:solidFill>
                <a:latin typeface="Outfit" pitchFamily="2" charset="0"/>
              </a:rPr>
              <a:t> Comparer le résultat au critère Done.</a:t>
            </a:r>
          </a:p>
        </p:txBody>
      </p:sp>
      <p:sp>
        <p:nvSpPr>
          <p:cNvPr id="9" name="Code_label">
            <a:extLst>
              <a:ext uri="{FF2B5EF4-FFF2-40B4-BE49-F238E27FC236}">
                <a16:creationId xmlns:a16="http://schemas.microsoft.com/office/drawing/2014/main" id="{4DC623D1-0253-50DC-0A1C-3ED082034A54}"/>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10" name="Code">
            <a:extLst>
              <a:ext uri="{FF2B5EF4-FFF2-40B4-BE49-F238E27FC236}">
                <a16:creationId xmlns:a16="http://schemas.microsoft.com/office/drawing/2014/main" id="{084508FC-E70E-06C9-ABE5-E2DA5CFC9AF6}"/>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Lis le ticket et les fichiers</a:t>
            </a:r>
          </a:p>
          <a:p>
            <a:r>
              <a:rPr lang="fr-FR" sz="2200">
                <a:solidFill>
                  <a:srgbClr val="F4EDE0"/>
                </a:solidFill>
                <a:latin typeface="JetBrains Mono" panose="02000009000000000000" pitchFamily="49" charset="0"/>
              </a:rPr>
              <a:t>attribués.</a:t>
            </a:r>
          </a:p>
          <a:p>
            <a:r>
              <a:rPr lang="fr-FR" sz="2200">
                <a:solidFill>
                  <a:srgbClr val="F4EDE0"/>
                </a:solidFill>
                <a:latin typeface="JetBrains Mono" panose="02000009000000000000" pitchFamily="49" charset="0"/>
              </a:rPr>
              <a:t>Propose un plan en trois actions avec</a:t>
            </a:r>
          </a:p>
          <a:p>
            <a:r>
              <a:rPr lang="fr-FR" sz="2200">
                <a:solidFill>
                  <a:srgbClr val="F4EDE0"/>
                </a:solidFill>
                <a:latin typeface="JetBrains Mono" panose="02000009000000000000" pitchFamily="49" charset="0"/>
              </a:rPr>
              <a:t>une preuve par action.</a:t>
            </a:r>
          </a:p>
          <a:p>
            <a:r>
              <a:rPr lang="fr-FR" sz="2200">
                <a:solidFill>
                  <a:srgbClr val="F4EDE0"/>
                </a:solidFill>
                <a:latin typeface="JetBrains Mono" panose="02000009000000000000" pitchFamily="49" charset="0"/>
              </a:rPr>
              <a:t>Attends mon retour avant de modifier</a:t>
            </a:r>
          </a:p>
          <a:p>
            <a:r>
              <a:rPr lang="fr-FR" sz="2200">
                <a:solidFill>
                  <a:srgbClr val="F4EDE0"/>
                </a:solidFill>
                <a:latin typeface="JetBrains Mono" panose="02000009000000000000" pitchFamily="49" charset="0"/>
              </a:rPr>
              <a:t>les fichiers.</a:t>
            </a:r>
          </a:p>
        </p:txBody>
      </p:sp>
      <p:sp>
        <p:nvSpPr>
          <p:cNvPr id="11" name="Action">
            <a:extLst>
              <a:ext uri="{FF2B5EF4-FFF2-40B4-BE49-F238E27FC236}">
                <a16:creationId xmlns:a16="http://schemas.microsoft.com/office/drawing/2014/main" id="{7DF4603E-AFC3-6E3B-F673-746AA54E12C6}"/>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2 min : repérez la prochaine preuve de votre ticket.</a:t>
            </a:r>
          </a:p>
        </p:txBody>
      </p:sp>
    </p:spTree>
    <p:extLst>
      <p:ext uri="{BB962C8B-B14F-4D97-AF65-F5344CB8AC3E}">
        <p14:creationId xmlns:p14="http://schemas.microsoft.com/office/powerpoint/2010/main" val="2759158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e04">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3E3AECD0-166D-2DAE-054B-63AD622314AE}"/>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La méthode    04/36</a:t>
            </a:r>
          </a:p>
        </p:txBody>
      </p:sp>
      <p:sp>
        <p:nvSpPr>
          <p:cNvPr id="3" name="Titre">
            <a:extLst>
              <a:ext uri="{FF2B5EF4-FFF2-40B4-BE49-F238E27FC236}">
                <a16:creationId xmlns:a16="http://schemas.microsoft.com/office/drawing/2014/main" id="{CDFA234F-834E-A892-A50A-CE2170D4D8B1}"/>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Nommer ce qui décide et ce qui agit</a:t>
            </a:r>
          </a:p>
        </p:txBody>
      </p:sp>
      <p:sp>
        <p:nvSpPr>
          <p:cNvPr id="4" name="Idee">
            <a:extLst>
              <a:ext uri="{FF2B5EF4-FFF2-40B4-BE49-F238E27FC236}">
                <a16:creationId xmlns:a16="http://schemas.microsoft.com/office/drawing/2014/main" id="{C0218521-1424-CC2A-EBA0-B47E1367CD46}"/>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Quatre mots pour comprendre une session d’agent.</a:t>
            </a:r>
          </a:p>
        </p:txBody>
      </p:sp>
      <p:sp>
        <p:nvSpPr>
          <p:cNvPr id="5" name="Item_title_1">
            <a:extLst>
              <a:ext uri="{FF2B5EF4-FFF2-40B4-BE49-F238E27FC236}">
                <a16:creationId xmlns:a16="http://schemas.microsoft.com/office/drawing/2014/main" id="{823AD5C9-498C-0744-DDC1-0829F6C3ECAA}"/>
              </a:ext>
            </a:extLst>
          </p:cNvPr>
          <p:cNvSpPr txBox="1"/>
          <p:nvPr/>
        </p:nvSpPr>
        <p:spPr>
          <a:xfrm>
            <a:off x="965200" y="42925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Modèle</a:t>
            </a:r>
          </a:p>
        </p:txBody>
      </p:sp>
      <p:sp>
        <p:nvSpPr>
          <p:cNvPr id="6" name="Item_text_1">
            <a:extLst>
              <a:ext uri="{FF2B5EF4-FFF2-40B4-BE49-F238E27FC236}">
                <a16:creationId xmlns:a16="http://schemas.microsoft.com/office/drawing/2014/main" id="{A5BD13CC-671B-312D-3D45-4EE66F1000E5}"/>
              </a:ext>
            </a:extLst>
          </p:cNvPr>
          <p:cNvSpPr txBox="1"/>
          <p:nvPr/>
        </p:nvSpPr>
        <p:spPr>
          <a:xfrm>
            <a:off x="965200" y="48259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Produit du texte et propose les actions.</a:t>
            </a:r>
          </a:p>
        </p:txBody>
      </p:sp>
      <p:sp>
        <p:nvSpPr>
          <p:cNvPr id="7" name="Item_title_2">
            <a:extLst>
              <a:ext uri="{FF2B5EF4-FFF2-40B4-BE49-F238E27FC236}">
                <a16:creationId xmlns:a16="http://schemas.microsoft.com/office/drawing/2014/main" id="{054C478C-48A2-70BA-A23C-EDDCD32818C5}"/>
              </a:ext>
            </a:extLst>
          </p:cNvPr>
          <p:cNvSpPr txBox="1"/>
          <p:nvPr/>
        </p:nvSpPr>
        <p:spPr>
          <a:xfrm>
            <a:off x="8407400" y="42925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Agent</a:t>
            </a:r>
          </a:p>
        </p:txBody>
      </p:sp>
      <p:sp>
        <p:nvSpPr>
          <p:cNvPr id="8" name="Item_text_2">
            <a:extLst>
              <a:ext uri="{FF2B5EF4-FFF2-40B4-BE49-F238E27FC236}">
                <a16:creationId xmlns:a16="http://schemas.microsoft.com/office/drawing/2014/main" id="{530A898C-54D2-FEF7-8868-752064F19C95}"/>
              </a:ext>
            </a:extLst>
          </p:cNvPr>
          <p:cNvSpPr txBox="1"/>
          <p:nvPr/>
        </p:nvSpPr>
        <p:spPr>
          <a:xfrm>
            <a:off x="8407400" y="48259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Organise la boucle autour du modèle.</a:t>
            </a:r>
          </a:p>
        </p:txBody>
      </p:sp>
      <p:sp>
        <p:nvSpPr>
          <p:cNvPr id="9" name="Item_title_3">
            <a:extLst>
              <a:ext uri="{FF2B5EF4-FFF2-40B4-BE49-F238E27FC236}">
                <a16:creationId xmlns:a16="http://schemas.microsoft.com/office/drawing/2014/main" id="{B4B5B130-7DD8-10E5-11AC-D4A36B3362EE}"/>
              </a:ext>
            </a:extLst>
          </p:cNvPr>
          <p:cNvSpPr txBox="1"/>
          <p:nvPr/>
        </p:nvSpPr>
        <p:spPr>
          <a:xfrm>
            <a:off x="965200" y="60578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Outil</a:t>
            </a:r>
          </a:p>
        </p:txBody>
      </p:sp>
      <p:sp>
        <p:nvSpPr>
          <p:cNvPr id="10" name="Item_text_3">
            <a:extLst>
              <a:ext uri="{FF2B5EF4-FFF2-40B4-BE49-F238E27FC236}">
                <a16:creationId xmlns:a16="http://schemas.microsoft.com/office/drawing/2014/main" id="{7289FBDB-9EFE-FE6D-EDE5-AD71890E717F}"/>
              </a:ext>
            </a:extLst>
          </p:cNvPr>
          <p:cNvSpPr txBox="1"/>
          <p:nvPr/>
        </p:nvSpPr>
        <p:spPr>
          <a:xfrm>
            <a:off x="965200" y="65912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Exécute une action : lire, tester, chercher.</a:t>
            </a:r>
          </a:p>
        </p:txBody>
      </p:sp>
      <p:sp>
        <p:nvSpPr>
          <p:cNvPr id="11" name="Item_title_4">
            <a:extLst>
              <a:ext uri="{FF2B5EF4-FFF2-40B4-BE49-F238E27FC236}">
                <a16:creationId xmlns:a16="http://schemas.microsoft.com/office/drawing/2014/main" id="{536836A6-C9C2-1AD7-18CF-476818F8D3E3}"/>
              </a:ext>
            </a:extLst>
          </p:cNvPr>
          <p:cNvSpPr txBox="1"/>
          <p:nvPr/>
        </p:nvSpPr>
        <p:spPr>
          <a:xfrm>
            <a:off x="8407400" y="60578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MCP</a:t>
            </a:r>
          </a:p>
        </p:txBody>
      </p:sp>
      <p:sp>
        <p:nvSpPr>
          <p:cNvPr id="12" name="Item_text_4">
            <a:extLst>
              <a:ext uri="{FF2B5EF4-FFF2-40B4-BE49-F238E27FC236}">
                <a16:creationId xmlns:a16="http://schemas.microsoft.com/office/drawing/2014/main" id="{C183ADED-2078-3FE3-22AC-E4C6DE52BA77}"/>
              </a:ext>
            </a:extLst>
          </p:cNvPr>
          <p:cNvSpPr txBox="1"/>
          <p:nvPr/>
        </p:nvSpPr>
        <p:spPr>
          <a:xfrm>
            <a:off x="8407400" y="65912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Relie l’agent à des outils externes.</a:t>
            </a:r>
          </a:p>
        </p:txBody>
      </p:sp>
      <p:sp>
        <p:nvSpPr>
          <p:cNvPr id="13" name="Action">
            <a:extLst>
              <a:ext uri="{FF2B5EF4-FFF2-40B4-BE49-F238E27FC236}">
                <a16:creationId xmlns:a16="http://schemas.microsoft.com/office/drawing/2014/main" id="{F81DA788-6610-41DC-A6D9-148EE1A58858}"/>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2 min : classez modèle, agent, Firecrawl et MCP.</a:t>
            </a:r>
          </a:p>
        </p:txBody>
      </p:sp>
    </p:spTree>
    <p:extLst>
      <p:ext uri="{BB962C8B-B14F-4D97-AF65-F5344CB8AC3E}">
        <p14:creationId xmlns:p14="http://schemas.microsoft.com/office/powerpoint/2010/main" val="2103014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e05">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845AAD25-A5B8-878F-9A78-A42482D8A032}"/>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La méthode    05/36</a:t>
            </a:r>
          </a:p>
        </p:txBody>
      </p:sp>
      <p:sp>
        <p:nvSpPr>
          <p:cNvPr id="3" name="Titre">
            <a:extLst>
              <a:ext uri="{FF2B5EF4-FFF2-40B4-BE49-F238E27FC236}">
                <a16:creationId xmlns:a16="http://schemas.microsoft.com/office/drawing/2014/main" id="{CEE96C27-D687-A57E-A7FF-2E5DC45EF70B}"/>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Nommer ce qui organise le travail</a:t>
            </a:r>
          </a:p>
        </p:txBody>
      </p:sp>
      <p:sp>
        <p:nvSpPr>
          <p:cNvPr id="4" name="Idee">
            <a:extLst>
              <a:ext uri="{FF2B5EF4-FFF2-40B4-BE49-F238E27FC236}">
                <a16:creationId xmlns:a16="http://schemas.microsoft.com/office/drawing/2014/main" id="{6729A2B0-1B94-0E89-2FA4-5179322E3B5B}"/>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Quatre mots pour passer d’une demande à une livraison.</a:t>
            </a:r>
          </a:p>
        </p:txBody>
      </p:sp>
      <p:sp>
        <p:nvSpPr>
          <p:cNvPr id="5" name="Item_title_1">
            <a:extLst>
              <a:ext uri="{FF2B5EF4-FFF2-40B4-BE49-F238E27FC236}">
                <a16:creationId xmlns:a16="http://schemas.microsoft.com/office/drawing/2014/main" id="{1BB921F4-936F-31C5-0FD8-8494E8CE4C90}"/>
              </a:ext>
            </a:extLst>
          </p:cNvPr>
          <p:cNvSpPr txBox="1"/>
          <p:nvPr/>
        </p:nvSpPr>
        <p:spPr>
          <a:xfrm>
            <a:off x="965200" y="42925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Skill</a:t>
            </a:r>
          </a:p>
        </p:txBody>
      </p:sp>
      <p:sp>
        <p:nvSpPr>
          <p:cNvPr id="6" name="Item_text_1">
            <a:extLst>
              <a:ext uri="{FF2B5EF4-FFF2-40B4-BE49-F238E27FC236}">
                <a16:creationId xmlns:a16="http://schemas.microsoft.com/office/drawing/2014/main" id="{EB643A30-9270-02C7-FB7B-A1ACA2759E50}"/>
              </a:ext>
            </a:extLst>
          </p:cNvPr>
          <p:cNvSpPr txBox="1"/>
          <p:nvPr/>
        </p:nvSpPr>
        <p:spPr>
          <a:xfrm>
            <a:off x="965200" y="48259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Une compétence réutilisable dans SKILL.md.</a:t>
            </a:r>
          </a:p>
        </p:txBody>
      </p:sp>
      <p:sp>
        <p:nvSpPr>
          <p:cNvPr id="7" name="Item_title_2">
            <a:extLst>
              <a:ext uri="{FF2B5EF4-FFF2-40B4-BE49-F238E27FC236}">
                <a16:creationId xmlns:a16="http://schemas.microsoft.com/office/drawing/2014/main" id="{CAA1F405-DC81-DFA2-9321-CEC68D2B05DA}"/>
              </a:ext>
            </a:extLst>
          </p:cNvPr>
          <p:cNvSpPr txBox="1"/>
          <p:nvPr/>
        </p:nvSpPr>
        <p:spPr>
          <a:xfrm>
            <a:off x="8407400" y="42925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Sous-agent</a:t>
            </a:r>
          </a:p>
        </p:txBody>
      </p:sp>
      <p:sp>
        <p:nvSpPr>
          <p:cNvPr id="8" name="Item_text_2">
            <a:extLst>
              <a:ext uri="{FF2B5EF4-FFF2-40B4-BE49-F238E27FC236}">
                <a16:creationId xmlns:a16="http://schemas.microsoft.com/office/drawing/2014/main" id="{DC088E12-51EA-04EB-917C-73195C27B38B}"/>
              </a:ext>
            </a:extLst>
          </p:cNvPr>
          <p:cNvSpPr txBox="1"/>
          <p:nvPr/>
        </p:nvSpPr>
        <p:spPr>
          <a:xfrm>
            <a:off x="8407400" y="48259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Un exécutant avec son propre contexte.</a:t>
            </a:r>
          </a:p>
        </p:txBody>
      </p:sp>
      <p:sp>
        <p:nvSpPr>
          <p:cNvPr id="9" name="Item_title_3">
            <a:extLst>
              <a:ext uri="{FF2B5EF4-FFF2-40B4-BE49-F238E27FC236}">
                <a16:creationId xmlns:a16="http://schemas.microsoft.com/office/drawing/2014/main" id="{433D350E-AA15-1B6A-BA82-CB74D3D5CD4E}"/>
              </a:ext>
            </a:extLst>
          </p:cNvPr>
          <p:cNvSpPr txBox="1"/>
          <p:nvPr/>
        </p:nvSpPr>
        <p:spPr>
          <a:xfrm>
            <a:off x="965200" y="60578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Workflow</a:t>
            </a:r>
          </a:p>
        </p:txBody>
      </p:sp>
      <p:sp>
        <p:nvSpPr>
          <p:cNvPr id="10" name="Item_text_3">
            <a:extLst>
              <a:ext uri="{FF2B5EF4-FFF2-40B4-BE49-F238E27FC236}">
                <a16:creationId xmlns:a16="http://schemas.microsoft.com/office/drawing/2014/main" id="{9775D6E6-3DC8-A0BB-F5D1-B87548928027}"/>
              </a:ext>
            </a:extLst>
          </p:cNvPr>
          <p:cNvSpPr txBox="1"/>
          <p:nvPr/>
        </p:nvSpPr>
        <p:spPr>
          <a:xfrm>
            <a:off x="965200" y="65912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Un enchaînement de tâches et de contrôles.</a:t>
            </a:r>
          </a:p>
        </p:txBody>
      </p:sp>
      <p:sp>
        <p:nvSpPr>
          <p:cNvPr id="11" name="Item_title_4">
            <a:extLst>
              <a:ext uri="{FF2B5EF4-FFF2-40B4-BE49-F238E27FC236}">
                <a16:creationId xmlns:a16="http://schemas.microsoft.com/office/drawing/2014/main" id="{2DD26EFC-04E3-8A6F-D0A4-F18293EE00B7}"/>
              </a:ext>
            </a:extLst>
          </p:cNvPr>
          <p:cNvSpPr txBox="1"/>
          <p:nvPr/>
        </p:nvSpPr>
        <p:spPr>
          <a:xfrm>
            <a:off x="8407400" y="60578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Ticket</a:t>
            </a:r>
          </a:p>
        </p:txBody>
      </p:sp>
      <p:sp>
        <p:nvSpPr>
          <p:cNvPr id="12" name="Item_text_4">
            <a:extLst>
              <a:ext uri="{FF2B5EF4-FFF2-40B4-BE49-F238E27FC236}">
                <a16:creationId xmlns:a16="http://schemas.microsoft.com/office/drawing/2014/main" id="{D696BF15-806A-38F9-4D9D-DEAB4B80D9B7}"/>
              </a:ext>
            </a:extLst>
          </p:cNvPr>
          <p:cNvSpPr txBox="1"/>
          <p:nvPr/>
        </p:nvSpPr>
        <p:spPr>
          <a:xfrm>
            <a:off x="8407400" y="65912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Un résultat attendu, un périmètre, un Done.</a:t>
            </a:r>
          </a:p>
        </p:txBody>
      </p:sp>
      <p:sp>
        <p:nvSpPr>
          <p:cNvPr id="13" name="Action">
            <a:extLst>
              <a:ext uri="{FF2B5EF4-FFF2-40B4-BE49-F238E27FC236}">
                <a16:creationId xmlns:a16="http://schemas.microsoft.com/office/drawing/2014/main" id="{486E3F3B-E217-B2AD-2243-71A731A7EAF7}"/>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2 min : décrivez votre ticket en une phrase.</a:t>
            </a:r>
          </a:p>
        </p:txBody>
      </p:sp>
    </p:spTree>
    <p:extLst>
      <p:ext uri="{BB962C8B-B14F-4D97-AF65-F5344CB8AC3E}">
        <p14:creationId xmlns:p14="http://schemas.microsoft.com/office/powerpoint/2010/main" val="3796425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e06">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8BDB5360-4D56-1A9E-DB4F-01F895D80C09}"/>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La méthode    06/36</a:t>
            </a:r>
          </a:p>
        </p:txBody>
      </p:sp>
      <p:sp>
        <p:nvSpPr>
          <p:cNvPr id="3" name="Titre">
            <a:extLst>
              <a:ext uri="{FF2B5EF4-FFF2-40B4-BE49-F238E27FC236}">
                <a16:creationId xmlns:a16="http://schemas.microsoft.com/office/drawing/2014/main" id="{F33B4468-FA4C-10C0-66B3-708962349533}"/>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Le contexte se choisit</a:t>
            </a:r>
          </a:p>
        </p:txBody>
      </p:sp>
      <p:sp>
        <p:nvSpPr>
          <p:cNvPr id="4" name="Idee">
            <a:extLst>
              <a:ext uri="{FF2B5EF4-FFF2-40B4-BE49-F238E27FC236}">
                <a16:creationId xmlns:a16="http://schemas.microsoft.com/office/drawing/2014/main" id="{4839B421-EF07-8BCF-80E4-E4C8E34EB7EB}"/>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Donnez ce qui change la décision de l’agent.</a:t>
            </a:r>
          </a:p>
        </p:txBody>
      </p:sp>
      <p:sp>
        <p:nvSpPr>
          <p:cNvPr id="5" name="Item_1">
            <a:extLst>
              <a:ext uri="{FF2B5EF4-FFF2-40B4-BE49-F238E27FC236}">
                <a16:creationId xmlns:a16="http://schemas.microsoft.com/office/drawing/2014/main" id="{274FCFAD-A8CD-C159-77BD-A57FC751BD31}"/>
              </a:ext>
            </a:extLst>
          </p:cNvPr>
          <p:cNvSpPr txBox="1"/>
          <p:nvPr/>
        </p:nvSpPr>
        <p:spPr>
          <a:xfrm>
            <a:off x="965200" y="41020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Garder :</a:t>
            </a:r>
            <a:r>
              <a:rPr lang="fr-FR" sz="2400">
                <a:solidFill>
                  <a:srgbClr val="F4EDE0"/>
                </a:solidFill>
                <a:latin typeface="Outfit" pitchFamily="2" charset="0"/>
              </a:rPr>
              <a:t> Besoin, ticket, conventions, fichiers et preuves.</a:t>
            </a:r>
          </a:p>
        </p:txBody>
      </p:sp>
      <p:sp>
        <p:nvSpPr>
          <p:cNvPr id="6" name="Item_2">
            <a:extLst>
              <a:ext uri="{FF2B5EF4-FFF2-40B4-BE49-F238E27FC236}">
                <a16:creationId xmlns:a16="http://schemas.microsoft.com/office/drawing/2014/main" id="{0CB27778-88AC-CB72-2C99-EB2410863B11}"/>
              </a:ext>
            </a:extLst>
          </p:cNvPr>
          <p:cNvSpPr txBox="1"/>
          <p:nvPr/>
        </p:nvSpPr>
        <p:spPr>
          <a:xfrm>
            <a:off x="965200" y="50736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Écarter :</a:t>
            </a:r>
            <a:r>
              <a:rPr lang="fr-FR" sz="2400">
                <a:solidFill>
                  <a:srgbClr val="F4EDE0"/>
                </a:solidFill>
                <a:latin typeface="Outfit" pitchFamily="2" charset="0"/>
              </a:rPr>
              <a:t> Journaux bruts, doublons et historique inutile.</a:t>
            </a:r>
          </a:p>
        </p:txBody>
      </p:sp>
      <p:sp>
        <p:nvSpPr>
          <p:cNvPr id="7" name="Item_3">
            <a:extLst>
              <a:ext uri="{FF2B5EF4-FFF2-40B4-BE49-F238E27FC236}">
                <a16:creationId xmlns:a16="http://schemas.microsoft.com/office/drawing/2014/main" id="{AEE225AC-9EBB-6850-6092-9F048896CA83}"/>
              </a:ext>
            </a:extLst>
          </p:cNvPr>
          <p:cNvSpPr txBox="1"/>
          <p:nvPr/>
        </p:nvSpPr>
        <p:spPr>
          <a:xfrm>
            <a:off x="965200" y="60451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Inspecter :</a:t>
            </a:r>
            <a:r>
              <a:rPr lang="fr-FR" sz="2400">
                <a:solidFill>
                  <a:srgbClr val="F4EDE0"/>
                </a:solidFill>
                <a:latin typeface="Outfit" pitchFamily="2" charset="0"/>
              </a:rPr>
              <a:t> /context montre l’occupation du contexte.</a:t>
            </a:r>
          </a:p>
        </p:txBody>
      </p:sp>
      <p:sp>
        <p:nvSpPr>
          <p:cNvPr id="8" name="Item_4">
            <a:extLst>
              <a:ext uri="{FF2B5EF4-FFF2-40B4-BE49-F238E27FC236}">
                <a16:creationId xmlns:a16="http://schemas.microsoft.com/office/drawing/2014/main" id="{58D22023-E0D6-FBD6-8CA9-5FAA9154CC0F}"/>
              </a:ext>
            </a:extLst>
          </p:cNvPr>
          <p:cNvSpPr txBox="1"/>
          <p:nvPr/>
        </p:nvSpPr>
        <p:spPr>
          <a:xfrm>
            <a:off x="965200" y="70167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Reprendre :</a:t>
            </a:r>
            <a:r>
              <a:rPr lang="fr-FR" sz="2400">
                <a:solidFill>
                  <a:srgbClr val="F4EDE0"/>
                </a:solidFill>
                <a:latin typeface="Outfit" pitchFamily="2" charset="0"/>
              </a:rPr>
              <a:t> /compact résume ; /resume retrouve une session.</a:t>
            </a:r>
          </a:p>
        </p:txBody>
      </p:sp>
      <p:sp>
        <p:nvSpPr>
          <p:cNvPr id="9" name="Code_label">
            <a:extLst>
              <a:ext uri="{FF2B5EF4-FFF2-40B4-BE49-F238E27FC236}">
                <a16:creationId xmlns:a16="http://schemas.microsoft.com/office/drawing/2014/main" id="{BC5C8453-9DCC-37A0-8509-7D599BD65D8B}"/>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10" name="Code">
            <a:extLst>
              <a:ext uri="{FF2B5EF4-FFF2-40B4-BE49-F238E27FC236}">
                <a16:creationId xmlns:a16="http://schemas.microsoft.com/office/drawing/2014/main" id="{B0054DF2-E7EC-61B2-238D-30D7B85E4045}"/>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Résume la session pour une reprise :</a:t>
            </a:r>
          </a:p>
          <a:p>
            <a:r>
              <a:rPr lang="fr-FR" sz="2200">
                <a:solidFill>
                  <a:srgbClr val="F4EDE0"/>
                </a:solidFill>
                <a:latin typeface="JetBrains Mono" panose="02000009000000000000" pitchFamily="49" charset="0"/>
              </a:rPr>
              <a:t>objectif, décisions, fichiers, preuves</a:t>
            </a:r>
          </a:p>
          <a:p>
            <a:r>
              <a:rPr lang="fr-FR" sz="2200">
                <a:solidFill>
                  <a:srgbClr val="F4EDE0"/>
                </a:solidFill>
                <a:latin typeface="JetBrains Mono" panose="02000009000000000000" pitchFamily="49" charset="0"/>
              </a:rPr>
              <a:t>et blocages.</a:t>
            </a:r>
          </a:p>
          <a:p>
            <a:r>
              <a:rPr lang="fr-FR" sz="2200">
                <a:solidFill>
                  <a:srgbClr val="F4EDE0"/>
                </a:solidFill>
                <a:latin typeface="JetBrains Mono" panose="02000009000000000000" pitchFamily="49" charset="0"/>
              </a:rPr>
              <a:t>Sépare ce qui est confirmé de ce qui</a:t>
            </a:r>
          </a:p>
          <a:p>
            <a:r>
              <a:rPr lang="fr-FR" sz="2200">
                <a:solidFill>
                  <a:srgbClr val="F4EDE0"/>
                </a:solidFill>
                <a:latin typeface="JetBrains Mono" panose="02000009000000000000" pitchFamily="49" charset="0"/>
              </a:rPr>
              <a:t>reste à vérifier.</a:t>
            </a:r>
          </a:p>
        </p:txBody>
      </p:sp>
      <p:sp>
        <p:nvSpPr>
          <p:cNvPr id="11" name="Action">
            <a:extLst>
              <a:ext uri="{FF2B5EF4-FFF2-40B4-BE49-F238E27FC236}">
                <a16:creationId xmlns:a16="http://schemas.microsoft.com/office/drawing/2014/main" id="{3B8FA61F-89DE-C356-6611-C02F00CE3DE5}"/>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3 min : gardez cinq faits utiles pour votre ticket.</a:t>
            </a:r>
          </a:p>
        </p:txBody>
      </p:sp>
    </p:spTree>
    <p:extLst>
      <p:ext uri="{BB962C8B-B14F-4D97-AF65-F5344CB8AC3E}">
        <p14:creationId xmlns:p14="http://schemas.microsoft.com/office/powerpoint/2010/main" val="2319339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e07">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C6F2022E-3FC6-E862-4B9A-9D0F3A372109}"/>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La méthode    07/36</a:t>
            </a:r>
          </a:p>
        </p:txBody>
      </p:sp>
      <p:sp>
        <p:nvSpPr>
          <p:cNvPr id="3" name="Titre">
            <a:extLst>
              <a:ext uri="{FF2B5EF4-FFF2-40B4-BE49-F238E27FC236}">
                <a16:creationId xmlns:a16="http://schemas.microsoft.com/office/drawing/2014/main" id="{B1573E83-77E1-F906-8D36-36426709F3B7}"/>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Cinq étapes. Trois points de contrôle</a:t>
            </a:r>
          </a:p>
        </p:txBody>
      </p:sp>
      <p:sp>
        <p:nvSpPr>
          <p:cNvPr id="4" name="Idee">
            <a:extLst>
              <a:ext uri="{FF2B5EF4-FFF2-40B4-BE49-F238E27FC236}">
                <a16:creationId xmlns:a16="http://schemas.microsoft.com/office/drawing/2014/main" id="{8A5F949C-5763-BA53-F718-A7631C07D15E}"/>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Relisez le plan, contrôlez chaque lot, vérifiez avant de fusionner.</a:t>
            </a:r>
          </a:p>
        </p:txBody>
      </p:sp>
      <p:sp>
        <p:nvSpPr>
          <p:cNvPr id="5" name="Item_1">
            <a:extLst>
              <a:ext uri="{FF2B5EF4-FFF2-40B4-BE49-F238E27FC236}">
                <a16:creationId xmlns:a16="http://schemas.microsoft.com/office/drawing/2014/main" id="{0B88E626-BFC6-54B1-7CFC-2494C314052F}"/>
              </a:ext>
            </a:extLst>
          </p:cNvPr>
          <p:cNvSpPr txBox="1"/>
          <p:nvPr/>
        </p:nvSpPr>
        <p:spPr>
          <a:xfrm>
            <a:off x="965200" y="41909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1 Cadrer :</a:t>
            </a:r>
            <a:r>
              <a:rPr lang="fr-FR" sz="2700">
                <a:solidFill>
                  <a:srgbClr val="F4EDE0"/>
                </a:solidFill>
                <a:latin typeface="Outfit" pitchFamily="2" charset="0"/>
              </a:rPr>
              <a:t> Un résultat mesurable et un ticket Ready.</a:t>
            </a:r>
          </a:p>
        </p:txBody>
      </p:sp>
      <p:sp>
        <p:nvSpPr>
          <p:cNvPr id="6" name="Item_2">
            <a:extLst>
              <a:ext uri="{FF2B5EF4-FFF2-40B4-BE49-F238E27FC236}">
                <a16:creationId xmlns:a16="http://schemas.microsoft.com/office/drawing/2014/main" id="{D0ACB583-F5EE-516D-1F64-6EEA685C53B1}"/>
              </a:ext>
            </a:extLst>
          </p:cNvPr>
          <p:cNvSpPr txBox="1"/>
          <p:nvPr/>
        </p:nvSpPr>
        <p:spPr>
          <a:xfrm>
            <a:off x="965200" y="49148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2 Donner le contexte :</a:t>
            </a:r>
            <a:r>
              <a:rPr lang="fr-FR" sz="2700">
                <a:solidFill>
                  <a:srgbClr val="F4EDE0"/>
                </a:solidFill>
                <a:latin typeface="Outfit" pitchFamily="2" charset="0"/>
              </a:rPr>
              <a:t> Les bons fichiers et les frontières.</a:t>
            </a:r>
          </a:p>
        </p:txBody>
      </p:sp>
      <p:sp>
        <p:nvSpPr>
          <p:cNvPr id="7" name="Item_3">
            <a:extLst>
              <a:ext uri="{FF2B5EF4-FFF2-40B4-BE49-F238E27FC236}">
                <a16:creationId xmlns:a16="http://schemas.microsoft.com/office/drawing/2014/main" id="{330B7271-01E0-512B-3099-302397CA5AD5}"/>
              </a:ext>
            </a:extLst>
          </p:cNvPr>
          <p:cNvSpPr txBox="1"/>
          <p:nvPr/>
        </p:nvSpPr>
        <p:spPr>
          <a:xfrm>
            <a:off x="965200" y="56387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3 Améliorer le prompt :</a:t>
            </a:r>
            <a:r>
              <a:rPr lang="fr-FR" sz="2700">
                <a:solidFill>
                  <a:srgbClr val="F4EDE0"/>
                </a:solidFill>
                <a:latin typeface="Outfit" pitchFamily="2" charset="0"/>
              </a:rPr>
              <a:t> Cinq blocs, une demande exécutable.</a:t>
            </a:r>
          </a:p>
        </p:txBody>
      </p:sp>
      <p:sp>
        <p:nvSpPr>
          <p:cNvPr id="8" name="Item_4">
            <a:extLst>
              <a:ext uri="{FF2B5EF4-FFF2-40B4-BE49-F238E27FC236}">
                <a16:creationId xmlns:a16="http://schemas.microsoft.com/office/drawing/2014/main" id="{87A7942E-D3D3-B058-B36F-8CFADA36C741}"/>
              </a:ext>
            </a:extLst>
          </p:cNvPr>
          <p:cNvSpPr txBox="1"/>
          <p:nvPr/>
        </p:nvSpPr>
        <p:spPr>
          <a:xfrm>
            <a:off x="965200" y="63626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4 Lancer :</a:t>
            </a:r>
            <a:r>
              <a:rPr lang="fr-FR" sz="2700">
                <a:solidFill>
                  <a:srgbClr val="F4EDE0"/>
                </a:solidFill>
                <a:latin typeface="Outfit" pitchFamily="2" charset="0"/>
              </a:rPr>
              <a:t> Un lot attribué, un agent responsable.</a:t>
            </a:r>
          </a:p>
        </p:txBody>
      </p:sp>
      <p:sp>
        <p:nvSpPr>
          <p:cNvPr id="9" name="Item_5">
            <a:extLst>
              <a:ext uri="{FF2B5EF4-FFF2-40B4-BE49-F238E27FC236}">
                <a16:creationId xmlns:a16="http://schemas.microsoft.com/office/drawing/2014/main" id="{76AF5232-7DF6-7EBE-43C7-EBBE1A7273FE}"/>
              </a:ext>
            </a:extLst>
          </p:cNvPr>
          <p:cNvSpPr txBox="1"/>
          <p:nvPr/>
        </p:nvSpPr>
        <p:spPr>
          <a:xfrm>
            <a:off x="965200" y="70865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5 Vérifier et garder :</a:t>
            </a:r>
            <a:r>
              <a:rPr lang="fr-FR" sz="2700">
                <a:solidFill>
                  <a:srgbClr val="F4EDE0"/>
                </a:solidFill>
                <a:latin typeface="Outfit" pitchFamily="2" charset="0"/>
              </a:rPr>
              <a:t> Une preuve, puis une connaissance réutilisable.</a:t>
            </a:r>
          </a:p>
        </p:txBody>
      </p:sp>
      <p:sp>
        <p:nvSpPr>
          <p:cNvPr id="10" name="Action">
            <a:extLst>
              <a:ext uri="{FF2B5EF4-FFF2-40B4-BE49-F238E27FC236}">
                <a16:creationId xmlns:a16="http://schemas.microsoft.com/office/drawing/2014/main" id="{48B2E89F-538D-BFCD-EE6B-6641F3BB935B}"/>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Choisissez l’étape qui manque aujourd’hui à votre pratique.</a:t>
            </a:r>
          </a:p>
        </p:txBody>
      </p:sp>
    </p:spTree>
    <p:extLst>
      <p:ext uri="{BB962C8B-B14F-4D97-AF65-F5344CB8AC3E}">
        <p14:creationId xmlns:p14="http://schemas.microsoft.com/office/powerpoint/2010/main" val="2875606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e08">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A028D7B5-EA4A-F967-2FE6-B39CA2E2CE74}"/>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La méthode    08/36</a:t>
            </a:r>
          </a:p>
        </p:txBody>
      </p:sp>
      <p:sp>
        <p:nvSpPr>
          <p:cNvPr id="3" name="Titre">
            <a:extLst>
              <a:ext uri="{FF2B5EF4-FFF2-40B4-BE49-F238E27FC236}">
                <a16:creationId xmlns:a16="http://schemas.microsoft.com/office/drawing/2014/main" id="{0514E422-0174-5FCD-4F55-5E2B02B2FCF9}"/>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1 Cadrer</a:t>
            </a:r>
          </a:p>
        </p:txBody>
      </p:sp>
      <p:sp>
        <p:nvSpPr>
          <p:cNvPr id="4" name="Idee">
            <a:extLst>
              <a:ext uri="{FF2B5EF4-FFF2-40B4-BE49-F238E27FC236}">
                <a16:creationId xmlns:a16="http://schemas.microsoft.com/office/drawing/2014/main" id="{B220610C-41D8-8E1D-2E3B-5E75D19A49E7}"/>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Un ticket devient Ready quand l’agent peut commencer sans deviner.</a:t>
            </a:r>
          </a:p>
        </p:txBody>
      </p:sp>
      <p:sp>
        <p:nvSpPr>
          <p:cNvPr id="5" name="Item_1">
            <a:extLst>
              <a:ext uri="{FF2B5EF4-FFF2-40B4-BE49-F238E27FC236}">
                <a16:creationId xmlns:a16="http://schemas.microsoft.com/office/drawing/2014/main" id="{692C4918-25F9-31ED-3D51-E44F7E933BB6}"/>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Objectif SMART :</a:t>
            </a:r>
            <a:r>
              <a:rPr lang="fr-FR" sz="2600">
                <a:solidFill>
                  <a:srgbClr val="F4EDE0"/>
                </a:solidFill>
                <a:latin typeface="Outfit" pitchFamily="2" charset="0"/>
              </a:rPr>
              <a:t> Spécifique, mesurable, atteignable, utile, daté.</a:t>
            </a:r>
          </a:p>
        </p:txBody>
      </p:sp>
      <p:sp>
        <p:nvSpPr>
          <p:cNvPr id="6" name="Item_2">
            <a:extLst>
              <a:ext uri="{FF2B5EF4-FFF2-40B4-BE49-F238E27FC236}">
                <a16:creationId xmlns:a16="http://schemas.microsoft.com/office/drawing/2014/main" id="{3BAEE590-7901-55B1-EECD-FE9BE7D10D73}"/>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Ready :</a:t>
            </a:r>
            <a:r>
              <a:rPr lang="fr-FR" sz="2600">
                <a:solidFill>
                  <a:srgbClr val="F4EDE0"/>
                </a:solidFill>
                <a:latin typeface="Outfit" pitchFamily="2" charset="0"/>
              </a:rPr>
              <a:t> Données, contrat et périmètre disponibles.</a:t>
            </a:r>
          </a:p>
        </p:txBody>
      </p:sp>
      <p:sp>
        <p:nvSpPr>
          <p:cNvPr id="7" name="Item_3">
            <a:extLst>
              <a:ext uri="{FF2B5EF4-FFF2-40B4-BE49-F238E27FC236}">
                <a16:creationId xmlns:a16="http://schemas.microsoft.com/office/drawing/2014/main" id="{9E92BA0E-6117-D945-5EA6-C593F41D83F7}"/>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Done :</a:t>
            </a:r>
            <a:r>
              <a:rPr lang="fr-FR" sz="2600">
                <a:solidFill>
                  <a:srgbClr val="F4EDE0"/>
                </a:solidFill>
                <a:latin typeface="Outfit" pitchFamily="2" charset="0"/>
              </a:rPr>
              <a:t> Résultats visibles et validation reproductible.</a:t>
            </a:r>
          </a:p>
        </p:txBody>
      </p:sp>
      <p:sp>
        <p:nvSpPr>
          <p:cNvPr id="8" name="Code_label">
            <a:extLst>
              <a:ext uri="{FF2B5EF4-FFF2-40B4-BE49-F238E27FC236}">
                <a16:creationId xmlns:a16="http://schemas.microsoft.com/office/drawing/2014/main" id="{E472F6A0-D087-64B9-1848-1A522F42F835}"/>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9" name="Code">
            <a:extLst>
              <a:ext uri="{FF2B5EF4-FFF2-40B4-BE49-F238E27FC236}">
                <a16:creationId xmlns:a16="http://schemas.microsoft.com/office/drawing/2014/main" id="{20501ECC-1B14-BAC0-20DB-C4CF21F5704F}"/>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/ticket-ready Afficher les organismes</a:t>
            </a:r>
          </a:p>
          <a:p>
            <a:r>
              <a:rPr lang="fr-FR" sz="2200">
                <a:solidFill>
                  <a:srgbClr val="F4EDE0"/>
                </a:solidFill>
                <a:latin typeface="JetBrains Mono" panose="02000009000000000000" pitchFamily="49" charset="0"/>
              </a:rPr>
              <a:t>du jeu validé</a:t>
            </a:r>
          </a:p>
          <a:p>
            <a:r>
              <a:rPr lang="fr-FR" sz="2200">
                <a:solidFill>
                  <a:srgbClr val="F4EDE0"/>
                </a:solidFill>
                <a:latin typeface="JetBrains Mono" panose="02000009000000000000" pitchFamily="49" charset="0"/>
              </a:rPr>
              <a:t>avec nom, source et moyens de contact</a:t>
            </a:r>
          </a:p>
          <a:p>
            <a:r>
              <a:rPr lang="fr-FR" sz="2200">
                <a:solidFill>
                  <a:srgbClr val="F4EDE0"/>
                </a:solidFill>
                <a:latin typeface="JetBrains Mono" panose="02000009000000000000" pitchFamily="49" charset="0"/>
              </a:rPr>
              <a:t>disponibles.</a:t>
            </a:r>
          </a:p>
          <a:p>
            <a:r>
              <a:rPr lang="fr-FR" sz="2200">
                <a:solidFill>
                  <a:srgbClr val="F4EDE0"/>
                </a:solidFill>
                <a:latin typeface="JetBrains Mono" panose="02000009000000000000" pitchFamily="49" charset="0"/>
              </a:rPr>
              <a:t>Lot : src/features/annuaire/. Échéance</a:t>
            </a:r>
          </a:p>
          <a:p>
            <a:r>
              <a:rPr lang="fr-FR" sz="2200">
                <a:solidFill>
                  <a:srgbClr val="F4EDE0"/>
                </a:solidFill>
                <a:latin typeface="JetBrains Mono" panose="02000009000000000000" pitchFamily="49" charset="0"/>
              </a:rPr>
              <a:t>: 10h45.</a:t>
            </a:r>
          </a:p>
        </p:txBody>
      </p:sp>
      <p:sp>
        <p:nvSpPr>
          <p:cNvPr id="10" name="Action">
            <a:extLst>
              <a:ext uri="{FF2B5EF4-FFF2-40B4-BE49-F238E27FC236}">
                <a16:creationId xmlns:a16="http://schemas.microsoft.com/office/drawing/2014/main" id="{1C76D55E-D28E-CF99-A6EA-9F88A8F4FE75}"/>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5 min : rendez votre ticket Ready.</a:t>
            </a:r>
          </a:p>
        </p:txBody>
      </p:sp>
    </p:spTree>
    <p:extLst>
      <p:ext uri="{BB962C8B-B14F-4D97-AF65-F5344CB8AC3E}">
        <p14:creationId xmlns:p14="http://schemas.microsoft.com/office/powerpoint/2010/main" val="3003281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e09">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6C1CBCEE-E29E-0438-D333-627C956CF63B}"/>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La méthode    09/36</a:t>
            </a:r>
          </a:p>
        </p:txBody>
      </p:sp>
      <p:sp>
        <p:nvSpPr>
          <p:cNvPr id="3" name="Titre">
            <a:extLst>
              <a:ext uri="{FF2B5EF4-FFF2-40B4-BE49-F238E27FC236}">
                <a16:creationId xmlns:a16="http://schemas.microsoft.com/office/drawing/2014/main" id="{1E30FAAC-0851-8981-F733-D3CCDD0DFFAD}"/>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2 Donner le contexte</a:t>
            </a:r>
          </a:p>
        </p:txBody>
      </p:sp>
      <p:sp>
        <p:nvSpPr>
          <p:cNvPr id="4" name="Idee">
            <a:extLst>
              <a:ext uri="{FF2B5EF4-FFF2-40B4-BE49-F238E27FC236}">
                <a16:creationId xmlns:a16="http://schemas.microsoft.com/office/drawing/2014/main" id="{0E02150F-52B5-0444-3404-C653F78A63C3}"/>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Un dossier attribué et un contrat commun évitent les collisions.</a:t>
            </a:r>
          </a:p>
        </p:txBody>
      </p:sp>
      <p:sp>
        <p:nvSpPr>
          <p:cNvPr id="5" name="Item_1">
            <a:extLst>
              <a:ext uri="{FF2B5EF4-FFF2-40B4-BE49-F238E27FC236}">
                <a16:creationId xmlns:a16="http://schemas.microsoft.com/office/drawing/2014/main" id="{9FA03AF2-2F79-2975-37BF-66876592A620}"/>
              </a:ext>
            </a:extLst>
          </p:cNvPr>
          <p:cNvSpPr txBox="1"/>
          <p:nvPr/>
        </p:nvSpPr>
        <p:spPr>
          <a:xfrm>
            <a:off x="965200" y="41020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Lire :</a:t>
            </a:r>
            <a:r>
              <a:rPr lang="fr-FR" sz="2400">
                <a:solidFill>
                  <a:srgbClr val="F4EDE0"/>
                </a:solidFill>
                <a:latin typeface="Outfit" pitchFamily="2" charset="0"/>
              </a:rPr>
              <a:t> CLAUDE.md, README et les conventions.</a:t>
            </a:r>
          </a:p>
        </p:txBody>
      </p:sp>
      <p:sp>
        <p:nvSpPr>
          <p:cNvPr id="6" name="Item_2">
            <a:extLst>
              <a:ext uri="{FF2B5EF4-FFF2-40B4-BE49-F238E27FC236}">
                <a16:creationId xmlns:a16="http://schemas.microsoft.com/office/drawing/2014/main" id="{651208D0-89F7-4C62-89A3-8B6F5C9D23AB}"/>
              </a:ext>
            </a:extLst>
          </p:cNvPr>
          <p:cNvSpPr txBox="1"/>
          <p:nvPr/>
        </p:nvSpPr>
        <p:spPr>
          <a:xfrm>
            <a:off x="965200" y="50736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Attribuer :</a:t>
            </a:r>
            <a:r>
              <a:rPr lang="fr-FR" sz="2400">
                <a:solidFill>
                  <a:srgbClr val="F4EDE0"/>
                </a:solidFill>
                <a:latin typeface="Outfit" pitchFamily="2" charset="0"/>
              </a:rPr>
              <a:t> Un lot possède son dossier src/features/.</a:t>
            </a:r>
          </a:p>
        </p:txBody>
      </p:sp>
      <p:sp>
        <p:nvSpPr>
          <p:cNvPr id="7" name="Item_3">
            <a:extLst>
              <a:ext uri="{FF2B5EF4-FFF2-40B4-BE49-F238E27FC236}">
                <a16:creationId xmlns:a16="http://schemas.microsoft.com/office/drawing/2014/main" id="{790B4C33-E4C1-B2BA-77CC-17696F98D609}"/>
              </a:ext>
            </a:extLst>
          </p:cNvPr>
          <p:cNvSpPr txBox="1"/>
          <p:nvPr/>
        </p:nvSpPr>
        <p:spPr>
          <a:xfrm>
            <a:off x="965200" y="60451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Partager :</a:t>
            </a:r>
            <a:r>
              <a:rPr lang="fr-FR" sz="2400">
                <a:solidFill>
                  <a:srgbClr val="F4EDE0"/>
                </a:solidFill>
                <a:latin typeface="Outfit" pitchFamily="2" charset="0"/>
              </a:rPr>
              <a:t> Types et signatures dans src/types/.</a:t>
            </a:r>
          </a:p>
        </p:txBody>
      </p:sp>
      <p:sp>
        <p:nvSpPr>
          <p:cNvPr id="8" name="Item_4">
            <a:extLst>
              <a:ext uri="{FF2B5EF4-FFF2-40B4-BE49-F238E27FC236}">
                <a16:creationId xmlns:a16="http://schemas.microsoft.com/office/drawing/2014/main" id="{66DADC63-7339-3BA3-9216-1381BBB8354A}"/>
              </a:ext>
            </a:extLst>
          </p:cNvPr>
          <p:cNvSpPr txBox="1"/>
          <p:nvPr/>
        </p:nvSpPr>
        <p:spPr>
          <a:xfrm>
            <a:off x="965200" y="70167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Préserver :</a:t>
            </a:r>
            <a:r>
              <a:rPr lang="fr-FR" sz="2400">
                <a:solidFill>
                  <a:srgbClr val="F4EDE0"/>
                </a:solidFill>
                <a:latin typeface="Outfit" pitchFamily="2" charset="0"/>
              </a:rPr>
              <a:t> Les secrets et les fichiers des autres lots.</a:t>
            </a:r>
          </a:p>
        </p:txBody>
      </p:sp>
      <p:sp>
        <p:nvSpPr>
          <p:cNvPr id="9" name="Code_label">
            <a:extLst>
              <a:ext uri="{FF2B5EF4-FFF2-40B4-BE49-F238E27FC236}">
                <a16:creationId xmlns:a16="http://schemas.microsoft.com/office/drawing/2014/main" id="{07B46A51-50FF-AC81-783A-80B1426255DC}"/>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10" name="Code">
            <a:extLst>
              <a:ext uri="{FF2B5EF4-FFF2-40B4-BE49-F238E27FC236}">
                <a16:creationId xmlns:a16="http://schemas.microsoft.com/office/drawing/2014/main" id="{0CB3F136-B01B-524E-0734-DE800BF0914C}"/>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Lis CLAUDE.md, README.md et</a:t>
            </a:r>
          </a:p>
          <a:p>
            <a:r>
              <a:rPr lang="fr-FR" sz="2200">
                <a:solidFill>
                  <a:srgbClr val="F4EDE0"/>
                </a:solidFill>
                <a:latin typeface="JetBrains Mono" panose="02000009000000000000" pitchFamily="49" charset="0"/>
              </a:rPr>
              <a:t>docs/CONVENTIONS.md.</a:t>
            </a:r>
          </a:p>
          <a:p>
            <a:r>
              <a:rPr lang="fr-FR" sz="2200">
                <a:solidFill>
                  <a:srgbClr val="F4EDE0"/>
                </a:solidFill>
                <a:latin typeface="JetBrains Mono" panose="02000009000000000000" pitchFamily="49" charset="0"/>
              </a:rPr>
              <a:t>Lis src/types/orientation.ts s’il</a:t>
            </a:r>
          </a:p>
          <a:p>
            <a:r>
              <a:rPr lang="fr-FR" sz="2200">
                <a:solidFill>
                  <a:srgbClr val="F4EDE0"/>
                </a:solidFill>
                <a:latin typeface="JetBrains Mono" panose="02000009000000000000" pitchFamily="49" charset="0"/>
              </a:rPr>
              <a:t>existe.</a:t>
            </a:r>
          </a:p>
          <a:p>
            <a:r>
              <a:rPr lang="fr-FR" sz="2200">
                <a:solidFill>
                  <a:srgbClr val="F4EDE0"/>
                </a:solidFill>
                <a:latin typeface="JetBrains Mono" panose="02000009000000000000" pitchFamily="49" charset="0"/>
              </a:rPr>
              <a:t>Mon lot : src/features/annuaire/.</a:t>
            </a:r>
          </a:p>
          <a:p>
            <a:r>
              <a:rPr lang="fr-FR" sz="2200">
                <a:solidFill>
                  <a:srgbClr val="F4EDE0"/>
                </a:solidFill>
                <a:latin typeface="JetBrains Mono" panose="02000009000000000000" pitchFamily="49" charset="0"/>
              </a:rPr>
              <a:t>Signale tout fichier manquant. Propose</a:t>
            </a:r>
          </a:p>
          <a:p>
            <a:r>
              <a:rPr lang="fr-FR" sz="2200">
                <a:solidFill>
                  <a:srgbClr val="F4EDE0"/>
                </a:solidFill>
                <a:latin typeface="JetBrains Mono" panose="02000009000000000000" pitchFamily="49" charset="0"/>
              </a:rPr>
              <a:t>un plan, sans coder.</a:t>
            </a:r>
          </a:p>
        </p:txBody>
      </p:sp>
      <p:sp>
        <p:nvSpPr>
          <p:cNvPr id="11" name="Action">
            <a:extLst>
              <a:ext uri="{FF2B5EF4-FFF2-40B4-BE49-F238E27FC236}">
                <a16:creationId xmlns:a16="http://schemas.microsoft.com/office/drawing/2014/main" id="{FFAEE69D-37F6-1619-F704-4D393D7E09DF}"/>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3 min : montrez les fichiers autorisés de votre lot.</a:t>
            </a:r>
          </a:p>
        </p:txBody>
      </p:sp>
    </p:spTree>
    <p:extLst>
      <p:ext uri="{BB962C8B-B14F-4D97-AF65-F5344CB8AC3E}">
        <p14:creationId xmlns:p14="http://schemas.microsoft.com/office/powerpoint/2010/main" val="2589425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e10">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292ED5CC-1E69-F835-03DA-2A9FE30C23E7}"/>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La méthode    10/36</a:t>
            </a:r>
          </a:p>
        </p:txBody>
      </p:sp>
      <p:sp>
        <p:nvSpPr>
          <p:cNvPr id="3" name="Titre">
            <a:extLst>
              <a:ext uri="{FF2B5EF4-FFF2-40B4-BE49-F238E27FC236}">
                <a16:creationId xmlns:a16="http://schemas.microsoft.com/office/drawing/2014/main" id="{CFDA5E79-1C17-62D0-81B6-750AC5DD9593}"/>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3 Améliorer le prompt</a:t>
            </a:r>
          </a:p>
        </p:txBody>
      </p:sp>
      <p:sp>
        <p:nvSpPr>
          <p:cNvPr id="4" name="Idee">
            <a:extLst>
              <a:ext uri="{FF2B5EF4-FFF2-40B4-BE49-F238E27FC236}">
                <a16:creationId xmlns:a16="http://schemas.microsoft.com/office/drawing/2014/main" id="{A0AA697A-E960-AFA2-B0B6-7F8AFE7B3CF6}"/>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Remplacez « fais le chatbot » par cinq blocs précis.</a:t>
            </a:r>
          </a:p>
        </p:txBody>
      </p:sp>
      <p:sp>
        <p:nvSpPr>
          <p:cNvPr id="5" name="Item_1">
            <a:extLst>
              <a:ext uri="{FF2B5EF4-FFF2-40B4-BE49-F238E27FC236}">
                <a16:creationId xmlns:a16="http://schemas.microsoft.com/office/drawing/2014/main" id="{223B5CC6-8BA4-FA27-0E26-BAB6288808A7}"/>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Rôle + contexte :</a:t>
            </a:r>
            <a:r>
              <a:rPr lang="fr-FR" sz="2600">
                <a:solidFill>
                  <a:srgbClr val="F4EDE0"/>
                </a:solidFill>
                <a:latin typeface="Outfit" pitchFamily="2" charset="0"/>
              </a:rPr>
              <a:t> Qui agit, sur quels fichiers et données.</a:t>
            </a:r>
          </a:p>
        </p:txBody>
      </p:sp>
      <p:sp>
        <p:nvSpPr>
          <p:cNvPr id="6" name="Item_2">
            <a:extLst>
              <a:ext uri="{FF2B5EF4-FFF2-40B4-BE49-F238E27FC236}">
                <a16:creationId xmlns:a16="http://schemas.microsoft.com/office/drawing/2014/main" id="{13AE96F7-4DA1-DE0F-1C33-E9479C0DC7CC}"/>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Tâche :</a:t>
            </a:r>
            <a:r>
              <a:rPr lang="fr-FR" sz="2600">
                <a:solidFill>
                  <a:srgbClr val="F4EDE0"/>
                </a:solidFill>
                <a:latin typeface="Outfit" pitchFamily="2" charset="0"/>
              </a:rPr>
              <a:t> Une action et un résultat attendu.</a:t>
            </a:r>
          </a:p>
        </p:txBody>
      </p:sp>
      <p:sp>
        <p:nvSpPr>
          <p:cNvPr id="7" name="Item_3">
            <a:extLst>
              <a:ext uri="{FF2B5EF4-FFF2-40B4-BE49-F238E27FC236}">
                <a16:creationId xmlns:a16="http://schemas.microsoft.com/office/drawing/2014/main" id="{07A48224-DFAA-C85A-8CF3-66E40C500165}"/>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Contraintes + exemples :</a:t>
            </a:r>
            <a:r>
              <a:rPr lang="fr-FR" sz="2600">
                <a:solidFill>
                  <a:srgbClr val="F4EDE0"/>
                </a:solidFill>
                <a:latin typeface="Outfit" pitchFamily="2" charset="0"/>
              </a:rPr>
              <a:t> Les limites et un cas observable.</a:t>
            </a:r>
          </a:p>
        </p:txBody>
      </p:sp>
      <p:sp>
        <p:nvSpPr>
          <p:cNvPr id="8" name="Code_label">
            <a:extLst>
              <a:ext uri="{FF2B5EF4-FFF2-40B4-BE49-F238E27FC236}">
                <a16:creationId xmlns:a16="http://schemas.microsoft.com/office/drawing/2014/main" id="{358E1504-08FD-86F0-34BE-528818557C64}"/>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 · extrait</a:t>
            </a:r>
          </a:p>
        </p:txBody>
      </p:sp>
      <p:sp>
        <p:nvSpPr>
          <p:cNvPr id="9" name="Code">
            <a:extLst>
              <a:ext uri="{FF2B5EF4-FFF2-40B4-BE49-F238E27FC236}">
                <a16:creationId xmlns:a16="http://schemas.microsoft.com/office/drawing/2014/main" id="{E7F622A6-97B4-992D-FBE1-E801AFD8AE2E}"/>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[RÔLE] Développeur front de ce dépôt.</a:t>
            </a:r>
          </a:p>
          <a:p>
            <a:r>
              <a:rPr lang="fr-FR" sz="2200">
                <a:solidFill>
                  <a:srgbClr val="F4EDE0"/>
                </a:solidFill>
                <a:latin typeface="JetBrains Mono" panose="02000009000000000000" pitchFamily="49" charset="0"/>
              </a:rPr>
              <a:t>[CONTEXTE] Lot src/features/annuaire/,</a:t>
            </a:r>
          </a:p>
          <a:p>
            <a:r>
              <a:rPr lang="fr-FR" sz="2200">
                <a:solidFill>
                  <a:srgbClr val="F4EDE0"/>
                </a:solidFill>
                <a:latin typeface="JetBrains Mono" panose="02000009000000000000" pitchFamily="49" charset="0"/>
              </a:rPr>
              <a:t>données validées.</a:t>
            </a:r>
          </a:p>
          <a:p>
            <a:r>
              <a:rPr lang="fr-FR" sz="2200">
                <a:solidFill>
                  <a:srgbClr val="F4EDE0"/>
                </a:solidFill>
                <a:latin typeface="JetBrains Mono" panose="02000009000000000000" pitchFamily="49" charset="0"/>
              </a:rPr>
              <a:t>[TÂCHE] Affiche le nom, la source et</a:t>
            </a:r>
          </a:p>
          <a:p>
            <a:r>
              <a:rPr lang="fr-FR" sz="2200">
                <a:solidFill>
                  <a:srgbClr val="F4EDE0"/>
                </a:solidFill>
                <a:latin typeface="JetBrains Mono" panose="02000009000000000000" pitchFamily="49" charset="0"/>
              </a:rPr>
              <a:t>les contacts disponibles.</a:t>
            </a:r>
          </a:p>
          <a:p>
            <a:r>
              <a:rPr lang="fr-FR" sz="2200">
                <a:solidFill>
                  <a:srgbClr val="F4EDE0"/>
                </a:solidFill>
                <a:latin typeface="JetBrains Mono" panose="02000009000000000000" pitchFamily="49" charset="0"/>
              </a:rPr>
              <a:t>[CONTRAINTES] Respecte</a:t>
            </a:r>
          </a:p>
          <a:p>
            <a:r>
              <a:rPr lang="fr-FR" sz="2200">
                <a:solidFill>
                  <a:srgbClr val="F4EDE0"/>
                </a:solidFill>
                <a:latin typeface="JetBrains Mono" panose="02000009000000000000" pitchFamily="49" charset="0"/>
              </a:rPr>
              <a:t>src/types/orientation.ts.</a:t>
            </a:r>
          </a:p>
        </p:txBody>
      </p:sp>
      <p:sp>
        <p:nvSpPr>
          <p:cNvPr id="10" name="Code_complet">
            <a:extLst>
              <a:ext uri="{FF2B5EF4-FFF2-40B4-BE49-F238E27FC236}">
                <a16:creationId xmlns:a16="http://schemas.microsoft.com/office/drawing/2014/main" id="{3693CB6C-E4FC-6608-C935-F5310634BD1C}"/>
              </a:ext>
            </a:extLst>
          </p:cNvPr>
          <p:cNvSpPr txBox="1"/>
          <p:nvPr/>
        </p:nvSpPr>
        <p:spPr>
          <a:xfrm>
            <a:off x="8636000" y="7518399"/>
            <a:ext cx="6654800" cy="660400"/>
          </a:xfrm>
          <a:prstGeom prst="rect">
            <a:avLst/>
          </a:prstGeom>
          <a:noFill/>
        </p:spPr>
        <p:txBody>
          <a:bodyPr vert="horz" wrap="square" lIns="0" tIns="0" rIns="0" bIns="0" rtlCol="0">
            <a:noAutofit/>
          </a:bodyPr>
          <a:lstStyle/>
          <a:p>
            <a:r>
              <a:rPr lang="fr-FR" sz="2000">
                <a:solidFill>
                  <a:srgbClr val="A8A297"/>
                </a:solidFill>
                <a:latin typeface="Outfit" pitchFamily="2" charset="0"/>
              </a:rPr>
              <a:t>Prompt complet dans les notes et le HTML</a:t>
            </a:r>
          </a:p>
        </p:txBody>
      </p:sp>
      <p:sp>
        <p:nvSpPr>
          <p:cNvPr id="11" name="Action">
            <a:extLst>
              <a:ext uri="{FF2B5EF4-FFF2-40B4-BE49-F238E27FC236}">
                <a16:creationId xmlns:a16="http://schemas.microsoft.com/office/drawing/2014/main" id="{24BE2F0C-C22E-F065-0D05-D7997C8BB23B}"/>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5 min : utilisez /prompt-5 sur votre ticket.</a:t>
            </a:r>
          </a:p>
        </p:txBody>
      </p:sp>
    </p:spTree>
    <p:extLst>
      <p:ext uri="{BB962C8B-B14F-4D97-AF65-F5344CB8AC3E}">
        <p14:creationId xmlns:p14="http://schemas.microsoft.com/office/powerpoint/2010/main" val="3602521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e11">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B02D3280-8EE2-6403-EED2-B876E1A2851F}"/>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La méthode    11/36</a:t>
            </a:r>
          </a:p>
        </p:txBody>
      </p:sp>
      <p:sp>
        <p:nvSpPr>
          <p:cNvPr id="3" name="Titre">
            <a:extLst>
              <a:ext uri="{FF2B5EF4-FFF2-40B4-BE49-F238E27FC236}">
                <a16:creationId xmlns:a16="http://schemas.microsoft.com/office/drawing/2014/main" id="{7A0509F9-0425-20CB-019D-A46056E23503}"/>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4 Lancer</a:t>
            </a:r>
          </a:p>
        </p:txBody>
      </p:sp>
      <p:sp>
        <p:nvSpPr>
          <p:cNvPr id="4" name="Idee">
            <a:extLst>
              <a:ext uri="{FF2B5EF4-FFF2-40B4-BE49-F238E27FC236}">
                <a16:creationId xmlns:a16="http://schemas.microsoft.com/office/drawing/2014/main" id="{70191EE5-D5C1-F922-6AD9-5DB3C274D9B4}"/>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Un lot indépendant reçoit une mission et rend des preuves.</a:t>
            </a:r>
          </a:p>
        </p:txBody>
      </p:sp>
      <p:sp>
        <p:nvSpPr>
          <p:cNvPr id="5" name="Item_1">
            <a:extLst>
              <a:ext uri="{FF2B5EF4-FFF2-40B4-BE49-F238E27FC236}">
                <a16:creationId xmlns:a16="http://schemas.microsoft.com/office/drawing/2014/main" id="{AB7683C4-E537-F57A-823E-836E6853F6A5}"/>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Planifier :</a:t>
            </a:r>
            <a:r>
              <a:rPr lang="fr-FR" sz="2600">
                <a:solidFill>
                  <a:srgbClr val="F4EDE0"/>
                </a:solidFill>
                <a:latin typeface="Outfit" pitchFamily="2" charset="0"/>
              </a:rPr>
              <a:t> Valider le plan avant les modifications.</a:t>
            </a:r>
          </a:p>
        </p:txBody>
      </p:sp>
      <p:sp>
        <p:nvSpPr>
          <p:cNvPr id="6" name="Item_2">
            <a:extLst>
              <a:ext uri="{FF2B5EF4-FFF2-40B4-BE49-F238E27FC236}">
                <a16:creationId xmlns:a16="http://schemas.microsoft.com/office/drawing/2014/main" id="{302221BA-66B2-C17B-CFC7-1DA382815657}"/>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Séparer :</a:t>
            </a:r>
            <a:r>
              <a:rPr lang="fr-FR" sz="2600">
                <a:solidFill>
                  <a:srgbClr val="F4EDE0"/>
                </a:solidFill>
                <a:latin typeface="Outfit" pitchFamily="2" charset="0"/>
              </a:rPr>
              <a:t> Un dossier par lot ; contrat en lecture seule.</a:t>
            </a:r>
          </a:p>
        </p:txBody>
      </p:sp>
      <p:sp>
        <p:nvSpPr>
          <p:cNvPr id="7" name="Item_3">
            <a:extLst>
              <a:ext uri="{FF2B5EF4-FFF2-40B4-BE49-F238E27FC236}">
                <a16:creationId xmlns:a16="http://schemas.microsoft.com/office/drawing/2014/main" id="{72E02B87-4864-5535-3340-76A8CBC4B128}"/>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Rapporter :</a:t>
            </a:r>
            <a:r>
              <a:rPr lang="fr-FR" sz="2600">
                <a:solidFill>
                  <a:srgbClr val="F4EDE0"/>
                </a:solidFill>
                <a:latin typeface="Outfit" pitchFamily="2" charset="0"/>
              </a:rPr>
              <a:t> Fichiers, commande, résultat, blocages.</a:t>
            </a:r>
          </a:p>
        </p:txBody>
      </p:sp>
      <p:sp>
        <p:nvSpPr>
          <p:cNvPr id="8" name="Code_label">
            <a:extLst>
              <a:ext uri="{FF2B5EF4-FFF2-40B4-BE49-F238E27FC236}">
                <a16:creationId xmlns:a16="http://schemas.microsoft.com/office/drawing/2014/main" id="{C7D000FB-30F8-6290-A0FC-2310C3A3428C}"/>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 · extrait</a:t>
            </a:r>
          </a:p>
        </p:txBody>
      </p:sp>
      <p:sp>
        <p:nvSpPr>
          <p:cNvPr id="9" name="Code">
            <a:extLst>
              <a:ext uri="{FF2B5EF4-FFF2-40B4-BE49-F238E27FC236}">
                <a16:creationId xmlns:a16="http://schemas.microsoft.com/office/drawing/2014/main" id="{EBA082D1-4893-C79A-6C6C-0BF0091306BD}"/>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Lance un sous-agent pour le ticket</a:t>
            </a:r>
          </a:p>
          <a:p>
            <a:r>
              <a:rPr lang="fr-FR" sz="2200">
                <a:solidFill>
                  <a:srgbClr val="F4EDE0"/>
                </a:solidFill>
                <a:latin typeface="JetBrains Mono" panose="02000009000000000000" pitchFamily="49" charset="0"/>
              </a:rPr>
              <a:t>ANNU-01 validé.</a:t>
            </a:r>
          </a:p>
          <a:p>
            <a:r>
              <a:rPr lang="fr-FR" sz="2200">
                <a:solidFill>
                  <a:srgbClr val="F4EDE0"/>
                </a:solidFill>
                <a:latin typeface="JetBrains Mono" panose="02000009000000000000" pitchFamily="49" charset="0"/>
              </a:rPr>
              <a:t>Il travaille uniquement dans</a:t>
            </a:r>
          </a:p>
          <a:p>
            <a:r>
              <a:rPr lang="fr-FR" sz="2200">
                <a:solidFill>
                  <a:srgbClr val="F4EDE0"/>
                </a:solidFill>
                <a:latin typeface="JetBrains Mono" panose="02000009000000000000" pitchFamily="49" charset="0"/>
              </a:rPr>
              <a:t>src/features/annuaire/.</a:t>
            </a:r>
          </a:p>
          <a:p>
            <a:r>
              <a:rPr lang="fr-FR" sz="2200">
                <a:solidFill>
                  <a:srgbClr val="F4EDE0"/>
                </a:solidFill>
                <a:latin typeface="JetBrains Mono" panose="02000009000000000000" pitchFamily="49" charset="0"/>
              </a:rPr>
              <a:t>Il lit le contrat commun sans le</a:t>
            </a:r>
          </a:p>
          <a:p>
            <a:r>
              <a:rPr lang="fr-FR" sz="2200">
                <a:solidFill>
                  <a:srgbClr val="F4EDE0"/>
                </a:solidFill>
                <a:latin typeface="JetBrains Mono" panose="02000009000000000000" pitchFamily="49" charset="0"/>
              </a:rPr>
              <a:t>modifier.</a:t>
            </a:r>
          </a:p>
          <a:p>
            <a:r>
              <a:rPr lang="fr-FR" sz="2200">
                <a:solidFill>
                  <a:srgbClr val="F4EDE0"/>
                </a:solidFill>
                <a:latin typeface="JetBrains Mono" panose="02000009000000000000" pitchFamily="49" charset="0"/>
              </a:rPr>
              <a:t>Exige : fichiers modifiés,</a:t>
            </a:r>
          </a:p>
        </p:txBody>
      </p:sp>
      <p:sp>
        <p:nvSpPr>
          <p:cNvPr id="10" name="Code_complet">
            <a:extLst>
              <a:ext uri="{FF2B5EF4-FFF2-40B4-BE49-F238E27FC236}">
                <a16:creationId xmlns:a16="http://schemas.microsoft.com/office/drawing/2014/main" id="{BF79DED3-61E6-8ED9-5D48-D1DB83700163}"/>
              </a:ext>
            </a:extLst>
          </p:cNvPr>
          <p:cNvSpPr txBox="1"/>
          <p:nvPr/>
        </p:nvSpPr>
        <p:spPr>
          <a:xfrm>
            <a:off x="8636000" y="7518399"/>
            <a:ext cx="6654800" cy="660400"/>
          </a:xfrm>
          <a:prstGeom prst="rect">
            <a:avLst/>
          </a:prstGeom>
          <a:noFill/>
        </p:spPr>
        <p:txBody>
          <a:bodyPr vert="horz" wrap="square" lIns="0" tIns="0" rIns="0" bIns="0" rtlCol="0">
            <a:noAutofit/>
          </a:bodyPr>
          <a:lstStyle/>
          <a:p>
            <a:r>
              <a:rPr lang="fr-FR" sz="2000">
                <a:solidFill>
                  <a:srgbClr val="A8A297"/>
                </a:solidFill>
                <a:latin typeface="Outfit" pitchFamily="2" charset="0"/>
              </a:rPr>
              <a:t>Prompt complet dans les notes et le HTML</a:t>
            </a:r>
          </a:p>
        </p:txBody>
      </p:sp>
      <p:sp>
        <p:nvSpPr>
          <p:cNvPr id="11" name="Action">
            <a:extLst>
              <a:ext uri="{FF2B5EF4-FFF2-40B4-BE49-F238E27FC236}">
                <a16:creationId xmlns:a16="http://schemas.microsoft.com/office/drawing/2014/main" id="{DAE74D25-0747-F0EF-64D6-46CA823EF5DA}"/>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3 min : lancez un seul lot prêt.</a:t>
            </a:r>
          </a:p>
        </p:txBody>
      </p:sp>
    </p:spTree>
    <p:extLst>
      <p:ext uri="{BB962C8B-B14F-4D97-AF65-F5344CB8AC3E}">
        <p14:creationId xmlns:p14="http://schemas.microsoft.com/office/powerpoint/2010/main" val="1275467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e12">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FC6FCCDC-45E6-3725-BB9B-CDE4EF8519F0}"/>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La méthode    12/36</a:t>
            </a:r>
          </a:p>
        </p:txBody>
      </p:sp>
      <p:sp>
        <p:nvSpPr>
          <p:cNvPr id="3" name="Titre">
            <a:extLst>
              <a:ext uri="{FF2B5EF4-FFF2-40B4-BE49-F238E27FC236}">
                <a16:creationId xmlns:a16="http://schemas.microsoft.com/office/drawing/2014/main" id="{BD6D3257-127F-5CAB-2A8F-178AE0B75770}"/>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5 Vérifier et garder</a:t>
            </a:r>
          </a:p>
        </p:txBody>
      </p:sp>
      <p:sp>
        <p:nvSpPr>
          <p:cNvPr id="4" name="Idee">
            <a:extLst>
              <a:ext uri="{FF2B5EF4-FFF2-40B4-BE49-F238E27FC236}">
                <a16:creationId xmlns:a16="http://schemas.microsoft.com/office/drawing/2014/main" id="{C3B77CE3-30FD-D508-ABB8-9B67C556F363}"/>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 L’agent a fini » devient Done avec une preuve.</a:t>
            </a:r>
          </a:p>
        </p:txBody>
      </p:sp>
      <p:sp>
        <p:nvSpPr>
          <p:cNvPr id="5" name="Item_1">
            <a:extLst>
              <a:ext uri="{FF2B5EF4-FFF2-40B4-BE49-F238E27FC236}">
                <a16:creationId xmlns:a16="http://schemas.microsoft.com/office/drawing/2014/main" id="{E8159EA4-2741-8B47-7872-9E98DB8B2DAE}"/>
              </a:ext>
            </a:extLst>
          </p:cNvPr>
          <p:cNvSpPr txBox="1"/>
          <p:nvPr/>
        </p:nvSpPr>
        <p:spPr>
          <a:xfrm>
            <a:off x="965200" y="41020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Relire :</a:t>
            </a:r>
            <a:r>
              <a:rPr lang="fr-FR" sz="2400">
                <a:solidFill>
                  <a:srgbClr val="F4EDE0"/>
                </a:solidFill>
                <a:latin typeface="Outfit" pitchFamily="2" charset="0"/>
              </a:rPr>
              <a:t> Comprendre le diff et les sources.</a:t>
            </a:r>
          </a:p>
        </p:txBody>
      </p:sp>
      <p:sp>
        <p:nvSpPr>
          <p:cNvPr id="6" name="Item_2">
            <a:extLst>
              <a:ext uri="{FF2B5EF4-FFF2-40B4-BE49-F238E27FC236}">
                <a16:creationId xmlns:a16="http://schemas.microsoft.com/office/drawing/2014/main" id="{32042CC6-2929-12D6-D17D-A25E9EF12975}"/>
              </a:ext>
            </a:extLst>
          </p:cNvPr>
          <p:cNvSpPr txBox="1"/>
          <p:nvPr/>
        </p:nvSpPr>
        <p:spPr>
          <a:xfrm>
            <a:off x="965200" y="50736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Valider :</a:t>
            </a:r>
            <a:r>
              <a:rPr lang="fr-FR" sz="2400">
                <a:solidFill>
                  <a:srgbClr val="F4EDE0"/>
                </a:solidFill>
                <a:latin typeface="Outfit" pitchFamily="2" charset="0"/>
              </a:rPr>
              <a:t> Lint, build et parcours utilisateur.</a:t>
            </a:r>
          </a:p>
        </p:txBody>
      </p:sp>
      <p:sp>
        <p:nvSpPr>
          <p:cNvPr id="7" name="Item_3">
            <a:extLst>
              <a:ext uri="{FF2B5EF4-FFF2-40B4-BE49-F238E27FC236}">
                <a16:creationId xmlns:a16="http://schemas.microsoft.com/office/drawing/2014/main" id="{8BC5EE36-AA68-9678-D3DC-8DF69239F136}"/>
              </a:ext>
            </a:extLst>
          </p:cNvPr>
          <p:cNvSpPr txBox="1"/>
          <p:nvPr/>
        </p:nvSpPr>
        <p:spPr>
          <a:xfrm>
            <a:off x="965200" y="60451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Éprouver :</a:t>
            </a:r>
            <a:r>
              <a:rPr lang="fr-FR" sz="2400">
                <a:solidFill>
                  <a:srgbClr val="F4EDE0"/>
                </a:solidFill>
                <a:latin typeface="Outfit" pitchFamily="2" charset="0"/>
              </a:rPr>
              <a:t> Cas vide, contact absent et langue de repli.</a:t>
            </a:r>
          </a:p>
        </p:txBody>
      </p:sp>
      <p:sp>
        <p:nvSpPr>
          <p:cNvPr id="8" name="Item_4">
            <a:extLst>
              <a:ext uri="{FF2B5EF4-FFF2-40B4-BE49-F238E27FC236}">
                <a16:creationId xmlns:a16="http://schemas.microsoft.com/office/drawing/2014/main" id="{33AFD5CC-F924-4E0F-AE7E-9191D669A11A}"/>
              </a:ext>
            </a:extLst>
          </p:cNvPr>
          <p:cNvSpPr txBox="1"/>
          <p:nvPr/>
        </p:nvSpPr>
        <p:spPr>
          <a:xfrm>
            <a:off x="965200" y="70167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Garder :</a:t>
            </a:r>
            <a:r>
              <a:rPr lang="fr-FR" sz="2400">
                <a:solidFill>
                  <a:srgbClr val="F4EDE0"/>
                </a:solidFill>
                <a:latin typeface="Outfit" pitchFamily="2" charset="0"/>
              </a:rPr>
              <a:t> Décision, source et preuve dans le wiki.</a:t>
            </a:r>
          </a:p>
        </p:txBody>
      </p:sp>
      <p:sp>
        <p:nvSpPr>
          <p:cNvPr id="9" name="Code_label">
            <a:extLst>
              <a:ext uri="{FF2B5EF4-FFF2-40B4-BE49-F238E27FC236}">
                <a16:creationId xmlns:a16="http://schemas.microsoft.com/office/drawing/2014/main" id="{ABE3E4CE-FAA7-5590-98D6-F64BAA468001}"/>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Commandes du projet</a:t>
            </a:r>
          </a:p>
        </p:txBody>
      </p:sp>
      <p:sp>
        <p:nvSpPr>
          <p:cNvPr id="10" name="Code">
            <a:extLst>
              <a:ext uri="{FF2B5EF4-FFF2-40B4-BE49-F238E27FC236}">
                <a16:creationId xmlns:a16="http://schemas.microsoft.com/office/drawing/2014/main" id="{523EAAE0-D79C-2AC7-E555-E831748B1B70}"/>
              </a:ext>
            </a:extLst>
          </p:cNvPr>
          <p:cNvSpPr txBox="1"/>
          <p:nvPr/>
        </p:nvSpPr>
        <p:spPr>
          <a:xfrm>
            <a:off x="8636000" y="4940299"/>
            <a:ext cx="6654800" cy="2527300"/>
          </a:xfrm>
          <a:prstGeom prst="rect">
            <a:avLst/>
          </a:prstGeom>
          <a:noFill/>
        </p:spPr>
        <p:txBody>
          <a:bodyPr vert="horz" wrap="square" lIns="0" tIns="0" rIns="0" bIns="0" rtlCol="0">
            <a:noAutofit/>
          </a:bodyPr>
          <a:lstStyle/>
          <a:p>
            <a:r>
              <a:rPr lang="en-US" sz="2200">
                <a:solidFill>
                  <a:srgbClr val="F4EDE0"/>
                </a:solidFill>
                <a:latin typeface="JetBrains Mono" panose="02000009000000000000" pitchFamily="49" charset="0"/>
              </a:rPr>
              <a:t>npm run lint</a:t>
            </a:r>
          </a:p>
          <a:p>
            <a:r>
              <a:rPr lang="en-US" sz="2200">
                <a:solidFill>
                  <a:srgbClr val="F4EDE0"/>
                </a:solidFill>
                <a:latin typeface="JetBrains Mono" panose="02000009000000000000" pitchFamily="49" charset="0"/>
              </a:rPr>
              <a:t>npm run build</a:t>
            </a:r>
            <a:endParaRPr lang="fr-FR" sz="2200">
              <a:solidFill>
                <a:srgbClr val="F4EDE0"/>
              </a:solidFill>
              <a:latin typeface="JetBrains Mono" panose="02000009000000000000" pitchFamily="49" charset="0"/>
            </a:endParaRPr>
          </a:p>
        </p:txBody>
      </p:sp>
      <p:sp>
        <p:nvSpPr>
          <p:cNvPr id="11" name="Action">
            <a:extLst>
              <a:ext uri="{FF2B5EF4-FFF2-40B4-BE49-F238E27FC236}">
                <a16:creationId xmlns:a16="http://schemas.microsoft.com/office/drawing/2014/main" id="{0EDFF985-7B09-742A-E3D1-AE18D5C9C736}"/>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5 min : produisez une preuve de votre Done.</a:t>
            </a:r>
          </a:p>
        </p:txBody>
      </p:sp>
    </p:spTree>
    <p:extLst>
      <p:ext uri="{BB962C8B-B14F-4D97-AF65-F5344CB8AC3E}">
        <p14:creationId xmlns:p14="http://schemas.microsoft.com/office/powerpoint/2010/main" val="1909112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e13">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08AA306D-3824-379B-FE31-4F00893D0833}"/>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La méthode    13/36</a:t>
            </a:r>
          </a:p>
        </p:txBody>
      </p:sp>
      <p:sp>
        <p:nvSpPr>
          <p:cNvPr id="3" name="Titre">
            <a:extLst>
              <a:ext uri="{FF2B5EF4-FFF2-40B4-BE49-F238E27FC236}">
                <a16:creationId xmlns:a16="http://schemas.microsoft.com/office/drawing/2014/main" id="{86CD111A-7C4E-2CDE-9563-D414DC437486}"/>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La recette, l’exécutant et le parcours</a:t>
            </a:r>
          </a:p>
        </p:txBody>
      </p:sp>
      <p:sp>
        <p:nvSpPr>
          <p:cNvPr id="4" name="Idee">
            <a:extLst>
              <a:ext uri="{FF2B5EF4-FFF2-40B4-BE49-F238E27FC236}">
                <a16:creationId xmlns:a16="http://schemas.microsoft.com/office/drawing/2014/main" id="{EAF4AAC8-A659-1BAB-FA85-83B992C8D505}"/>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Skill, sous-agent et workflow répondent à trois besoins distincts.</a:t>
            </a:r>
          </a:p>
        </p:txBody>
      </p:sp>
      <p:sp>
        <p:nvSpPr>
          <p:cNvPr id="5" name="Item_1">
            <a:extLst>
              <a:ext uri="{FF2B5EF4-FFF2-40B4-BE49-F238E27FC236}">
                <a16:creationId xmlns:a16="http://schemas.microsoft.com/office/drawing/2014/main" id="{8498FC0E-52EC-7A96-86D2-A077D1DC2C3D}"/>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Skill · comment faire :</a:t>
            </a:r>
            <a:r>
              <a:rPr lang="fr-FR" sz="2600">
                <a:solidFill>
                  <a:srgbClr val="F4EDE0"/>
                </a:solidFill>
                <a:latin typeface="Outfit" pitchFamily="2" charset="0"/>
              </a:rPr>
              <a:t> /prompt-5 reformule une demande.</a:t>
            </a:r>
          </a:p>
        </p:txBody>
      </p:sp>
      <p:sp>
        <p:nvSpPr>
          <p:cNvPr id="6" name="Item_2">
            <a:extLst>
              <a:ext uri="{FF2B5EF4-FFF2-40B4-BE49-F238E27FC236}">
                <a16:creationId xmlns:a16="http://schemas.microsoft.com/office/drawing/2014/main" id="{67917122-96C0-3511-B5AD-755BCAB158D9}"/>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Sous-agent · qui exécute :</a:t>
            </a:r>
            <a:r>
              <a:rPr lang="fr-FR" sz="2600">
                <a:solidFill>
                  <a:srgbClr val="F4EDE0"/>
                </a:solidFill>
                <a:latin typeface="Outfit" pitchFamily="2" charset="0"/>
              </a:rPr>
              <a:t> Un agent construit le lot annuaire.</a:t>
            </a:r>
          </a:p>
        </p:txBody>
      </p:sp>
      <p:sp>
        <p:nvSpPr>
          <p:cNvPr id="7" name="Item_3">
            <a:extLst>
              <a:ext uri="{FF2B5EF4-FFF2-40B4-BE49-F238E27FC236}">
                <a16:creationId xmlns:a16="http://schemas.microsoft.com/office/drawing/2014/main" id="{844D943F-3A04-DFC9-C4B9-DD8DB7025048}"/>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Workflow · dans quel ordre :</a:t>
            </a:r>
            <a:r>
              <a:rPr lang="fr-FR" sz="2600">
                <a:solidFill>
                  <a:srgbClr val="F4EDE0"/>
                </a:solidFill>
                <a:latin typeface="Outfit" pitchFamily="2" charset="0"/>
              </a:rPr>
              <a:t> Cadrer, contextualiser, reformuler, lancer, vérifier.</a:t>
            </a:r>
          </a:p>
        </p:txBody>
      </p:sp>
      <p:sp>
        <p:nvSpPr>
          <p:cNvPr id="8" name="Code_label">
            <a:extLst>
              <a:ext uri="{FF2B5EF4-FFF2-40B4-BE49-F238E27FC236}">
                <a16:creationId xmlns:a16="http://schemas.microsoft.com/office/drawing/2014/main" id="{CCA59089-6017-7874-AD59-E7B03CB7FDC4}"/>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9" name="Code">
            <a:extLst>
              <a:ext uri="{FF2B5EF4-FFF2-40B4-BE49-F238E27FC236}">
                <a16:creationId xmlns:a16="http://schemas.microsoft.com/office/drawing/2014/main" id="{86BB2381-C895-E2C6-B031-B1ABE2AF7D3A}"/>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Décris le workflow du ticket ANNU-01.</a:t>
            </a:r>
          </a:p>
          <a:p>
            <a:r>
              <a:rPr lang="fr-FR" sz="2200">
                <a:solidFill>
                  <a:srgbClr val="F4EDE0"/>
                </a:solidFill>
                <a:latin typeface="JetBrains Mono" panose="02000009000000000000" pitchFamily="49" charset="0"/>
              </a:rPr>
              <a:t>Pour chaque étape : compétence,</a:t>
            </a:r>
          </a:p>
          <a:p>
            <a:r>
              <a:rPr lang="fr-FR" sz="2200">
                <a:solidFill>
                  <a:srgbClr val="F4EDE0"/>
                </a:solidFill>
                <a:latin typeface="JetBrains Mono" panose="02000009000000000000" pitchFamily="49" charset="0"/>
              </a:rPr>
              <a:t>exécutant, entrée, preuve.</a:t>
            </a:r>
          </a:p>
          <a:p>
            <a:r>
              <a:rPr lang="fr-FR" sz="2200">
                <a:solidFill>
                  <a:srgbClr val="F4EDE0"/>
                </a:solidFill>
                <a:latin typeface="JetBrains Mono" panose="02000009000000000000" pitchFamily="49" charset="0"/>
              </a:rPr>
              <a:t>Reste dans les cinq étapes du support.</a:t>
            </a:r>
          </a:p>
        </p:txBody>
      </p:sp>
      <p:sp>
        <p:nvSpPr>
          <p:cNvPr id="10" name="Action">
            <a:extLst>
              <a:ext uri="{FF2B5EF4-FFF2-40B4-BE49-F238E27FC236}">
                <a16:creationId xmlns:a16="http://schemas.microsoft.com/office/drawing/2014/main" id="{06CE0FBA-33A5-460A-E4C6-3D6F566CF3E2}"/>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2 min : nommez le skill et l’agent de votre lot.</a:t>
            </a:r>
          </a:p>
        </p:txBody>
      </p:sp>
    </p:spTree>
    <p:extLst>
      <p:ext uri="{BB962C8B-B14F-4D97-AF65-F5344CB8AC3E}">
        <p14:creationId xmlns:p14="http://schemas.microsoft.com/office/powerpoint/2010/main" val="1004957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e14">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E21854A6-FDBF-4E65-3AF7-5217C7BE1B75}"/>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La méthode    14/36</a:t>
            </a:r>
          </a:p>
        </p:txBody>
      </p:sp>
      <p:sp>
        <p:nvSpPr>
          <p:cNvPr id="3" name="Titre">
            <a:extLst>
              <a:ext uri="{FF2B5EF4-FFF2-40B4-BE49-F238E27FC236}">
                <a16:creationId xmlns:a16="http://schemas.microsoft.com/office/drawing/2014/main" id="{6895AF4C-CF54-2A84-4BB4-3FEFB1D69D7A}"/>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Lancer le workflow en cinq gestes</a:t>
            </a:r>
          </a:p>
        </p:txBody>
      </p:sp>
      <p:sp>
        <p:nvSpPr>
          <p:cNvPr id="4" name="Idee">
            <a:extLst>
              <a:ext uri="{FF2B5EF4-FFF2-40B4-BE49-F238E27FC236}">
                <a16:creationId xmlns:a16="http://schemas.microsoft.com/office/drawing/2014/main" id="{8DC3B34C-E20A-A59C-58A7-4FA66586EA52}"/>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Le prompt reformulé est votre point de contrôle.</a:t>
            </a:r>
          </a:p>
        </p:txBody>
      </p:sp>
      <p:sp>
        <p:nvSpPr>
          <p:cNvPr id="5" name="Item_1">
            <a:extLst>
              <a:ext uri="{FF2B5EF4-FFF2-40B4-BE49-F238E27FC236}">
                <a16:creationId xmlns:a16="http://schemas.microsoft.com/office/drawing/2014/main" id="{0478A015-CDB4-7CA7-D18F-876AFADEC5C1}"/>
              </a:ext>
            </a:extLst>
          </p:cNvPr>
          <p:cNvSpPr txBox="1"/>
          <p:nvPr/>
        </p:nvSpPr>
        <p:spPr>
          <a:xfrm>
            <a:off x="965200" y="4102099"/>
            <a:ext cx="7061200" cy="75184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1 Cadrer :</a:t>
            </a:r>
            <a:r>
              <a:rPr lang="fr-FR" sz="2400">
                <a:solidFill>
                  <a:srgbClr val="F4EDE0"/>
                </a:solidFill>
                <a:latin typeface="Outfit" pitchFamily="2" charset="0"/>
              </a:rPr>
              <a:t> Ouvrez le projet et choisissez un ticket.</a:t>
            </a:r>
          </a:p>
        </p:txBody>
      </p:sp>
      <p:sp>
        <p:nvSpPr>
          <p:cNvPr id="6" name="Item_2">
            <a:extLst>
              <a:ext uri="{FF2B5EF4-FFF2-40B4-BE49-F238E27FC236}">
                <a16:creationId xmlns:a16="http://schemas.microsoft.com/office/drawing/2014/main" id="{C4754B6C-A0E4-98FA-3C5E-1C6165A51ED0}"/>
              </a:ext>
            </a:extLst>
          </p:cNvPr>
          <p:cNvSpPr txBox="1"/>
          <p:nvPr/>
        </p:nvSpPr>
        <p:spPr>
          <a:xfrm>
            <a:off x="965200" y="4879339"/>
            <a:ext cx="7061200" cy="75184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2 Donner le contexte :</a:t>
            </a:r>
            <a:r>
              <a:rPr lang="fr-FR" sz="2400">
                <a:solidFill>
                  <a:srgbClr val="F4EDE0"/>
                </a:solidFill>
                <a:latin typeface="Outfit" pitchFamily="2" charset="0"/>
              </a:rPr>
              <a:t> Indiquez contrat et dossier attribué.</a:t>
            </a:r>
          </a:p>
        </p:txBody>
      </p:sp>
      <p:sp>
        <p:nvSpPr>
          <p:cNvPr id="7" name="Item_3">
            <a:extLst>
              <a:ext uri="{FF2B5EF4-FFF2-40B4-BE49-F238E27FC236}">
                <a16:creationId xmlns:a16="http://schemas.microsoft.com/office/drawing/2014/main" id="{007A6236-91EC-E4A7-EB59-9D62E27AB682}"/>
              </a:ext>
            </a:extLst>
          </p:cNvPr>
          <p:cNvSpPr txBox="1"/>
          <p:nvPr/>
        </p:nvSpPr>
        <p:spPr>
          <a:xfrm>
            <a:off x="965200" y="5656579"/>
            <a:ext cx="7061200" cy="75184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3 Améliorer le prompt :</a:t>
            </a:r>
            <a:r>
              <a:rPr lang="fr-FR" sz="2400">
                <a:solidFill>
                  <a:srgbClr val="F4EDE0"/>
                </a:solidFill>
                <a:latin typeface="Outfit" pitchFamily="2" charset="0"/>
              </a:rPr>
              <a:t> Relisez les cinq blocs, puis dites « ok ».</a:t>
            </a:r>
          </a:p>
        </p:txBody>
      </p:sp>
      <p:sp>
        <p:nvSpPr>
          <p:cNvPr id="8" name="Item_4">
            <a:extLst>
              <a:ext uri="{FF2B5EF4-FFF2-40B4-BE49-F238E27FC236}">
                <a16:creationId xmlns:a16="http://schemas.microsoft.com/office/drawing/2014/main" id="{48894CBF-AF1C-7531-2043-698F9F5D9873}"/>
              </a:ext>
            </a:extLst>
          </p:cNvPr>
          <p:cNvSpPr txBox="1"/>
          <p:nvPr/>
        </p:nvSpPr>
        <p:spPr>
          <a:xfrm>
            <a:off x="965200" y="6433819"/>
            <a:ext cx="7061200" cy="75184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4 Lancer :</a:t>
            </a:r>
            <a:r>
              <a:rPr lang="fr-FR" sz="2400">
                <a:solidFill>
                  <a:srgbClr val="F4EDE0"/>
                </a:solidFill>
                <a:latin typeface="Outfit" pitchFamily="2" charset="0"/>
              </a:rPr>
              <a:t> L’agent exécute le lot et rend son rapport.</a:t>
            </a:r>
          </a:p>
        </p:txBody>
      </p:sp>
      <p:sp>
        <p:nvSpPr>
          <p:cNvPr id="9" name="Item_5">
            <a:extLst>
              <a:ext uri="{FF2B5EF4-FFF2-40B4-BE49-F238E27FC236}">
                <a16:creationId xmlns:a16="http://schemas.microsoft.com/office/drawing/2014/main" id="{B9C57D49-2EC7-BADC-4B70-BAAD07938F28}"/>
              </a:ext>
            </a:extLst>
          </p:cNvPr>
          <p:cNvSpPr txBox="1"/>
          <p:nvPr/>
        </p:nvSpPr>
        <p:spPr>
          <a:xfrm>
            <a:off x="965200" y="7211059"/>
            <a:ext cx="7061200" cy="75184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5 Vérifier et garder :</a:t>
            </a:r>
            <a:r>
              <a:rPr lang="fr-FR" sz="2400">
                <a:solidFill>
                  <a:srgbClr val="F4EDE0"/>
                </a:solidFill>
                <a:latin typeface="Outfit" pitchFamily="2" charset="0"/>
              </a:rPr>
              <a:t> Contrôlez le Done et proposez une note wiki.</a:t>
            </a:r>
          </a:p>
        </p:txBody>
      </p:sp>
      <p:sp>
        <p:nvSpPr>
          <p:cNvPr id="10" name="Code_label">
            <a:extLst>
              <a:ext uri="{FF2B5EF4-FFF2-40B4-BE49-F238E27FC236}">
                <a16:creationId xmlns:a16="http://schemas.microsoft.com/office/drawing/2014/main" id="{2F6159E7-AE5C-2FB1-4253-CBFA9917249A}"/>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11" name="Code">
            <a:extLst>
              <a:ext uri="{FF2B5EF4-FFF2-40B4-BE49-F238E27FC236}">
                <a16:creationId xmlns:a16="http://schemas.microsoft.com/office/drawing/2014/main" id="{86490338-1386-E963-4508-3CB3ABB61421}"/>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/lancer-workflow ANNU-01</a:t>
            </a:r>
          </a:p>
          <a:p>
            <a:r>
              <a:rPr lang="fr-FR" sz="2200">
                <a:solidFill>
                  <a:srgbClr val="F4EDE0"/>
                </a:solidFill>
                <a:latin typeface="JetBrains Mono" panose="02000009000000000000" pitchFamily="49" charset="0"/>
              </a:rPr>
              <a:t>Le ticket se trouve dans</a:t>
            </a:r>
          </a:p>
          <a:p>
            <a:r>
              <a:rPr lang="fr-FR" sz="2200">
                <a:solidFill>
                  <a:srgbClr val="F4EDE0"/>
                </a:solidFill>
                <a:latin typeface="JetBrains Mono" panose="02000009000000000000" pitchFamily="49" charset="0"/>
              </a:rPr>
              <a:t>TICKETS-DEMAIN.md.</a:t>
            </a:r>
          </a:p>
          <a:p>
            <a:r>
              <a:rPr lang="fr-FR" sz="2200">
                <a:solidFill>
                  <a:srgbClr val="F4EDE0"/>
                </a:solidFill>
                <a:latin typeface="JetBrains Mono" panose="02000009000000000000" pitchFamily="49" charset="0"/>
              </a:rPr>
              <a:t>Périmètre : src/features/annuaire/.</a:t>
            </a:r>
          </a:p>
          <a:p>
            <a:r>
              <a:rPr lang="fr-FR" sz="2200">
                <a:solidFill>
                  <a:srgbClr val="F4EDE0"/>
                </a:solidFill>
                <a:latin typeface="JetBrains Mono" panose="02000009000000000000" pitchFamily="49" charset="0"/>
              </a:rPr>
              <a:t>Affiche d’abord le prompt reformulé.</a:t>
            </a:r>
          </a:p>
        </p:txBody>
      </p:sp>
      <p:sp>
        <p:nvSpPr>
          <p:cNvPr id="12" name="Action">
            <a:extLst>
              <a:ext uri="{FF2B5EF4-FFF2-40B4-BE49-F238E27FC236}">
                <a16:creationId xmlns:a16="http://schemas.microsoft.com/office/drawing/2014/main" id="{39EBD679-1B1A-83DF-B820-5CD4465CE2CE}"/>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5 min : testez jusqu’à l’affichage du plan.</a:t>
            </a:r>
          </a:p>
        </p:txBody>
      </p:sp>
    </p:spTree>
    <p:extLst>
      <p:ext uri="{BB962C8B-B14F-4D97-AF65-F5344CB8AC3E}">
        <p14:creationId xmlns:p14="http://schemas.microsoft.com/office/powerpoint/2010/main" val="979785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e15">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4468EBDA-7416-4F70-E8F0-C42ADC02BF38}"/>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Les outils    15/36</a:t>
            </a:r>
          </a:p>
        </p:txBody>
      </p:sp>
      <p:sp>
        <p:nvSpPr>
          <p:cNvPr id="3" name="Titre">
            <a:extLst>
              <a:ext uri="{FF2B5EF4-FFF2-40B4-BE49-F238E27FC236}">
                <a16:creationId xmlns:a16="http://schemas.microsoft.com/office/drawing/2014/main" id="{D0E33F93-26DD-8272-F1E3-F28B07B77C50}"/>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CLI et Desktop : ouvrir le même projet</a:t>
            </a:r>
          </a:p>
        </p:txBody>
      </p:sp>
      <p:sp>
        <p:nvSpPr>
          <p:cNvPr id="4" name="Idee">
            <a:extLst>
              <a:ext uri="{FF2B5EF4-FFF2-40B4-BE49-F238E27FC236}">
                <a16:creationId xmlns:a16="http://schemas.microsoft.com/office/drawing/2014/main" id="{C35683E0-944D-9E03-C42A-FEEA2ABFA0B8}"/>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Dans Desktop, choisissez l’onglet Code et une session locale.</a:t>
            </a:r>
          </a:p>
        </p:txBody>
      </p:sp>
      <p:sp>
        <p:nvSpPr>
          <p:cNvPr id="5" name="Item_1">
            <a:extLst>
              <a:ext uri="{FF2B5EF4-FFF2-40B4-BE49-F238E27FC236}">
                <a16:creationId xmlns:a16="http://schemas.microsoft.com/office/drawing/2014/main" id="{CA5F5DFE-5ED0-866D-FB7B-E26546B3A4E5}"/>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Ouvrir :</a:t>
            </a:r>
            <a:r>
              <a:rPr lang="fr-FR" sz="2600">
                <a:solidFill>
                  <a:srgbClr val="F4EDE0"/>
                </a:solidFill>
                <a:latin typeface="Outfit" pitchFamily="2" charset="0"/>
              </a:rPr>
              <a:t> Sélectionnez le dépôt, puis le dossier du projet.</a:t>
            </a:r>
          </a:p>
        </p:txBody>
      </p:sp>
      <p:sp>
        <p:nvSpPr>
          <p:cNvPr id="6" name="Item_2">
            <a:extLst>
              <a:ext uri="{FF2B5EF4-FFF2-40B4-BE49-F238E27FC236}">
                <a16:creationId xmlns:a16="http://schemas.microsoft.com/office/drawing/2014/main" id="{833BF344-22C3-5FB1-CB1B-0D8D11E63341}"/>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Partager :</a:t>
            </a:r>
            <a:r>
              <a:rPr lang="fr-FR" sz="2600">
                <a:solidFill>
                  <a:srgbClr val="F4EDE0"/>
                </a:solidFill>
                <a:latin typeface="Outfit" pitchFamily="2" charset="0"/>
              </a:rPr>
              <a:t> CLAUDE.md, skills et configuration MCP.</a:t>
            </a:r>
          </a:p>
        </p:txBody>
      </p:sp>
      <p:sp>
        <p:nvSpPr>
          <p:cNvPr id="7" name="Item_3">
            <a:extLst>
              <a:ext uri="{FF2B5EF4-FFF2-40B4-BE49-F238E27FC236}">
                <a16:creationId xmlns:a16="http://schemas.microsoft.com/office/drawing/2014/main" id="{CFCD445B-2511-AB52-BE8C-C474ACEC0067}"/>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Vérifier :</a:t>
            </a:r>
            <a:r>
              <a:rPr lang="fr-FR" sz="2600">
                <a:solidFill>
                  <a:srgbClr val="F4EDE0"/>
                </a:solidFill>
                <a:latin typeface="Outfit" pitchFamily="2" charset="0"/>
              </a:rPr>
              <a:t> Demandez le dossier courant et les skills disponibles.</a:t>
            </a:r>
          </a:p>
        </p:txBody>
      </p:sp>
      <p:sp>
        <p:nvSpPr>
          <p:cNvPr id="8" name="Code_label">
            <a:extLst>
              <a:ext uri="{FF2B5EF4-FFF2-40B4-BE49-F238E27FC236}">
                <a16:creationId xmlns:a16="http://schemas.microsoft.com/office/drawing/2014/main" id="{69C4E227-DD5F-67E8-CF9F-995014671AF0}"/>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9" name="Code">
            <a:extLst>
              <a:ext uri="{FF2B5EF4-FFF2-40B4-BE49-F238E27FC236}">
                <a16:creationId xmlns:a16="http://schemas.microsoft.com/office/drawing/2014/main" id="{31D34B9B-D4CC-3415-EEFC-C2B63F1B7418}"/>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Indique le dossier courant, sans</a:t>
            </a:r>
          </a:p>
          <a:p>
            <a:r>
              <a:rPr lang="fr-FR" sz="2200">
                <a:solidFill>
                  <a:srgbClr val="F4EDE0"/>
                </a:solidFill>
                <a:latin typeface="JetBrains Mono" panose="02000009000000000000" pitchFamily="49" charset="0"/>
              </a:rPr>
              <a:t>afficher de secret.</a:t>
            </a:r>
          </a:p>
          <a:p>
            <a:r>
              <a:rPr lang="fr-FR" sz="2200">
                <a:solidFill>
                  <a:srgbClr val="F4EDE0"/>
                </a:solidFill>
                <a:latin typeface="JetBrains Mono" panose="02000009000000000000" pitchFamily="49" charset="0"/>
              </a:rPr>
              <a:t>Liste les skills disponibles, noms</a:t>
            </a:r>
          </a:p>
          <a:p>
            <a:r>
              <a:rPr lang="fr-FR" sz="2200">
                <a:solidFill>
                  <a:srgbClr val="F4EDE0"/>
                </a:solidFill>
                <a:latin typeface="JetBrains Mono" panose="02000009000000000000" pitchFamily="49" charset="0"/>
              </a:rPr>
              <a:t>seulement.</a:t>
            </a:r>
          </a:p>
          <a:p>
            <a:r>
              <a:rPr lang="fr-FR" sz="2200">
                <a:solidFill>
                  <a:srgbClr val="F4EDE0"/>
                </a:solidFill>
                <a:latin typeface="JetBrains Mono" panose="02000009000000000000" pitchFamily="49" charset="0"/>
              </a:rPr>
              <a:t>Trouves-tu prompt-5 et lancer-workflow</a:t>
            </a:r>
          </a:p>
          <a:p>
            <a:r>
              <a:rPr lang="fr-FR" sz="2200">
                <a:solidFill>
                  <a:srgbClr val="F4EDE0"/>
                </a:solidFill>
                <a:latin typeface="JetBrains Mono" panose="02000009000000000000" pitchFamily="49" charset="0"/>
              </a:rPr>
              <a:t>?</a:t>
            </a:r>
          </a:p>
        </p:txBody>
      </p:sp>
      <p:sp>
        <p:nvSpPr>
          <p:cNvPr id="10" name="Action">
            <a:extLst>
              <a:ext uri="{FF2B5EF4-FFF2-40B4-BE49-F238E27FC236}">
                <a16:creationId xmlns:a16="http://schemas.microsoft.com/office/drawing/2014/main" id="{B032B22F-0AEA-C50C-3EE6-4091C14958C1}"/>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3 min : retrouvez /prompt-5 dans le bon projet.</a:t>
            </a:r>
          </a:p>
        </p:txBody>
      </p:sp>
    </p:spTree>
    <p:extLst>
      <p:ext uri="{BB962C8B-B14F-4D97-AF65-F5344CB8AC3E}">
        <p14:creationId xmlns:p14="http://schemas.microsoft.com/office/powerpoint/2010/main" val="3529637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e16">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E804956E-64DF-535E-9A63-A4CDAAF73D55}"/>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Les outils    16/36</a:t>
            </a:r>
          </a:p>
        </p:txBody>
      </p:sp>
      <p:sp>
        <p:nvSpPr>
          <p:cNvPr id="3" name="Titre">
            <a:extLst>
              <a:ext uri="{FF2B5EF4-FFF2-40B4-BE49-F238E27FC236}">
                <a16:creationId xmlns:a16="http://schemas.microsoft.com/office/drawing/2014/main" id="{2FFB66D0-7FDD-6991-FB1D-D51B956489E0}"/>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Créer un skill en un fichier</a:t>
            </a:r>
          </a:p>
        </p:txBody>
      </p:sp>
      <p:sp>
        <p:nvSpPr>
          <p:cNvPr id="4" name="Idee">
            <a:extLst>
              <a:ext uri="{FF2B5EF4-FFF2-40B4-BE49-F238E27FC236}">
                <a16:creationId xmlns:a16="http://schemas.microsoft.com/office/drawing/2014/main" id="{6A05D381-4287-C2FB-6148-D8804E325BC1}"/>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Placez la procédure dans .claude/skills/nom/SKILL.md.</a:t>
            </a:r>
          </a:p>
        </p:txBody>
      </p:sp>
      <p:sp>
        <p:nvSpPr>
          <p:cNvPr id="5" name="Item_1">
            <a:extLst>
              <a:ext uri="{FF2B5EF4-FFF2-40B4-BE49-F238E27FC236}">
                <a16:creationId xmlns:a16="http://schemas.microsoft.com/office/drawing/2014/main" id="{3A696744-EFBD-2E83-13DB-6D5362031D0F}"/>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Nommer :</a:t>
            </a:r>
            <a:r>
              <a:rPr lang="fr-FR" sz="2600">
                <a:solidFill>
                  <a:srgbClr val="F4EDE0"/>
                </a:solidFill>
                <a:latin typeface="Outfit" pitchFamily="2" charset="0"/>
              </a:rPr>
              <a:t> Un nom court et une description du besoin.</a:t>
            </a:r>
          </a:p>
        </p:txBody>
      </p:sp>
      <p:sp>
        <p:nvSpPr>
          <p:cNvPr id="6" name="Item_2">
            <a:extLst>
              <a:ext uri="{FF2B5EF4-FFF2-40B4-BE49-F238E27FC236}">
                <a16:creationId xmlns:a16="http://schemas.microsoft.com/office/drawing/2014/main" id="{BCE4C033-13D0-A2EB-106E-8268AA717C9B}"/>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Décrire :</a:t>
            </a:r>
            <a:r>
              <a:rPr lang="fr-FR" sz="2600">
                <a:solidFill>
                  <a:srgbClr val="F4EDE0"/>
                </a:solidFill>
                <a:latin typeface="Outfit" pitchFamily="2" charset="0"/>
              </a:rPr>
              <a:t> Les entrées, les gestes et le résultat attendu.</a:t>
            </a:r>
          </a:p>
        </p:txBody>
      </p:sp>
      <p:sp>
        <p:nvSpPr>
          <p:cNvPr id="7" name="Item_3">
            <a:extLst>
              <a:ext uri="{FF2B5EF4-FFF2-40B4-BE49-F238E27FC236}">
                <a16:creationId xmlns:a16="http://schemas.microsoft.com/office/drawing/2014/main" id="{E702D157-5020-BE0B-ADCD-D00A530106A0}"/>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Essayer :</a:t>
            </a:r>
            <a:r>
              <a:rPr lang="fr-FR" sz="2600">
                <a:solidFill>
                  <a:srgbClr val="F4EDE0"/>
                </a:solidFill>
                <a:latin typeface="Outfit" pitchFamily="2" charset="0"/>
              </a:rPr>
              <a:t> Appelez /nom avec un cas concret.</a:t>
            </a:r>
          </a:p>
        </p:txBody>
      </p:sp>
      <p:sp>
        <p:nvSpPr>
          <p:cNvPr id="8" name="Code_label">
            <a:extLst>
              <a:ext uri="{FF2B5EF4-FFF2-40B4-BE49-F238E27FC236}">
                <a16:creationId xmlns:a16="http://schemas.microsoft.com/office/drawing/2014/main" id="{F636AF42-FF06-6CC5-BC70-C761769FAFA7}"/>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Structure d’un SKILL.md · extrait</a:t>
            </a:r>
          </a:p>
        </p:txBody>
      </p:sp>
      <p:sp>
        <p:nvSpPr>
          <p:cNvPr id="9" name="Code">
            <a:extLst>
              <a:ext uri="{FF2B5EF4-FFF2-40B4-BE49-F238E27FC236}">
                <a16:creationId xmlns:a16="http://schemas.microsoft.com/office/drawing/2014/main" id="{87244E73-2AEA-2D05-AF44-D08B6B054D87}"/>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a:t>
            </a:r>
          </a:p>
          <a:p>
            <a:r>
              <a:rPr lang="fr-FR" sz="2200">
                <a:solidFill>
                  <a:srgbClr val="F4EDE0"/>
                </a:solidFill>
                <a:latin typeface="JetBrains Mono" panose="02000009000000000000" pitchFamily="49" charset="0"/>
              </a:rPr>
              <a:t>name: ticket-ready</a:t>
            </a:r>
          </a:p>
          <a:p>
            <a:r>
              <a:rPr lang="fr-FR" sz="2200">
                <a:solidFill>
                  <a:srgbClr val="F4EDE0"/>
                </a:solidFill>
                <a:latin typeface="JetBrains Mono" panose="02000009000000000000" pitchFamily="49" charset="0"/>
              </a:rPr>
              <a:t>description: Reformule un besoin en</a:t>
            </a:r>
          </a:p>
          <a:p>
            <a:r>
              <a:rPr lang="fr-FR" sz="2200">
                <a:solidFill>
                  <a:srgbClr val="F4EDE0"/>
                </a:solidFill>
                <a:latin typeface="JetBrains Mono" panose="02000009000000000000" pitchFamily="49" charset="0"/>
              </a:rPr>
              <a:t>ticket SMART, Ready et Done.</a:t>
            </a:r>
          </a:p>
          <a:p>
            <a:r>
              <a:rPr lang="fr-FR" sz="2200">
                <a:solidFill>
                  <a:srgbClr val="F4EDE0"/>
                </a:solidFill>
                <a:latin typeface="JetBrains Mono" panose="02000009000000000000" pitchFamily="49" charset="0"/>
              </a:rPr>
              <a:t>argument-hint: "&lt;besoin&gt;"</a:t>
            </a:r>
          </a:p>
          <a:p>
            <a:r>
              <a:rPr lang="fr-FR" sz="2200">
                <a:solidFill>
                  <a:srgbClr val="F4EDE0"/>
                </a:solidFill>
                <a:latin typeface="JetBrains Mono" panose="02000009000000000000" pitchFamily="49" charset="0"/>
              </a:rPr>
              <a:t>---</a:t>
            </a:r>
          </a:p>
          <a:p>
            <a:r>
              <a:rPr lang="fr-FR" sz="2200">
                <a:solidFill>
                  <a:srgbClr val="F4EDE0"/>
                </a:solidFill>
                <a:latin typeface="JetBrains Mono" panose="02000009000000000000" pitchFamily="49" charset="0"/>
              </a:rPr>
              <a:t>Lis $ARGUMENTS. Retourne objectif,</a:t>
            </a:r>
          </a:p>
        </p:txBody>
      </p:sp>
      <p:sp>
        <p:nvSpPr>
          <p:cNvPr id="10" name="Code_complet">
            <a:extLst>
              <a:ext uri="{FF2B5EF4-FFF2-40B4-BE49-F238E27FC236}">
                <a16:creationId xmlns:a16="http://schemas.microsoft.com/office/drawing/2014/main" id="{D39AD56F-69D7-3FD1-9D33-314272B500D5}"/>
              </a:ext>
            </a:extLst>
          </p:cNvPr>
          <p:cNvSpPr txBox="1"/>
          <p:nvPr/>
        </p:nvSpPr>
        <p:spPr>
          <a:xfrm>
            <a:off x="8636000" y="7518399"/>
            <a:ext cx="6654800" cy="660400"/>
          </a:xfrm>
          <a:prstGeom prst="rect">
            <a:avLst/>
          </a:prstGeom>
          <a:noFill/>
        </p:spPr>
        <p:txBody>
          <a:bodyPr vert="horz" wrap="square" lIns="0" tIns="0" rIns="0" bIns="0" rtlCol="0">
            <a:noAutofit/>
          </a:bodyPr>
          <a:lstStyle/>
          <a:p>
            <a:r>
              <a:rPr lang="fr-FR" sz="2000">
                <a:solidFill>
                  <a:srgbClr val="A8A297"/>
                </a:solidFill>
                <a:latin typeface="Outfit" pitchFamily="2" charset="0"/>
              </a:rPr>
              <a:t>Prompt complet dans les notes et le HTML</a:t>
            </a:r>
          </a:p>
        </p:txBody>
      </p:sp>
      <p:sp>
        <p:nvSpPr>
          <p:cNvPr id="11" name="Action">
            <a:extLst>
              <a:ext uri="{FF2B5EF4-FFF2-40B4-BE49-F238E27FC236}">
                <a16:creationId xmlns:a16="http://schemas.microsoft.com/office/drawing/2014/main" id="{112E5767-FFFC-3F10-F04D-A1DBF9E95B3F}"/>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5 min : copiez le skill prompt-5 du kit.</a:t>
            </a:r>
          </a:p>
        </p:txBody>
      </p:sp>
    </p:spTree>
    <p:extLst>
      <p:ext uri="{BB962C8B-B14F-4D97-AF65-F5344CB8AC3E}">
        <p14:creationId xmlns:p14="http://schemas.microsoft.com/office/powerpoint/2010/main" val="3726483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e17">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426EF60F-E637-7D23-2BB8-BC814F809815}"/>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Les outils    17/36</a:t>
            </a:r>
          </a:p>
        </p:txBody>
      </p:sp>
      <p:sp>
        <p:nvSpPr>
          <p:cNvPr id="3" name="Titre">
            <a:extLst>
              <a:ext uri="{FF2B5EF4-FFF2-40B4-BE49-F238E27FC236}">
                <a16:creationId xmlns:a16="http://schemas.microsoft.com/office/drawing/2014/main" id="{13067683-85E3-3732-EC07-FD5E62CEF49B}"/>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Brancher un MCP, puis vérifier</a:t>
            </a:r>
          </a:p>
        </p:txBody>
      </p:sp>
      <p:sp>
        <p:nvSpPr>
          <p:cNvPr id="4" name="Idee">
            <a:extLst>
              <a:ext uri="{FF2B5EF4-FFF2-40B4-BE49-F238E27FC236}">
                <a16:creationId xmlns:a16="http://schemas.microsoft.com/office/drawing/2014/main" id="{98B31FDD-78EA-3A8D-8E6E-8B22BD28790D}"/>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Un serveur MCP expose des outils ; il faut encore les tester.</a:t>
            </a:r>
          </a:p>
        </p:txBody>
      </p:sp>
      <p:sp>
        <p:nvSpPr>
          <p:cNvPr id="5" name="Item_1">
            <a:extLst>
              <a:ext uri="{FF2B5EF4-FFF2-40B4-BE49-F238E27FC236}">
                <a16:creationId xmlns:a16="http://schemas.microsoft.com/office/drawing/2014/main" id="{DBC05E65-2F00-51DD-8B54-49AE5E59EBE4}"/>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Choisir :</a:t>
            </a:r>
            <a:r>
              <a:rPr lang="fr-FR" sz="2600">
                <a:solidFill>
                  <a:srgbClr val="F4EDE0"/>
                </a:solidFill>
                <a:latin typeface="Outfit" pitchFamily="2" charset="0"/>
              </a:rPr>
              <a:t> Le serveur officiel et sa portée.</a:t>
            </a:r>
          </a:p>
        </p:txBody>
      </p:sp>
      <p:sp>
        <p:nvSpPr>
          <p:cNvPr id="6" name="Item_2">
            <a:extLst>
              <a:ext uri="{FF2B5EF4-FFF2-40B4-BE49-F238E27FC236}">
                <a16:creationId xmlns:a16="http://schemas.microsoft.com/office/drawing/2014/main" id="{D662AF97-C1A8-6E5A-28ED-51BD2E9C9288}"/>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Connecter :</a:t>
            </a:r>
            <a:r>
              <a:rPr lang="fr-FR" sz="2600">
                <a:solidFill>
                  <a:srgbClr val="F4EDE0"/>
                </a:solidFill>
                <a:latin typeface="Outfit" pitchFamily="2" charset="0"/>
              </a:rPr>
              <a:t> Ajouter sa configuration à Claude Code.</a:t>
            </a:r>
          </a:p>
        </p:txBody>
      </p:sp>
      <p:sp>
        <p:nvSpPr>
          <p:cNvPr id="7" name="Item_3">
            <a:extLst>
              <a:ext uri="{FF2B5EF4-FFF2-40B4-BE49-F238E27FC236}">
                <a16:creationId xmlns:a16="http://schemas.microsoft.com/office/drawing/2014/main" id="{00A7DE15-9370-A680-06B3-F12EFEAA2C9A}"/>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Contrôler :</a:t>
            </a:r>
            <a:r>
              <a:rPr lang="fr-FR" sz="2600">
                <a:solidFill>
                  <a:srgbClr val="F4EDE0"/>
                </a:solidFill>
                <a:latin typeface="Outfit" pitchFamily="2" charset="0"/>
              </a:rPr>
              <a:t> Lister le serveur, puis essayer une requête.</a:t>
            </a:r>
          </a:p>
        </p:txBody>
      </p:sp>
      <p:sp>
        <p:nvSpPr>
          <p:cNvPr id="8" name="Code_label">
            <a:extLst>
              <a:ext uri="{FF2B5EF4-FFF2-40B4-BE49-F238E27FC236}">
                <a16:creationId xmlns:a16="http://schemas.microsoft.com/office/drawing/2014/main" id="{CB8D5319-36BC-5719-1939-B10F23AB740D}"/>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Dans le terminal</a:t>
            </a:r>
          </a:p>
        </p:txBody>
      </p:sp>
      <p:sp>
        <p:nvSpPr>
          <p:cNvPr id="9" name="Code">
            <a:extLst>
              <a:ext uri="{FF2B5EF4-FFF2-40B4-BE49-F238E27FC236}">
                <a16:creationId xmlns:a16="http://schemas.microsoft.com/office/drawing/2014/main" id="{E039FF4F-9544-8F80-914E-25E8C2DD72C6}"/>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claude mcp list</a:t>
            </a:r>
          </a:p>
        </p:txBody>
      </p:sp>
      <p:sp>
        <p:nvSpPr>
          <p:cNvPr id="10" name="Action">
            <a:extLst>
              <a:ext uri="{FF2B5EF4-FFF2-40B4-BE49-F238E27FC236}">
                <a16:creationId xmlns:a16="http://schemas.microsoft.com/office/drawing/2014/main" id="{FC796EA2-FF22-F1DF-2206-FC856E4DFACB}"/>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3 min : trouvez le serveur et son état.</a:t>
            </a:r>
          </a:p>
        </p:txBody>
      </p:sp>
    </p:spTree>
    <p:extLst>
      <p:ext uri="{BB962C8B-B14F-4D97-AF65-F5344CB8AC3E}">
        <p14:creationId xmlns:p14="http://schemas.microsoft.com/office/powerpoint/2010/main" val="2645234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e18">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09BA4527-8838-FFFE-07F0-829863B105D1}"/>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Les outils    18/36</a:t>
            </a:r>
          </a:p>
        </p:txBody>
      </p:sp>
      <p:sp>
        <p:nvSpPr>
          <p:cNvPr id="3" name="Titre">
            <a:extLst>
              <a:ext uri="{FF2B5EF4-FFF2-40B4-BE49-F238E27FC236}">
                <a16:creationId xmlns:a16="http://schemas.microsoft.com/office/drawing/2014/main" id="{79363DE3-C238-4A2D-7909-D34F778FD512}"/>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000">
                <a:solidFill>
                  <a:srgbClr val="F4EDE0"/>
                </a:solidFill>
                <a:latin typeface="Georgia" panose="02040502050405020303" pitchFamily="18" charset="0"/>
              </a:rPr>
              <a:t>Context7 : demander la bonne documentation</a:t>
            </a:r>
          </a:p>
        </p:txBody>
      </p:sp>
      <p:sp>
        <p:nvSpPr>
          <p:cNvPr id="4" name="Idee">
            <a:extLst>
              <a:ext uri="{FF2B5EF4-FFF2-40B4-BE49-F238E27FC236}">
                <a16:creationId xmlns:a16="http://schemas.microsoft.com/office/drawing/2014/main" id="{0519FC48-1FEA-FCE0-CDBF-81F206745E34}"/>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Donnez la bibliothèque et sa version avant de coder.</a:t>
            </a:r>
          </a:p>
        </p:txBody>
      </p:sp>
      <p:sp>
        <p:nvSpPr>
          <p:cNvPr id="5" name="Item_1">
            <a:extLst>
              <a:ext uri="{FF2B5EF4-FFF2-40B4-BE49-F238E27FC236}">
                <a16:creationId xmlns:a16="http://schemas.microsoft.com/office/drawing/2014/main" id="{24D2A9C5-86A7-0654-D818-065671D954F6}"/>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Configurer :</a:t>
            </a:r>
            <a:r>
              <a:rPr lang="fr-FR" sz="2600">
                <a:solidFill>
                  <a:srgbClr val="F4EDE0"/>
                </a:solidFill>
                <a:latin typeface="Outfit" pitchFamily="2" charset="0"/>
              </a:rPr>
              <a:t> Dans le terminal : </a:t>
            </a:r>
          </a:p>
          <a:p>
            <a:r>
              <a:rPr lang="fr-FR" sz="2600">
                <a:solidFill>
                  <a:srgbClr val="F4EDE0"/>
                </a:solidFill>
                <a:latin typeface="Outfit" pitchFamily="2" charset="0"/>
              </a:rPr>
              <a:t>npx ctx7 setup --claude</a:t>
            </a:r>
          </a:p>
        </p:txBody>
      </p:sp>
      <p:sp>
        <p:nvSpPr>
          <p:cNvPr id="6" name="Item_2">
            <a:extLst>
              <a:ext uri="{FF2B5EF4-FFF2-40B4-BE49-F238E27FC236}">
                <a16:creationId xmlns:a16="http://schemas.microsoft.com/office/drawing/2014/main" id="{33CDA31C-CAF3-FC91-FB54-C4322632E936}"/>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Demander :</a:t>
            </a:r>
            <a:r>
              <a:rPr lang="fr-FR" sz="2600">
                <a:solidFill>
                  <a:srgbClr val="F4EDE0"/>
                </a:solidFill>
                <a:latin typeface="Outfit" pitchFamily="2" charset="0"/>
              </a:rPr>
              <a:t> Nommez la bibliothèque, sa version et la question.</a:t>
            </a:r>
          </a:p>
        </p:txBody>
      </p:sp>
      <p:sp>
        <p:nvSpPr>
          <p:cNvPr id="7" name="Item_3">
            <a:extLst>
              <a:ext uri="{FF2B5EF4-FFF2-40B4-BE49-F238E27FC236}">
                <a16:creationId xmlns:a16="http://schemas.microsoft.com/office/drawing/2014/main" id="{DCBE89F6-B957-E36D-E9EA-93AAD4F17EA1}"/>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Comparer :</a:t>
            </a:r>
            <a:r>
              <a:rPr lang="fr-FR" sz="2600">
                <a:solidFill>
                  <a:srgbClr val="F4EDE0"/>
                </a:solidFill>
                <a:latin typeface="Outfit" pitchFamily="2" charset="0"/>
              </a:rPr>
              <a:t> Vérifiez les signatures et les sources reçues.</a:t>
            </a:r>
          </a:p>
        </p:txBody>
      </p:sp>
      <p:sp>
        <p:nvSpPr>
          <p:cNvPr id="8" name="Code_label">
            <a:extLst>
              <a:ext uri="{FF2B5EF4-FFF2-40B4-BE49-F238E27FC236}">
                <a16:creationId xmlns:a16="http://schemas.microsoft.com/office/drawing/2014/main" id="{9B9075D5-BF6E-2981-2CAF-556D884EE22B}"/>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9" name="Code">
            <a:extLst>
              <a:ext uri="{FF2B5EF4-FFF2-40B4-BE49-F238E27FC236}">
                <a16:creationId xmlns:a16="http://schemas.microsoft.com/office/drawing/2014/main" id="{AE77C2E9-055C-646A-303D-2BDDD4F2C698}"/>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use context7 pour React, version</a:t>
            </a:r>
          </a:p>
          <a:p>
            <a:r>
              <a:rPr lang="fr-FR" sz="2200">
                <a:solidFill>
                  <a:srgbClr val="F4EDE0"/>
                </a:solidFill>
                <a:latin typeface="JetBrains Mono" panose="02000009000000000000" pitchFamily="49" charset="0"/>
              </a:rPr>
              <a:t>installée dans package.json.</a:t>
            </a:r>
          </a:p>
          <a:p>
            <a:r>
              <a:rPr lang="fr-FR" sz="2200">
                <a:solidFill>
                  <a:srgbClr val="F4EDE0"/>
                </a:solidFill>
                <a:latin typeface="JetBrains Mono" panose="02000009000000000000" pitchFamily="49" charset="0"/>
              </a:rPr>
              <a:t>Comment gérer un formulaire contrôlé</a:t>
            </a:r>
          </a:p>
          <a:p>
            <a:r>
              <a:rPr lang="fr-FR" sz="2200">
                <a:solidFill>
                  <a:srgbClr val="F4EDE0"/>
                </a:solidFill>
                <a:latin typeface="JetBrains Mono" panose="02000009000000000000" pitchFamily="49" charset="0"/>
              </a:rPr>
              <a:t>et son état de chargement ?</a:t>
            </a:r>
          </a:p>
          <a:p>
            <a:r>
              <a:rPr lang="fr-FR" sz="2200">
                <a:solidFill>
                  <a:srgbClr val="F4EDE0"/>
                </a:solidFill>
                <a:latin typeface="JetBrains Mono" panose="02000009000000000000" pitchFamily="49" charset="0"/>
              </a:rPr>
              <a:t>Cite la documentation et montre un</a:t>
            </a:r>
          </a:p>
          <a:p>
            <a:r>
              <a:rPr lang="fr-FR" sz="2200">
                <a:solidFill>
                  <a:srgbClr val="F4EDE0"/>
                </a:solidFill>
                <a:latin typeface="JetBrains Mono" panose="02000009000000000000" pitchFamily="49" charset="0"/>
              </a:rPr>
              <a:t>exemple minimal.</a:t>
            </a:r>
          </a:p>
        </p:txBody>
      </p:sp>
      <p:sp>
        <p:nvSpPr>
          <p:cNvPr id="10" name="Action">
            <a:extLst>
              <a:ext uri="{FF2B5EF4-FFF2-40B4-BE49-F238E27FC236}">
                <a16:creationId xmlns:a16="http://schemas.microsoft.com/office/drawing/2014/main" id="{259AF1EC-B44C-9C39-962E-D2BAA53FC45E}"/>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3 min : vérifiez une API React utilisée dans le lot.</a:t>
            </a:r>
          </a:p>
        </p:txBody>
      </p:sp>
    </p:spTree>
    <p:extLst>
      <p:ext uri="{BB962C8B-B14F-4D97-AF65-F5344CB8AC3E}">
        <p14:creationId xmlns:p14="http://schemas.microsoft.com/office/powerpoint/2010/main" val="2222353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e19">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C420EB1F-A5D5-853F-F8FA-1C4DA296D520}"/>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Les outils    19/36</a:t>
            </a:r>
          </a:p>
        </p:txBody>
      </p:sp>
      <p:sp>
        <p:nvSpPr>
          <p:cNvPr id="3" name="Titre">
            <a:extLst>
              <a:ext uri="{FF2B5EF4-FFF2-40B4-BE49-F238E27FC236}">
                <a16:creationId xmlns:a16="http://schemas.microsoft.com/office/drawing/2014/main" id="{A506BA11-23EE-F8C8-ADAD-4B4E08C6FD23}"/>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Firecrawl : garder le texte et sa source</a:t>
            </a:r>
          </a:p>
        </p:txBody>
      </p:sp>
      <p:sp>
        <p:nvSpPr>
          <p:cNvPr id="4" name="Idee">
            <a:extLst>
              <a:ext uri="{FF2B5EF4-FFF2-40B4-BE49-F238E27FC236}">
                <a16:creationId xmlns:a16="http://schemas.microsoft.com/office/drawing/2014/main" id="{4B108C1D-69C5-5B40-D50B-28C5BD1ADC6A}"/>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Une extraction devient utile après comparaison avec la page.</a:t>
            </a:r>
          </a:p>
        </p:txBody>
      </p:sp>
      <p:sp>
        <p:nvSpPr>
          <p:cNvPr id="5" name="Item_1">
            <a:extLst>
              <a:ext uri="{FF2B5EF4-FFF2-40B4-BE49-F238E27FC236}">
                <a16:creationId xmlns:a16="http://schemas.microsoft.com/office/drawing/2014/main" id="{DCC5C9BD-4ED1-3090-40BF-F75D8AFBCD33}"/>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Connecter :</a:t>
            </a:r>
            <a:r>
              <a:rPr lang="fr-FR" sz="2600">
                <a:solidFill>
                  <a:srgbClr val="F4EDE0"/>
                </a:solidFill>
                <a:latin typeface="Outfit" pitchFamily="2" charset="0"/>
              </a:rPr>
              <a:t> Choisissez le mode sans clé ou votre compte.</a:t>
            </a:r>
          </a:p>
        </p:txBody>
      </p:sp>
      <p:sp>
        <p:nvSpPr>
          <p:cNvPr id="6" name="Item_2">
            <a:extLst>
              <a:ext uri="{FF2B5EF4-FFF2-40B4-BE49-F238E27FC236}">
                <a16:creationId xmlns:a16="http://schemas.microsoft.com/office/drawing/2014/main" id="{1671F8E4-5CE4-3AE9-343B-B03C0C7A1525}"/>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Extraire :</a:t>
            </a:r>
            <a:r>
              <a:rPr lang="fr-FR" sz="2600">
                <a:solidFill>
                  <a:srgbClr val="F4EDE0"/>
                </a:solidFill>
                <a:latin typeface="Outfit" pitchFamily="2" charset="0"/>
              </a:rPr>
              <a:t> Demandez une seule URL validée.</a:t>
            </a:r>
          </a:p>
        </p:txBody>
      </p:sp>
      <p:sp>
        <p:nvSpPr>
          <p:cNvPr id="7" name="Item_3">
            <a:extLst>
              <a:ext uri="{FF2B5EF4-FFF2-40B4-BE49-F238E27FC236}">
                <a16:creationId xmlns:a16="http://schemas.microsoft.com/office/drawing/2014/main" id="{8818B743-F9C2-CB54-3004-369D8C092DCD}"/>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Contrôler :</a:t>
            </a:r>
            <a:r>
              <a:rPr lang="fr-FR" sz="2600">
                <a:solidFill>
                  <a:srgbClr val="F4EDE0"/>
                </a:solidFill>
                <a:latin typeface="Outfit" pitchFamily="2" charset="0"/>
              </a:rPr>
              <a:t> Gardez texte, URL, date et limites.</a:t>
            </a:r>
          </a:p>
        </p:txBody>
      </p:sp>
      <p:sp>
        <p:nvSpPr>
          <p:cNvPr id="8" name="Code_label">
            <a:extLst>
              <a:ext uri="{FF2B5EF4-FFF2-40B4-BE49-F238E27FC236}">
                <a16:creationId xmlns:a16="http://schemas.microsoft.com/office/drawing/2014/main" id="{7B147E99-B302-9DB3-E500-2B211ABC880B}"/>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 · extrait</a:t>
            </a:r>
          </a:p>
        </p:txBody>
      </p:sp>
      <p:sp>
        <p:nvSpPr>
          <p:cNvPr id="9" name="Code">
            <a:extLst>
              <a:ext uri="{FF2B5EF4-FFF2-40B4-BE49-F238E27FC236}">
                <a16:creationId xmlns:a16="http://schemas.microsoft.com/office/drawing/2014/main" id="{2787785F-D1D8-CF62-D8F4-CB271C311661}"/>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Avec Firecrawl, lis l’URL de structure</a:t>
            </a:r>
          </a:p>
          <a:p>
            <a:r>
              <a:rPr lang="fr-FR" sz="2200">
                <a:solidFill>
                  <a:srgbClr val="F4EDE0"/>
                </a:solidFill>
                <a:latin typeface="JetBrains Mono" panose="02000009000000000000" pitchFamily="49" charset="0"/>
              </a:rPr>
              <a:t>sociale donnée par le PO.</a:t>
            </a:r>
          </a:p>
          <a:p>
            <a:r>
              <a:rPr lang="fr-FR" sz="2200">
                <a:solidFill>
                  <a:srgbClr val="F4EDE0"/>
                </a:solidFill>
                <a:latin typeface="JetBrains Mono" panose="02000009000000000000" pitchFamily="49" charset="0"/>
              </a:rPr>
              <a:t>Extrais titre, texte utile, URL et</a:t>
            </a:r>
          </a:p>
          <a:p>
            <a:r>
              <a:rPr lang="fr-FR" sz="2200">
                <a:solidFill>
                  <a:srgbClr val="F4EDE0"/>
                </a:solidFill>
                <a:latin typeface="JetBrains Mono" panose="02000009000000000000" pitchFamily="49" charset="0"/>
              </a:rPr>
              <a:t>date dans mon lot.</a:t>
            </a:r>
          </a:p>
          <a:p>
            <a:r>
              <a:rPr lang="fr-FR" sz="2200">
                <a:solidFill>
                  <a:srgbClr val="F4EDE0"/>
                </a:solidFill>
                <a:latin typeface="JetBrains Mono" panose="02000009000000000000" pitchFamily="49" charset="0"/>
              </a:rPr>
              <a:t>N’invente aucun contact ; note les</a:t>
            </a:r>
          </a:p>
          <a:p>
            <a:r>
              <a:rPr lang="fr-FR" sz="2200">
                <a:solidFill>
                  <a:srgbClr val="F4EDE0"/>
                </a:solidFill>
                <a:latin typeface="JetBrains Mono" panose="02000009000000000000" pitchFamily="49" charset="0"/>
              </a:rPr>
              <a:t>champs absents.</a:t>
            </a:r>
          </a:p>
          <a:p>
            <a:r>
              <a:rPr lang="fr-FR" sz="2200">
                <a:solidFill>
                  <a:srgbClr val="F4EDE0"/>
                </a:solidFill>
                <a:latin typeface="JetBrains Mono" panose="02000009000000000000" pitchFamily="49" charset="0"/>
              </a:rPr>
              <a:t>Montre l’extrait source avant de</a:t>
            </a:r>
          </a:p>
        </p:txBody>
      </p:sp>
      <p:sp>
        <p:nvSpPr>
          <p:cNvPr id="10" name="Code_complet">
            <a:extLst>
              <a:ext uri="{FF2B5EF4-FFF2-40B4-BE49-F238E27FC236}">
                <a16:creationId xmlns:a16="http://schemas.microsoft.com/office/drawing/2014/main" id="{C6CDC793-DE79-C8EB-5D4B-C794B287ED7A}"/>
              </a:ext>
            </a:extLst>
          </p:cNvPr>
          <p:cNvSpPr txBox="1"/>
          <p:nvPr/>
        </p:nvSpPr>
        <p:spPr>
          <a:xfrm>
            <a:off x="8636000" y="7518399"/>
            <a:ext cx="6654800" cy="660400"/>
          </a:xfrm>
          <a:prstGeom prst="rect">
            <a:avLst/>
          </a:prstGeom>
          <a:noFill/>
        </p:spPr>
        <p:txBody>
          <a:bodyPr vert="horz" wrap="square" lIns="0" tIns="0" rIns="0" bIns="0" rtlCol="0">
            <a:noAutofit/>
          </a:bodyPr>
          <a:lstStyle/>
          <a:p>
            <a:r>
              <a:rPr lang="fr-FR" sz="2000">
                <a:solidFill>
                  <a:srgbClr val="A8A297"/>
                </a:solidFill>
                <a:latin typeface="Outfit" pitchFamily="2" charset="0"/>
              </a:rPr>
              <a:t>Prompt complet dans les notes et le HTML</a:t>
            </a:r>
          </a:p>
        </p:txBody>
      </p:sp>
      <p:sp>
        <p:nvSpPr>
          <p:cNvPr id="11" name="Action">
            <a:extLst>
              <a:ext uri="{FF2B5EF4-FFF2-40B4-BE49-F238E27FC236}">
                <a16:creationId xmlns:a16="http://schemas.microsoft.com/office/drawing/2014/main" id="{B0836132-71EA-8AC9-765A-D2E8DEB546D0}"/>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5 min : extrayez et relisez une page de la liste.</a:t>
            </a:r>
          </a:p>
        </p:txBody>
      </p:sp>
    </p:spTree>
    <p:extLst>
      <p:ext uri="{BB962C8B-B14F-4D97-AF65-F5344CB8AC3E}">
        <p14:creationId xmlns:p14="http://schemas.microsoft.com/office/powerpoint/2010/main" val="1163684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e20">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A872D532-BF21-C8E1-44FE-DE122C6FAB50}"/>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Les outils    20/36</a:t>
            </a:r>
          </a:p>
        </p:txBody>
      </p:sp>
      <p:sp>
        <p:nvSpPr>
          <p:cNvPr id="3" name="Titre">
            <a:extLst>
              <a:ext uri="{FF2B5EF4-FFF2-40B4-BE49-F238E27FC236}">
                <a16:creationId xmlns:a16="http://schemas.microsoft.com/office/drawing/2014/main" id="{EA9C2EF8-1B93-B8A0-7C63-A00DEF78A5F4}"/>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Archify : montrer les frontières du projet</a:t>
            </a:r>
          </a:p>
        </p:txBody>
      </p:sp>
      <p:sp>
        <p:nvSpPr>
          <p:cNvPr id="4" name="Idee">
            <a:extLst>
              <a:ext uri="{FF2B5EF4-FFF2-40B4-BE49-F238E27FC236}">
                <a16:creationId xmlns:a16="http://schemas.microsoft.com/office/drawing/2014/main" id="{AC99CDB1-5E92-A908-AA3A-D7DAFFA61103}"/>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Un schéma rend le contrat et les responsabilités visibles.</a:t>
            </a:r>
          </a:p>
        </p:txBody>
      </p:sp>
      <p:sp>
        <p:nvSpPr>
          <p:cNvPr id="5" name="Item_1">
            <a:extLst>
              <a:ext uri="{FF2B5EF4-FFF2-40B4-BE49-F238E27FC236}">
                <a16:creationId xmlns:a16="http://schemas.microsoft.com/office/drawing/2014/main" id="{222B3E25-3F8C-8A30-752E-8263CA8F84C1}"/>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Installer :</a:t>
            </a:r>
            <a:r>
              <a:rPr lang="fr-FR" sz="2600">
                <a:solidFill>
                  <a:srgbClr val="F4EDE0"/>
                </a:solidFill>
                <a:latin typeface="Outfit" pitchFamily="2" charset="0"/>
              </a:rPr>
              <a:t> Suivez le README officiel du dépôt Archify.</a:t>
            </a:r>
          </a:p>
        </p:txBody>
      </p:sp>
      <p:sp>
        <p:nvSpPr>
          <p:cNvPr id="6" name="Item_2">
            <a:extLst>
              <a:ext uri="{FF2B5EF4-FFF2-40B4-BE49-F238E27FC236}">
                <a16:creationId xmlns:a16="http://schemas.microsoft.com/office/drawing/2014/main" id="{3DBA4BB7-DEEB-4C45-C2CE-01AF838B6687}"/>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Décrire :</a:t>
            </a:r>
            <a:r>
              <a:rPr lang="fr-FR" sz="2600">
                <a:solidFill>
                  <a:srgbClr val="F4EDE0"/>
                </a:solidFill>
                <a:latin typeface="Outfit" pitchFamily="2" charset="0"/>
              </a:rPr>
              <a:t> Entrées, trois lots et point d’intégration.</a:t>
            </a:r>
          </a:p>
        </p:txBody>
      </p:sp>
      <p:sp>
        <p:nvSpPr>
          <p:cNvPr id="7" name="Item_3">
            <a:extLst>
              <a:ext uri="{FF2B5EF4-FFF2-40B4-BE49-F238E27FC236}">
                <a16:creationId xmlns:a16="http://schemas.microsoft.com/office/drawing/2014/main" id="{D1DAB9A7-09BD-A4E7-4F74-C0B6816860B8}"/>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Relire :</a:t>
            </a:r>
            <a:r>
              <a:rPr lang="fr-FR" sz="2600">
                <a:solidFill>
                  <a:srgbClr val="F4EDE0"/>
                </a:solidFill>
                <a:latin typeface="Outfit" pitchFamily="2" charset="0"/>
              </a:rPr>
              <a:t> Ouvrez le HTML et vérifiez chaque flèche.</a:t>
            </a:r>
          </a:p>
        </p:txBody>
      </p:sp>
      <p:sp>
        <p:nvSpPr>
          <p:cNvPr id="8" name="Code_label">
            <a:extLst>
              <a:ext uri="{FF2B5EF4-FFF2-40B4-BE49-F238E27FC236}">
                <a16:creationId xmlns:a16="http://schemas.microsoft.com/office/drawing/2014/main" id="{B985B415-D277-225F-A62D-68B17311627F}"/>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 · extrait</a:t>
            </a:r>
          </a:p>
        </p:txBody>
      </p:sp>
      <p:sp>
        <p:nvSpPr>
          <p:cNvPr id="9" name="Code">
            <a:extLst>
              <a:ext uri="{FF2B5EF4-FFF2-40B4-BE49-F238E27FC236}">
                <a16:creationId xmlns:a16="http://schemas.microsoft.com/office/drawing/2014/main" id="{0A529D05-0505-EAAE-0C61-96F161EA5C56}"/>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/archify Schématise Reconnect Assist :</a:t>
            </a:r>
          </a:p>
          <a:p>
            <a:r>
              <a:rPr lang="fr-FR" sz="2200">
                <a:solidFill>
                  <a:srgbClr val="F4EDE0"/>
                </a:solidFill>
                <a:latin typeface="JetBrains Mono" panose="02000009000000000000" pitchFamily="49" charset="0"/>
              </a:rPr>
              <a:t>Romain = connaissances, Ashad =</a:t>
            </a:r>
          </a:p>
          <a:p>
            <a:r>
              <a:rPr lang="fr-FR" sz="2200">
                <a:solidFill>
                  <a:srgbClr val="F4EDE0"/>
                </a:solidFill>
                <a:latin typeface="JetBrains Mono" panose="02000009000000000000" pitchFamily="49" charset="0"/>
              </a:rPr>
              <a:t>assistant, Nils = annuaire.</a:t>
            </a:r>
          </a:p>
          <a:p>
            <a:r>
              <a:rPr lang="fr-FR" sz="2200">
                <a:solidFill>
                  <a:srgbClr val="F4EDE0"/>
                </a:solidFill>
                <a:latin typeface="JetBrains Mono" panose="02000009000000000000" pitchFamily="49" charset="0"/>
              </a:rPr>
              <a:t>Contrat partagé :</a:t>
            </a:r>
          </a:p>
          <a:p>
            <a:r>
              <a:rPr lang="fr-FR" sz="2200">
                <a:solidFill>
                  <a:srgbClr val="F4EDE0"/>
                </a:solidFill>
                <a:latin typeface="JetBrains Mono" panose="02000009000000000000" pitchFamily="49" charset="0"/>
              </a:rPr>
              <a:t>src/types/orientation.ts.</a:t>
            </a:r>
          </a:p>
          <a:p>
            <a:r>
              <a:rPr lang="fr-FR" sz="2200">
                <a:solidFill>
                  <a:srgbClr val="F4EDE0"/>
                </a:solidFill>
                <a:latin typeface="JetBrains Mono" panose="02000009000000000000" pitchFamily="49" charset="0"/>
              </a:rPr>
              <a:t>Intégration : src/app/ et</a:t>
            </a:r>
          </a:p>
          <a:p>
            <a:r>
              <a:rPr lang="fr-FR" sz="2200">
                <a:solidFill>
                  <a:srgbClr val="F4EDE0"/>
                </a:solidFill>
                <a:latin typeface="JetBrains Mono" panose="02000009000000000000" pitchFamily="49" charset="0"/>
              </a:rPr>
              <a:t>src/services/.</a:t>
            </a:r>
          </a:p>
        </p:txBody>
      </p:sp>
      <p:sp>
        <p:nvSpPr>
          <p:cNvPr id="10" name="Code_complet">
            <a:extLst>
              <a:ext uri="{FF2B5EF4-FFF2-40B4-BE49-F238E27FC236}">
                <a16:creationId xmlns:a16="http://schemas.microsoft.com/office/drawing/2014/main" id="{6E42EA88-252F-4E99-44F7-93F335FDE123}"/>
              </a:ext>
            </a:extLst>
          </p:cNvPr>
          <p:cNvSpPr txBox="1"/>
          <p:nvPr/>
        </p:nvSpPr>
        <p:spPr>
          <a:xfrm>
            <a:off x="8636000" y="7518399"/>
            <a:ext cx="6654800" cy="660400"/>
          </a:xfrm>
          <a:prstGeom prst="rect">
            <a:avLst/>
          </a:prstGeom>
          <a:noFill/>
        </p:spPr>
        <p:txBody>
          <a:bodyPr vert="horz" wrap="square" lIns="0" tIns="0" rIns="0" bIns="0" rtlCol="0">
            <a:noAutofit/>
          </a:bodyPr>
          <a:lstStyle/>
          <a:p>
            <a:r>
              <a:rPr lang="fr-FR" sz="2000">
                <a:solidFill>
                  <a:srgbClr val="A8A297"/>
                </a:solidFill>
                <a:latin typeface="Outfit" pitchFamily="2" charset="0"/>
              </a:rPr>
              <a:t>Prompt complet dans les notes et le HTML</a:t>
            </a:r>
          </a:p>
        </p:txBody>
      </p:sp>
      <p:sp>
        <p:nvSpPr>
          <p:cNvPr id="11" name="Action">
            <a:extLst>
              <a:ext uri="{FF2B5EF4-FFF2-40B4-BE49-F238E27FC236}">
                <a16:creationId xmlns:a16="http://schemas.microsoft.com/office/drawing/2014/main" id="{0B2AB991-E3F8-F51D-7700-0ADEEADC52B4}"/>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5 min : expliquez le schéma sans lire le code.</a:t>
            </a:r>
          </a:p>
        </p:txBody>
      </p:sp>
    </p:spTree>
    <p:extLst>
      <p:ext uri="{BB962C8B-B14F-4D97-AF65-F5344CB8AC3E}">
        <p14:creationId xmlns:p14="http://schemas.microsoft.com/office/powerpoint/2010/main" val="3831986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e21">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8D2C83E3-5E5F-990C-318E-E815C61CD2D3}"/>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Les outils    21/36</a:t>
            </a:r>
          </a:p>
        </p:txBody>
      </p:sp>
      <p:sp>
        <p:nvSpPr>
          <p:cNvPr id="3" name="Titre">
            <a:extLst>
              <a:ext uri="{FF2B5EF4-FFF2-40B4-BE49-F238E27FC236}">
                <a16:creationId xmlns:a16="http://schemas.microsoft.com/office/drawing/2014/main" id="{CD96FCC7-12D2-2D2E-B14E-2546D66B0FBE}"/>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OpenCode : conserver la même méthode</a:t>
            </a:r>
          </a:p>
        </p:txBody>
      </p:sp>
      <p:sp>
        <p:nvSpPr>
          <p:cNvPr id="4" name="Idee">
            <a:extLst>
              <a:ext uri="{FF2B5EF4-FFF2-40B4-BE49-F238E27FC236}">
                <a16:creationId xmlns:a16="http://schemas.microsoft.com/office/drawing/2014/main" id="{4B7711F6-FEF0-FE36-5CFA-5F524FD9B0C0}"/>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L’agent change ; le ticket, les limites et le Done restent.</a:t>
            </a:r>
          </a:p>
        </p:txBody>
      </p:sp>
      <p:sp>
        <p:nvSpPr>
          <p:cNvPr id="5" name="Item_1">
            <a:extLst>
              <a:ext uri="{FF2B5EF4-FFF2-40B4-BE49-F238E27FC236}">
                <a16:creationId xmlns:a16="http://schemas.microsoft.com/office/drawing/2014/main" id="{FAC2F79F-01C2-7D6B-E25F-3D84A8513FAC}"/>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Ouvrir :</a:t>
            </a:r>
            <a:r>
              <a:rPr lang="fr-FR" sz="2600">
                <a:solidFill>
                  <a:srgbClr val="F4EDE0"/>
                </a:solidFill>
                <a:latin typeface="Outfit" pitchFamily="2" charset="0"/>
              </a:rPr>
              <a:t> Installez OpenCode depuis sa documentation.</a:t>
            </a:r>
          </a:p>
        </p:txBody>
      </p:sp>
      <p:sp>
        <p:nvSpPr>
          <p:cNvPr id="6" name="Item_2">
            <a:extLst>
              <a:ext uri="{FF2B5EF4-FFF2-40B4-BE49-F238E27FC236}">
                <a16:creationId xmlns:a16="http://schemas.microsoft.com/office/drawing/2014/main" id="{3D506AC2-74F8-480E-1714-60C45B7A81A8}"/>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Connecter :</a:t>
            </a:r>
            <a:r>
              <a:rPr lang="fr-FR" sz="2600">
                <a:solidFill>
                  <a:srgbClr val="F4EDE0"/>
                </a:solidFill>
                <a:latin typeface="Outfit" pitchFamily="2" charset="0"/>
              </a:rPr>
              <a:t> /connect choisit un fournisseur ; /models un modèle.</a:t>
            </a:r>
          </a:p>
        </p:txBody>
      </p:sp>
      <p:sp>
        <p:nvSpPr>
          <p:cNvPr id="7" name="Item_3">
            <a:extLst>
              <a:ext uri="{FF2B5EF4-FFF2-40B4-BE49-F238E27FC236}">
                <a16:creationId xmlns:a16="http://schemas.microsoft.com/office/drawing/2014/main" id="{3A9DC097-B6F5-3C3B-3E71-516D925B2FAD}"/>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Cadrer :</a:t>
            </a:r>
            <a:r>
              <a:rPr lang="fr-FR" sz="2600">
                <a:solidFill>
                  <a:srgbClr val="F4EDE0"/>
                </a:solidFill>
                <a:latin typeface="Outfit" pitchFamily="2" charset="0"/>
              </a:rPr>
              <a:t> /init prépare les règles dans AGENTS.md.</a:t>
            </a:r>
          </a:p>
        </p:txBody>
      </p:sp>
      <p:sp>
        <p:nvSpPr>
          <p:cNvPr id="8" name="Code_label">
            <a:extLst>
              <a:ext uri="{FF2B5EF4-FFF2-40B4-BE49-F238E27FC236}">
                <a16:creationId xmlns:a16="http://schemas.microsoft.com/office/drawing/2014/main" id="{6F4F1C07-AF09-6011-F472-A1EC212A8617}"/>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9" name="Code">
            <a:extLst>
              <a:ext uri="{FF2B5EF4-FFF2-40B4-BE49-F238E27FC236}">
                <a16:creationId xmlns:a16="http://schemas.microsoft.com/office/drawing/2014/main" id="{C718027C-BCF1-9B78-0C6A-3345FA2DDF5E}"/>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Lis AGENTS.md et le ticket ANNU-01.</a:t>
            </a:r>
          </a:p>
          <a:p>
            <a:r>
              <a:rPr lang="fr-FR" sz="2200">
                <a:solidFill>
                  <a:srgbClr val="F4EDE0"/>
                </a:solidFill>
                <a:latin typeface="JetBrains Mono" panose="02000009000000000000" pitchFamily="49" charset="0"/>
              </a:rPr>
              <a:t>Propose le plan du lot</a:t>
            </a:r>
          </a:p>
          <a:p>
            <a:r>
              <a:rPr lang="fr-FR" sz="2200">
                <a:solidFill>
                  <a:srgbClr val="F4EDE0"/>
                </a:solidFill>
                <a:latin typeface="JetBrains Mono" panose="02000009000000000000" pitchFamily="49" charset="0"/>
              </a:rPr>
              <a:t>src/features/annuaire/.</a:t>
            </a:r>
          </a:p>
          <a:p>
            <a:r>
              <a:rPr lang="fr-FR" sz="2200">
                <a:solidFill>
                  <a:srgbClr val="F4EDE0"/>
                </a:solidFill>
                <a:latin typeface="JetBrains Mono" panose="02000009000000000000" pitchFamily="49" charset="0"/>
              </a:rPr>
              <a:t>Indique les données et accès</a:t>
            </a:r>
          </a:p>
          <a:p>
            <a:r>
              <a:rPr lang="fr-FR" sz="2200">
                <a:solidFill>
                  <a:srgbClr val="F4EDE0"/>
                </a:solidFill>
                <a:latin typeface="JetBrains Mono" panose="02000009000000000000" pitchFamily="49" charset="0"/>
              </a:rPr>
              <a:t>manquants, sans les deviner.</a:t>
            </a:r>
          </a:p>
        </p:txBody>
      </p:sp>
      <p:sp>
        <p:nvSpPr>
          <p:cNvPr id="10" name="Action">
            <a:extLst>
              <a:ext uri="{FF2B5EF4-FFF2-40B4-BE49-F238E27FC236}">
                <a16:creationId xmlns:a16="http://schemas.microsoft.com/office/drawing/2014/main" id="{9B8DE32D-5F6E-3696-91C1-C57D2EAA810F}"/>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Découverte · 3 min : comparez le rôle de AGENTS.md.</a:t>
            </a:r>
          </a:p>
        </p:txBody>
      </p:sp>
    </p:spTree>
    <p:extLst>
      <p:ext uri="{BB962C8B-B14F-4D97-AF65-F5344CB8AC3E}">
        <p14:creationId xmlns:p14="http://schemas.microsoft.com/office/powerpoint/2010/main" val="2368793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e22">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F67F9D7E-7207-D1B0-702B-FBE8AE321BBC}"/>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Les outils    22/36</a:t>
            </a:r>
          </a:p>
        </p:txBody>
      </p:sp>
      <p:sp>
        <p:nvSpPr>
          <p:cNvPr id="3" name="Titre">
            <a:extLst>
              <a:ext uri="{FF2B5EF4-FFF2-40B4-BE49-F238E27FC236}">
                <a16:creationId xmlns:a16="http://schemas.microsoft.com/office/drawing/2014/main" id="{D3139FD9-0A25-F2FB-FA78-60C7ABA71E13}"/>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Buzz : explorer un espace humains et agents</a:t>
            </a:r>
          </a:p>
        </p:txBody>
      </p:sp>
      <p:sp>
        <p:nvSpPr>
          <p:cNvPr id="4" name="Idee">
            <a:extLst>
              <a:ext uri="{FF2B5EF4-FFF2-40B4-BE49-F238E27FC236}">
                <a16:creationId xmlns:a16="http://schemas.microsoft.com/office/drawing/2014/main" id="{9DD0D6D1-879F-66EB-C75D-81789325D4E1}"/>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Une découverte de collaboration, à tester hors du chemin critique.</a:t>
            </a:r>
          </a:p>
        </p:txBody>
      </p:sp>
      <p:sp>
        <p:nvSpPr>
          <p:cNvPr id="5" name="Item_1">
            <a:extLst>
              <a:ext uri="{FF2B5EF4-FFF2-40B4-BE49-F238E27FC236}">
                <a16:creationId xmlns:a16="http://schemas.microsoft.com/office/drawing/2014/main" id="{FA8288AB-B550-A27E-F98D-BAD6480F43C0}"/>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Découvrir :</a:t>
            </a:r>
            <a:r>
              <a:rPr lang="fr-FR" sz="2600">
                <a:solidFill>
                  <a:srgbClr val="F4EDE0"/>
                </a:solidFill>
                <a:latin typeface="Outfit" pitchFamily="2" charset="0"/>
              </a:rPr>
              <a:t> Lisez le projet public et ses versions.</a:t>
            </a:r>
          </a:p>
        </p:txBody>
      </p:sp>
      <p:sp>
        <p:nvSpPr>
          <p:cNvPr id="6" name="Item_2">
            <a:extLst>
              <a:ext uri="{FF2B5EF4-FFF2-40B4-BE49-F238E27FC236}">
                <a16:creationId xmlns:a16="http://schemas.microsoft.com/office/drawing/2014/main" id="{A02A35A4-9C3E-D51A-6BA3-C44CF6F6F897}"/>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Préparer :</a:t>
            </a:r>
            <a:r>
              <a:rPr lang="fr-FR" sz="2600">
                <a:solidFill>
                  <a:srgbClr val="F4EDE0"/>
                </a:solidFill>
                <a:latin typeface="Outfit" pitchFamily="2" charset="0"/>
              </a:rPr>
              <a:t> Un canal, un besoin et des documents non sensibles.</a:t>
            </a:r>
          </a:p>
        </p:txBody>
      </p:sp>
      <p:sp>
        <p:nvSpPr>
          <p:cNvPr id="7" name="Item_3">
            <a:extLst>
              <a:ext uri="{FF2B5EF4-FFF2-40B4-BE49-F238E27FC236}">
                <a16:creationId xmlns:a16="http://schemas.microsoft.com/office/drawing/2014/main" id="{D907F07D-FCA7-C89F-BCE2-A891D502F0A3}"/>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Évaluer :</a:t>
            </a:r>
            <a:r>
              <a:rPr lang="fr-FR" sz="2600">
                <a:solidFill>
                  <a:srgbClr val="F4EDE0"/>
                </a:solidFill>
                <a:latin typeface="Outfit" pitchFamily="2" charset="0"/>
              </a:rPr>
              <a:t> Qui répond, avec quel accès et quelle source ?</a:t>
            </a:r>
          </a:p>
        </p:txBody>
      </p:sp>
      <p:sp>
        <p:nvSpPr>
          <p:cNvPr id="8" name="Code_label">
            <a:extLst>
              <a:ext uri="{FF2B5EF4-FFF2-40B4-BE49-F238E27FC236}">
                <a16:creationId xmlns:a16="http://schemas.microsoft.com/office/drawing/2014/main" id="{E6A5226C-9C78-44B4-48C9-E75AAAF65822}"/>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 · extrait</a:t>
            </a:r>
          </a:p>
        </p:txBody>
      </p:sp>
      <p:sp>
        <p:nvSpPr>
          <p:cNvPr id="9" name="Code">
            <a:extLst>
              <a:ext uri="{FF2B5EF4-FFF2-40B4-BE49-F238E27FC236}">
                <a16:creationId xmlns:a16="http://schemas.microsoft.com/office/drawing/2014/main" id="{5CCB7FCB-C257-3058-8EFC-EE174ACD8F7E}"/>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Scénario à essayer après configuration</a:t>
            </a:r>
          </a:p>
          <a:p>
            <a:r>
              <a:rPr lang="fr-FR" sz="2200">
                <a:solidFill>
                  <a:srgbClr val="F4EDE0"/>
                </a:solidFill>
                <a:latin typeface="JetBrains Mono" panose="02000009000000000000" pitchFamily="49" charset="0"/>
              </a:rPr>
              <a:t>de Buzz :</a:t>
            </a:r>
          </a:p>
          <a:p>
            <a:r>
              <a:rPr lang="fr-FR" sz="2200">
                <a:solidFill>
                  <a:srgbClr val="F4EDE0"/>
                </a:solidFill>
                <a:latin typeface="JetBrains Mono" panose="02000009000000000000" pitchFamily="49" charset="0"/>
              </a:rPr>
              <a:t>Résume les décisions du lot</a:t>
            </a:r>
          </a:p>
          <a:p>
            <a:r>
              <a:rPr lang="fr-FR" sz="2200">
                <a:solidFill>
                  <a:srgbClr val="F4EDE0"/>
                </a:solidFill>
                <a:latin typeface="JetBrains Mono" panose="02000009000000000000" pitchFamily="49" charset="0"/>
              </a:rPr>
              <a:t>connaissances disponibles ici.</a:t>
            </a:r>
          </a:p>
          <a:p>
            <a:r>
              <a:rPr lang="fr-FR" sz="2200">
                <a:solidFill>
                  <a:srgbClr val="F4EDE0"/>
                </a:solidFill>
                <a:latin typeface="JetBrains Mono" panose="02000009000000000000" pitchFamily="49" charset="0"/>
              </a:rPr>
              <a:t>Cite les messages ou fichiers</a:t>
            </a:r>
          </a:p>
          <a:p>
            <a:r>
              <a:rPr lang="fr-FR" sz="2200">
                <a:solidFill>
                  <a:srgbClr val="F4EDE0"/>
                </a:solidFill>
                <a:latin typeface="JetBrains Mono" panose="02000009000000000000" pitchFamily="49" charset="0"/>
              </a:rPr>
              <a:t>utilisés.</a:t>
            </a:r>
          </a:p>
          <a:p>
            <a:r>
              <a:rPr lang="fr-FR" sz="2200">
                <a:solidFill>
                  <a:srgbClr val="F4EDE0"/>
                </a:solidFill>
                <a:latin typeface="JetBrains Mono" panose="02000009000000000000" pitchFamily="49" charset="0"/>
              </a:rPr>
              <a:t>Si une décision manque, indique-le</a:t>
            </a:r>
          </a:p>
        </p:txBody>
      </p:sp>
      <p:sp>
        <p:nvSpPr>
          <p:cNvPr id="10" name="Code_complet">
            <a:extLst>
              <a:ext uri="{FF2B5EF4-FFF2-40B4-BE49-F238E27FC236}">
                <a16:creationId xmlns:a16="http://schemas.microsoft.com/office/drawing/2014/main" id="{7A860212-C014-24B7-3928-F8431F8C5338}"/>
              </a:ext>
            </a:extLst>
          </p:cNvPr>
          <p:cNvSpPr txBox="1"/>
          <p:nvPr/>
        </p:nvSpPr>
        <p:spPr>
          <a:xfrm>
            <a:off x="8636000" y="7518399"/>
            <a:ext cx="6654800" cy="660400"/>
          </a:xfrm>
          <a:prstGeom prst="rect">
            <a:avLst/>
          </a:prstGeom>
          <a:noFill/>
        </p:spPr>
        <p:txBody>
          <a:bodyPr vert="horz" wrap="square" lIns="0" tIns="0" rIns="0" bIns="0" rtlCol="0">
            <a:noAutofit/>
          </a:bodyPr>
          <a:lstStyle/>
          <a:p>
            <a:r>
              <a:rPr lang="fr-FR" sz="2000">
                <a:solidFill>
                  <a:srgbClr val="A8A297"/>
                </a:solidFill>
                <a:latin typeface="Outfit" pitchFamily="2" charset="0"/>
              </a:rPr>
              <a:t>Prompt complet dans les notes et le HTML</a:t>
            </a:r>
          </a:p>
        </p:txBody>
      </p:sp>
      <p:sp>
        <p:nvSpPr>
          <p:cNvPr id="11" name="Action">
            <a:extLst>
              <a:ext uri="{FF2B5EF4-FFF2-40B4-BE49-F238E27FC236}">
                <a16:creationId xmlns:a16="http://schemas.microsoft.com/office/drawing/2014/main" id="{11E36B35-A0D0-317F-C764-FE3278598507}"/>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Découverte · 2 min : formulez une question utile au canal.</a:t>
            </a:r>
          </a:p>
        </p:txBody>
      </p:sp>
    </p:spTree>
    <p:extLst>
      <p:ext uri="{BB962C8B-B14F-4D97-AF65-F5344CB8AC3E}">
        <p14:creationId xmlns:p14="http://schemas.microsoft.com/office/powerpoint/2010/main" val="1551422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e23">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A67834BD-9729-0CB3-34DF-7AF33D4931E8}"/>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Les outils    23/36</a:t>
            </a:r>
          </a:p>
        </p:txBody>
      </p:sp>
      <p:sp>
        <p:nvSpPr>
          <p:cNvPr id="3" name="Titre">
            <a:extLst>
              <a:ext uri="{FF2B5EF4-FFF2-40B4-BE49-F238E27FC236}">
                <a16:creationId xmlns:a16="http://schemas.microsoft.com/office/drawing/2014/main" id="{C9B74AE4-E497-7132-3E68-7932990073EF}"/>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Karpathy : faire vivre un wiki Markdown</a:t>
            </a:r>
          </a:p>
        </p:txBody>
      </p:sp>
      <p:sp>
        <p:nvSpPr>
          <p:cNvPr id="4" name="Idee">
            <a:extLst>
              <a:ext uri="{FF2B5EF4-FFF2-40B4-BE49-F238E27FC236}">
                <a16:creationId xmlns:a16="http://schemas.microsoft.com/office/drawing/2014/main" id="{4D1A358C-6DFF-4546-8679-209208DD52D0}"/>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Les sources restent brutes ; le wiki relie ce que vous apprenez.</a:t>
            </a:r>
          </a:p>
        </p:txBody>
      </p:sp>
      <p:sp>
        <p:nvSpPr>
          <p:cNvPr id="5" name="Item_1">
            <a:extLst>
              <a:ext uri="{FF2B5EF4-FFF2-40B4-BE49-F238E27FC236}">
                <a16:creationId xmlns:a16="http://schemas.microsoft.com/office/drawing/2014/main" id="{D8575C34-659C-2583-51CB-A90EDFA4DB3A}"/>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Ingest · intégrer :</a:t>
            </a:r>
            <a:r>
              <a:rPr lang="fr-FR" sz="2600">
                <a:solidFill>
                  <a:srgbClr val="F4EDE0"/>
                </a:solidFill>
                <a:latin typeface="Outfit" pitchFamily="2" charset="0"/>
              </a:rPr>
              <a:t> Lire une source, créer une page reliée.</a:t>
            </a:r>
          </a:p>
        </p:txBody>
      </p:sp>
      <p:sp>
        <p:nvSpPr>
          <p:cNvPr id="6" name="Item_2">
            <a:extLst>
              <a:ext uri="{FF2B5EF4-FFF2-40B4-BE49-F238E27FC236}">
                <a16:creationId xmlns:a16="http://schemas.microsoft.com/office/drawing/2014/main" id="{8F643ED4-0932-1BDB-08F7-6FD1ABC03371}"/>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Query · interroger :</a:t>
            </a:r>
            <a:r>
              <a:rPr lang="fr-FR" sz="2600">
                <a:solidFill>
                  <a:srgbClr val="F4EDE0"/>
                </a:solidFill>
                <a:latin typeface="Outfit" pitchFamily="2" charset="0"/>
              </a:rPr>
              <a:t> Répondre depuis le wiki en citant.</a:t>
            </a:r>
          </a:p>
        </p:txBody>
      </p:sp>
      <p:sp>
        <p:nvSpPr>
          <p:cNvPr id="7" name="Item_3">
            <a:extLst>
              <a:ext uri="{FF2B5EF4-FFF2-40B4-BE49-F238E27FC236}">
                <a16:creationId xmlns:a16="http://schemas.microsoft.com/office/drawing/2014/main" id="{AFF76D48-B7D3-4298-70C0-D3F0C07E0BE7}"/>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Lint · entretenir :</a:t>
            </a:r>
            <a:r>
              <a:rPr lang="fr-FR" sz="2600">
                <a:solidFill>
                  <a:srgbClr val="F4EDE0"/>
                </a:solidFill>
                <a:latin typeface="Outfit" pitchFamily="2" charset="0"/>
              </a:rPr>
              <a:t> Détecter liens cassés, doublons et contradictions.</a:t>
            </a:r>
          </a:p>
        </p:txBody>
      </p:sp>
      <p:sp>
        <p:nvSpPr>
          <p:cNvPr id="8" name="Code_label">
            <a:extLst>
              <a:ext uri="{FF2B5EF4-FFF2-40B4-BE49-F238E27FC236}">
                <a16:creationId xmlns:a16="http://schemas.microsoft.com/office/drawing/2014/main" id="{8B170291-6A22-F5B1-0E13-5F2348148E63}"/>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 · extrait</a:t>
            </a:r>
          </a:p>
        </p:txBody>
      </p:sp>
      <p:sp>
        <p:nvSpPr>
          <p:cNvPr id="9" name="Code">
            <a:extLst>
              <a:ext uri="{FF2B5EF4-FFF2-40B4-BE49-F238E27FC236}">
                <a16:creationId xmlns:a16="http://schemas.microsoft.com/office/drawing/2014/main" id="{4C5769AC-7A08-5AB9-5576-F59940E07221}"/>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Lis une source dans wiki/raw/ sans la</a:t>
            </a:r>
          </a:p>
          <a:p>
            <a:r>
              <a:rPr lang="fr-FR" sz="2200">
                <a:solidFill>
                  <a:srgbClr val="F4EDE0"/>
                </a:solidFill>
                <a:latin typeface="JetBrains Mono" panose="02000009000000000000" pitchFamily="49" charset="0"/>
              </a:rPr>
              <a:t>modifier.</a:t>
            </a:r>
          </a:p>
          <a:p>
            <a:r>
              <a:rPr lang="fr-FR" sz="2200">
                <a:solidFill>
                  <a:srgbClr val="F4EDE0"/>
                </a:solidFill>
                <a:latin typeface="JetBrains Mono" panose="02000009000000000000" pitchFamily="49" charset="0"/>
              </a:rPr>
              <a:t>Propose une page dans wiki/pages/ avec</a:t>
            </a:r>
          </a:p>
          <a:p>
            <a:r>
              <a:rPr lang="fr-FR" sz="2200">
                <a:solidFill>
                  <a:srgbClr val="F4EDE0"/>
                </a:solidFill>
                <a:latin typeface="JetBrains Mono" panose="02000009000000000000" pitchFamily="49" charset="0"/>
              </a:rPr>
              <a:t>son lien source.</a:t>
            </a:r>
          </a:p>
          <a:p>
            <a:r>
              <a:rPr lang="fr-FR" sz="2200">
                <a:solidFill>
                  <a:srgbClr val="F4EDE0"/>
                </a:solidFill>
                <a:latin typeface="JetBrains Mono" panose="02000009000000000000" pitchFamily="49" charset="0"/>
              </a:rPr>
              <a:t>Signale les incertitudes et les</a:t>
            </a:r>
          </a:p>
          <a:p>
            <a:r>
              <a:rPr lang="fr-FR" sz="2200">
                <a:solidFill>
                  <a:srgbClr val="F4EDE0"/>
                </a:solidFill>
                <a:latin typeface="JetBrains Mono" panose="02000009000000000000" pitchFamily="49" charset="0"/>
              </a:rPr>
              <a:t>contradictions.</a:t>
            </a:r>
          </a:p>
          <a:p>
            <a:r>
              <a:rPr lang="fr-FR" sz="2200">
                <a:solidFill>
                  <a:srgbClr val="F4EDE0"/>
                </a:solidFill>
                <a:latin typeface="JetBrains Mono" panose="02000009000000000000" pitchFamily="49" charset="0"/>
              </a:rPr>
              <a:t>Propose ensuite une entrée dans</a:t>
            </a:r>
          </a:p>
        </p:txBody>
      </p:sp>
      <p:sp>
        <p:nvSpPr>
          <p:cNvPr id="10" name="Code_complet">
            <a:extLst>
              <a:ext uri="{FF2B5EF4-FFF2-40B4-BE49-F238E27FC236}">
                <a16:creationId xmlns:a16="http://schemas.microsoft.com/office/drawing/2014/main" id="{3750AC95-2A3C-785A-B185-0388AA5464F0}"/>
              </a:ext>
            </a:extLst>
          </p:cNvPr>
          <p:cNvSpPr txBox="1"/>
          <p:nvPr/>
        </p:nvSpPr>
        <p:spPr>
          <a:xfrm>
            <a:off x="8636000" y="7518399"/>
            <a:ext cx="6654800" cy="660400"/>
          </a:xfrm>
          <a:prstGeom prst="rect">
            <a:avLst/>
          </a:prstGeom>
          <a:noFill/>
        </p:spPr>
        <p:txBody>
          <a:bodyPr vert="horz" wrap="square" lIns="0" tIns="0" rIns="0" bIns="0" rtlCol="0">
            <a:noAutofit/>
          </a:bodyPr>
          <a:lstStyle/>
          <a:p>
            <a:r>
              <a:rPr lang="fr-FR" sz="2000">
                <a:solidFill>
                  <a:srgbClr val="A8A297"/>
                </a:solidFill>
                <a:latin typeface="Outfit" pitchFamily="2" charset="0"/>
              </a:rPr>
              <a:t>Prompt complet dans les notes et le HTML</a:t>
            </a:r>
          </a:p>
        </p:txBody>
      </p:sp>
      <p:sp>
        <p:nvSpPr>
          <p:cNvPr id="11" name="Action">
            <a:extLst>
              <a:ext uri="{FF2B5EF4-FFF2-40B4-BE49-F238E27FC236}">
                <a16:creationId xmlns:a16="http://schemas.microsoft.com/office/drawing/2014/main" id="{ABAEA8CB-3A5F-152D-5ECD-8A99C095CB6F}"/>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5 min : proposez une page à partir d’une source locale.</a:t>
            </a:r>
          </a:p>
        </p:txBody>
      </p:sp>
    </p:spTree>
    <p:extLst>
      <p:ext uri="{BB962C8B-B14F-4D97-AF65-F5344CB8AC3E}">
        <p14:creationId xmlns:p14="http://schemas.microsoft.com/office/powerpoint/2010/main" val="3769161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e24">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23643402-DADA-F85F-922F-3B5AE93367B6}"/>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 MVP    24/36</a:t>
            </a:r>
          </a:p>
        </p:txBody>
      </p:sp>
      <p:sp>
        <p:nvSpPr>
          <p:cNvPr id="3" name="Titre">
            <a:extLst>
              <a:ext uri="{FF2B5EF4-FFF2-40B4-BE49-F238E27FC236}">
                <a16:creationId xmlns:a16="http://schemas.microsoft.com/office/drawing/2014/main" id="{61A38E3A-F431-0E57-0DBC-E520194B422C}"/>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Le MVP tient dans un parcours</a:t>
            </a:r>
          </a:p>
        </p:txBody>
      </p:sp>
      <p:sp>
        <p:nvSpPr>
          <p:cNvPr id="4" name="Idee">
            <a:extLst>
              <a:ext uri="{FF2B5EF4-FFF2-40B4-BE49-F238E27FC236}">
                <a16:creationId xmlns:a16="http://schemas.microsoft.com/office/drawing/2014/main" id="{87A2A719-69C6-920D-3651-3A1C2BC06253}"/>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Choisir un besoin → comprendre → trouver une structure → contacter.</a:t>
            </a:r>
          </a:p>
        </p:txBody>
      </p:sp>
      <p:sp>
        <p:nvSpPr>
          <p:cNvPr id="5" name="Item_title_1">
            <a:extLst>
              <a:ext uri="{FF2B5EF4-FFF2-40B4-BE49-F238E27FC236}">
                <a16:creationId xmlns:a16="http://schemas.microsoft.com/office/drawing/2014/main" id="{38892A79-8A4B-B602-F9B5-B271A392E83F}"/>
              </a:ext>
            </a:extLst>
          </p:cNvPr>
          <p:cNvSpPr txBox="1"/>
          <p:nvPr/>
        </p:nvSpPr>
        <p:spPr>
          <a:xfrm>
            <a:off x="965200" y="42925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Public</a:t>
            </a:r>
          </a:p>
        </p:txBody>
      </p:sp>
      <p:sp>
        <p:nvSpPr>
          <p:cNvPr id="6" name="Item_text_1">
            <a:extLst>
              <a:ext uri="{FF2B5EF4-FFF2-40B4-BE49-F238E27FC236}">
                <a16:creationId xmlns:a16="http://schemas.microsoft.com/office/drawing/2014/main" id="{B291CD12-6223-AD21-D06F-E4D34CB42BA0}"/>
              </a:ext>
            </a:extLst>
          </p:cNvPr>
          <p:cNvSpPr txBox="1"/>
          <p:nvPr/>
        </p:nvSpPr>
        <p:spPr>
          <a:xfrm>
            <a:off x="965200" y="48259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Des personnes confrontées aux barrières de langue et d’accès.</a:t>
            </a:r>
          </a:p>
        </p:txBody>
      </p:sp>
      <p:sp>
        <p:nvSpPr>
          <p:cNvPr id="7" name="Item_title_2">
            <a:extLst>
              <a:ext uri="{FF2B5EF4-FFF2-40B4-BE49-F238E27FC236}">
                <a16:creationId xmlns:a16="http://schemas.microsoft.com/office/drawing/2014/main" id="{E6039425-75D8-A232-BC88-B7A7EC3D2AC3}"/>
              </a:ext>
            </a:extLst>
          </p:cNvPr>
          <p:cNvSpPr txBox="1"/>
          <p:nvPr/>
        </p:nvSpPr>
        <p:spPr>
          <a:xfrm>
            <a:off x="8407400" y="42925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Périmètre proposé</a:t>
            </a:r>
          </a:p>
        </p:txBody>
      </p:sp>
      <p:sp>
        <p:nvSpPr>
          <p:cNvPr id="8" name="Item_text_2">
            <a:extLst>
              <a:ext uri="{FF2B5EF4-FFF2-40B4-BE49-F238E27FC236}">
                <a16:creationId xmlns:a16="http://schemas.microsoft.com/office/drawing/2014/main" id="{CA5023CA-17B5-FF8F-EE31-7ED2823F315D}"/>
              </a:ext>
            </a:extLst>
          </p:cNvPr>
          <p:cNvSpPr txBox="1"/>
          <p:nvPr/>
        </p:nvSpPr>
        <p:spPr>
          <a:xfrm>
            <a:off x="8407400" y="48259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Une ville, des sources choisies, un mode de réponse confirmé.</a:t>
            </a:r>
          </a:p>
        </p:txBody>
      </p:sp>
      <p:sp>
        <p:nvSpPr>
          <p:cNvPr id="9" name="Item_title_3">
            <a:extLst>
              <a:ext uri="{FF2B5EF4-FFF2-40B4-BE49-F238E27FC236}">
                <a16:creationId xmlns:a16="http://schemas.microsoft.com/office/drawing/2014/main" id="{885BA552-1CAE-1B0F-4F15-4A2493023D5C}"/>
              </a:ext>
            </a:extLst>
          </p:cNvPr>
          <p:cNvSpPr txBox="1"/>
          <p:nvPr/>
        </p:nvSpPr>
        <p:spPr>
          <a:xfrm>
            <a:off x="965200" y="60578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Stack réelle</a:t>
            </a:r>
          </a:p>
        </p:txBody>
      </p:sp>
      <p:sp>
        <p:nvSpPr>
          <p:cNvPr id="10" name="Item_text_3">
            <a:extLst>
              <a:ext uri="{FF2B5EF4-FFF2-40B4-BE49-F238E27FC236}">
                <a16:creationId xmlns:a16="http://schemas.microsoft.com/office/drawing/2014/main" id="{2D3F2E23-464C-52F3-A93B-40FA2AB641B2}"/>
              </a:ext>
            </a:extLst>
          </p:cNvPr>
          <p:cNvSpPr txBox="1"/>
          <p:nvPr/>
        </p:nvSpPr>
        <p:spPr>
          <a:xfrm>
            <a:off x="965200" y="65912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Projet App Web : React, Vite et TypeScript.</a:t>
            </a:r>
          </a:p>
        </p:txBody>
      </p:sp>
      <p:sp>
        <p:nvSpPr>
          <p:cNvPr id="11" name="Item_title_4">
            <a:extLst>
              <a:ext uri="{FF2B5EF4-FFF2-40B4-BE49-F238E27FC236}">
                <a16:creationId xmlns:a16="http://schemas.microsoft.com/office/drawing/2014/main" id="{A51C909A-967D-3A0A-50DF-E13DFAD4A081}"/>
              </a:ext>
            </a:extLst>
          </p:cNvPr>
          <p:cNvSpPr txBox="1"/>
          <p:nvPr/>
        </p:nvSpPr>
        <p:spPr>
          <a:xfrm>
            <a:off x="8407400" y="60578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Reporté</a:t>
            </a:r>
          </a:p>
        </p:txBody>
      </p:sp>
      <p:sp>
        <p:nvSpPr>
          <p:cNvPr id="12" name="Item_text_4">
            <a:extLst>
              <a:ext uri="{FF2B5EF4-FFF2-40B4-BE49-F238E27FC236}">
                <a16:creationId xmlns:a16="http://schemas.microsoft.com/office/drawing/2014/main" id="{45393A87-DF69-8D6A-BDEE-D9B2245FC0CC}"/>
              </a:ext>
            </a:extLst>
          </p:cNvPr>
          <p:cNvSpPr txBox="1"/>
          <p:nvPr/>
        </p:nvSpPr>
        <p:spPr>
          <a:xfrm>
            <a:off x="8407400" y="65912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Chat libre, carte intégrée et couverture nationale.</a:t>
            </a:r>
          </a:p>
        </p:txBody>
      </p:sp>
      <p:sp>
        <p:nvSpPr>
          <p:cNvPr id="13" name="Action">
            <a:extLst>
              <a:ext uri="{FF2B5EF4-FFF2-40B4-BE49-F238E27FC236}">
                <a16:creationId xmlns:a16="http://schemas.microsoft.com/office/drawing/2014/main" id="{1DBEC00D-DC5B-0BF3-7090-15393778A450}"/>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À 9h00 : validez le parcours et ce que vous reportez.</a:t>
            </a:r>
          </a:p>
        </p:txBody>
      </p:sp>
    </p:spTree>
    <p:extLst>
      <p:ext uri="{BB962C8B-B14F-4D97-AF65-F5344CB8AC3E}">
        <p14:creationId xmlns:p14="http://schemas.microsoft.com/office/powerpoint/2010/main" val="4253257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e25">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3B508B3D-DFA2-164F-96D7-4AEB17142363}"/>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 MVP    25/36</a:t>
            </a:r>
          </a:p>
        </p:txBody>
      </p:sp>
      <p:sp>
        <p:nvSpPr>
          <p:cNvPr id="3" name="Titre">
            <a:extLst>
              <a:ext uri="{FF2B5EF4-FFF2-40B4-BE49-F238E27FC236}">
                <a16:creationId xmlns:a16="http://schemas.microsoft.com/office/drawing/2014/main" id="{3C948663-E4E2-172C-2938-9BE847B2D613}"/>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Trois lots. Un point d’intégration</a:t>
            </a:r>
          </a:p>
        </p:txBody>
      </p:sp>
      <p:sp>
        <p:nvSpPr>
          <p:cNvPr id="4" name="Idee">
            <a:extLst>
              <a:ext uri="{FF2B5EF4-FFF2-40B4-BE49-F238E27FC236}">
                <a16:creationId xmlns:a16="http://schemas.microsoft.com/office/drawing/2014/main" id="{92AF5954-E94F-B639-7F62-E375975E6507}"/>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Répartition proposée : chaque personne confirme son périmètre.</a:t>
            </a:r>
          </a:p>
        </p:txBody>
      </p:sp>
      <p:sp>
        <p:nvSpPr>
          <p:cNvPr id="5" name="Item_title_1">
            <a:extLst>
              <a:ext uri="{FF2B5EF4-FFF2-40B4-BE49-F238E27FC236}">
                <a16:creationId xmlns:a16="http://schemas.microsoft.com/office/drawing/2014/main" id="{E3A391E1-D032-43DD-A865-28497E919FE1}"/>
              </a:ext>
            </a:extLst>
          </p:cNvPr>
          <p:cNvSpPr txBox="1"/>
          <p:nvPr/>
        </p:nvSpPr>
        <p:spPr>
          <a:xfrm>
            <a:off x="965200" y="42925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Romain · connaissances</a:t>
            </a:r>
          </a:p>
        </p:txBody>
      </p:sp>
      <p:sp>
        <p:nvSpPr>
          <p:cNvPr id="6" name="Item_text_1">
            <a:extLst>
              <a:ext uri="{FF2B5EF4-FFF2-40B4-BE49-F238E27FC236}">
                <a16:creationId xmlns:a16="http://schemas.microsoft.com/office/drawing/2014/main" id="{8280D0EE-09B5-50CA-194C-7016B6284255}"/>
              </a:ext>
            </a:extLst>
          </p:cNvPr>
          <p:cNvSpPr txBox="1"/>
          <p:nvPr/>
        </p:nvSpPr>
        <p:spPr>
          <a:xfrm>
            <a:off x="965200" y="48259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src/features/base-connaissances/</a:t>
            </a:r>
          </a:p>
        </p:txBody>
      </p:sp>
      <p:sp>
        <p:nvSpPr>
          <p:cNvPr id="7" name="Item_title_2">
            <a:extLst>
              <a:ext uri="{FF2B5EF4-FFF2-40B4-BE49-F238E27FC236}">
                <a16:creationId xmlns:a16="http://schemas.microsoft.com/office/drawing/2014/main" id="{0A4B17B7-F67A-7DA6-1075-5D9819378E57}"/>
              </a:ext>
            </a:extLst>
          </p:cNvPr>
          <p:cNvSpPr txBox="1"/>
          <p:nvPr/>
        </p:nvSpPr>
        <p:spPr>
          <a:xfrm>
            <a:off x="8407400" y="42925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Ashad · assistant</a:t>
            </a:r>
          </a:p>
        </p:txBody>
      </p:sp>
      <p:sp>
        <p:nvSpPr>
          <p:cNvPr id="8" name="Item_text_2">
            <a:extLst>
              <a:ext uri="{FF2B5EF4-FFF2-40B4-BE49-F238E27FC236}">
                <a16:creationId xmlns:a16="http://schemas.microsoft.com/office/drawing/2014/main" id="{BE6A89BA-CA03-D75B-9AC6-BBDBE755DA03}"/>
              </a:ext>
            </a:extLst>
          </p:cNvPr>
          <p:cNvSpPr txBox="1"/>
          <p:nvPr/>
        </p:nvSpPr>
        <p:spPr>
          <a:xfrm>
            <a:off x="8407400" y="48259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src/features/assistant/</a:t>
            </a:r>
          </a:p>
        </p:txBody>
      </p:sp>
      <p:sp>
        <p:nvSpPr>
          <p:cNvPr id="9" name="Item_title_3">
            <a:extLst>
              <a:ext uri="{FF2B5EF4-FFF2-40B4-BE49-F238E27FC236}">
                <a16:creationId xmlns:a16="http://schemas.microsoft.com/office/drawing/2014/main" id="{51B17A21-76B0-64C7-520B-55CED90E9178}"/>
              </a:ext>
            </a:extLst>
          </p:cNvPr>
          <p:cNvSpPr txBox="1"/>
          <p:nvPr/>
        </p:nvSpPr>
        <p:spPr>
          <a:xfrm>
            <a:off x="965200" y="60578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Nils · annuaire</a:t>
            </a:r>
          </a:p>
        </p:txBody>
      </p:sp>
      <p:sp>
        <p:nvSpPr>
          <p:cNvPr id="10" name="Item_text_3">
            <a:extLst>
              <a:ext uri="{FF2B5EF4-FFF2-40B4-BE49-F238E27FC236}">
                <a16:creationId xmlns:a16="http://schemas.microsoft.com/office/drawing/2014/main" id="{56865A02-4F6C-DE6E-EB7F-27802BFD14A8}"/>
              </a:ext>
            </a:extLst>
          </p:cNvPr>
          <p:cNvSpPr txBox="1"/>
          <p:nvPr/>
        </p:nvSpPr>
        <p:spPr>
          <a:xfrm>
            <a:off x="965200" y="65912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src/features/annuaire/</a:t>
            </a:r>
          </a:p>
        </p:txBody>
      </p:sp>
      <p:sp>
        <p:nvSpPr>
          <p:cNvPr id="11" name="Item_title_4">
            <a:extLst>
              <a:ext uri="{FF2B5EF4-FFF2-40B4-BE49-F238E27FC236}">
                <a16:creationId xmlns:a16="http://schemas.microsoft.com/office/drawing/2014/main" id="{1D05B4FB-8F6B-FC12-869A-FA0401A08075}"/>
              </a:ext>
            </a:extLst>
          </p:cNvPr>
          <p:cNvSpPr txBox="1"/>
          <p:nvPr/>
        </p:nvSpPr>
        <p:spPr>
          <a:xfrm>
            <a:off x="8407400" y="60578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Cédric · intégration</a:t>
            </a:r>
          </a:p>
        </p:txBody>
      </p:sp>
      <p:sp>
        <p:nvSpPr>
          <p:cNvPr id="12" name="Item_text_4">
            <a:extLst>
              <a:ext uri="{FF2B5EF4-FFF2-40B4-BE49-F238E27FC236}">
                <a16:creationId xmlns:a16="http://schemas.microsoft.com/office/drawing/2014/main" id="{21D65EC4-5F23-EB7A-EEC6-0775794E92BC}"/>
              </a:ext>
            </a:extLst>
          </p:cNvPr>
          <p:cNvSpPr txBox="1"/>
          <p:nvPr/>
        </p:nvSpPr>
        <p:spPr>
          <a:xfrm>
            <a:off x="8407400" y="65912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Contrat, services et application commune.</a:t>
            </a:r>
          </a:p>
        </p:txBody>
      </p:sp>
      <p:sp>
        <p:nvSpPr>
          <p:cNvPr id="13" name="Action">
            <a:extLst>
              <a:ext uri="{FF2B5EF4-FFF2-40B4-BE49-F238E27FC236}">
                <a16:creationId xmlns:a16="http://schemas.microsoft.com/office/drawing/2014/main" id="{B784CB85-44DF-36CF-971A-41280B237A3E}"/>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Avant de lancer : pointez le dossier de votre lot.</a:t>
            </a:r>
          </a:p>
        </p:txBody>
      </p:sp>
    </p:spTree>
    <p:extLst>
      <p:ext uri="{BB962C8B-B14F-4D97-AF65-F5344CB8AC3E}">
        <p14:creationId xmlns:p14="http://schemas.microsoft.com/office/powerpoint/2010/main" val="1704828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e26">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74696C36-5946-446B-AEF6-F7B58797CFF8}"/>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 MVP    26/36</a:t>
            </a:r>
          </a:p>
        </p:txBody>
      </p:sp>
      <p:sp>
        <p:nvSpPr>
          <p:cNvPr id="3" name="Titre">
            <a:extLst>
              <a:ext uri="{FF2B5EF4-FFF2-40B4-BE49-F238E27FC236}">
                <a16:creationId xmlns:a16="http://schemas.microsoft.com/office/drawing/2014/main" id="{56648723-B37A-87F4-7F8A-7D78DE0717FE}"/>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Le contrat permet de travailler en parallèle</a:t>
            </a:r>
          </a:p>
        </p:txBody>
      </p:sp>
      <p:sp>
        <p:nvSpPr>
          <p:cNvPr id="4" name="Idee">
            <a:extLst>
              <a:ext uri="{FF2B5EF4-FFF2-40B4-BE49-F238E27FC236}">
                <a16:creationId xmlns:a16="http://schemas.microsoft.com/office/drawing/2014/main" id="{BE24A2B5-75B5-6EC2-79EF-8938EC4A44C0}"/>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Les types partagés deviennent la frontière entre les lots.</a:t>
            </a:r>
          </a:p>
        </p:txBody>
      </p:sp>
      <p:sp>
        <p:nvSpPr>
          <p:cNvPr id="5" name="Item_1">
            <a:extLst>
              <a:ext uri="{FF2B5EF4-FFF2-40B4-BE49-F238E27FC236}">
                <a16:creationId xmlns:a16="http://schemas.microsoft.com/office/drawing/2014/main" id="{9C2C38E7-CF83-B52E-462B-D1F5DDE37145}"/>
              </a:ext>
            </a:extLst>
          </p:cNvPr>
          <p:cNvSpPr txBox="1"/>
          <p:nvPr/>
        </p:nvSpPr>
        <p:spPr>
          <a:xfrm>
            <a:off x="965200" y="41020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Entrée :</a:t>
            </a:r>
            <a:r>
              <a:rPr lang="fr-FR" sz="2400">
                <a:solidFill>
                  <a:srgbClr val="F4EDE0"/>
                </a:solidFill>
                <a:latin typeface="Outfit" pitchFamily="2" charset="0"/>
              </a:rPr>
              <a:t> OrientationQuery : langue, besoin, ville, mots-clés.</a:t>
            </a:r>
          </a:p>
        </p:txBody>
      </p:sp>
      <p:sp>
        <p:nvSpPr>
          <p:cNvPr id="6" name="Item_2">
            <a:extLst>
              <a:ext uri="{FF2B5EF4-FFF2-40B4-BE49-F238E27FC236}">
                <a16:creationId xmlns:a16="http://schemas.microsoft.com/office/drawing/2014/main" id="{B73284D5-C083-B695-5A5A-E6DD2C631FBA}"/>
              </a:ext>
            </a:extLst>
          </p:cNvPr>
          <p:cNvSpPr txBox="1"/>
          <p:nvPr/>
        </p:nvSpPr>
        <p:spPr>
          <a:xfrm>
            <a:off x="965200" y="50736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Connaissances :</a:t>
            </a:r>
            <a:r>
              <a:rPr lang="fr-FR" sz="2400">
                <a:solidFill>
                  <a:srgbClr val="F4EDE0"/>
                </a:solidFill>
                <a:latin typeface="Outfit" pitchFamily="2" charset="0"/>
              </a:rPr>
              <a:t> KnowledgeItem : texte, catégorie et source.</a:t>
            </a:r>
          </a:p>
        </p:txBody>
      </p:sp>
      <p:sp>
        <p:nvSpPr>
          <p:cNvPr id="7" name="Item_3">
            <a:extLst>
              <a:ext uri="{FF2B5EF4-FFF2-40B4-BE49-F238E27FC236}">
                <a16:creationId xmlns:a16="http://schemas.microsoft.com/office/drawing/2014/main" id="{63988A50-0E1F-4A17-1F69-C9BB5914444D}"/>
              </a:ext>
            </a:extLst>
          </p:cNvPr>
          <p:cNvSpPr txBox="1"/>
          <p:nvPr/>
        </p:nvSpPr>
        <p:spPr>
          <a:xfrm>
            <a:off x="965200" y="60451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Structures :</a:t>
            </a:r>
            <a:r>
              <a:rPr lang="fr-FR" sz="2400">
                <a:solidFill>
                  <a:srgbClr val="F4EDE0"/>
                </a:solidFill>
                <a:latin typeface="Outfit" pitchFamily="2" charset="0"/>
              </a:rPr>
              <a:t> Organisation : identité et contacts disponibles.</a:t>
            </a:r>
          </a:p>
        </p:txBody>
      </p:sp>
      <p:sp>
        <p:nvSpPr>
          <p:cNvPr id="8" name="Item_4">
            <a:extLst>
              <a:ext uri="{FF2B5EF4-FFF2-40B4-BE49-F238E27FC236}">
                <a16:creationId xmlns:a16="http://schemas.microsoft.com/office/drawing/2014/main" id="{59BE89D1-A406-42D1-133F-34FCB8D40905}"/>
              </a:ext>
            </a:extLst>
          </p:cNvPr>
          <p:cNvSpPr txBox="1"/>
          <p:nvPr/>
        </p:nvSpPr>
        <p:spPr>
          <a:xfrm>
            <a:off x="965200" y="70167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Sortie :</a:t>
            </a:r>
            <a:r>
              <a:rPr lang="fr-FR" sz="2400">
                <a:solidFill>
                  <a:srgbClr val="F4EDE0"/>
                </a:solidFill>
                <a:latin typeface="Outfit" pitchFamily="2" charset="0"/>
              </a:rPr>
              <a:t> OrientationResult : fiches, organismes, explication.</a:t>
            </a:r>
          </a:p>
        </p:txBody>
      </p:sp>
      <p:sp>
        <p:nvSpPr>
          <p:cNvPr id="9" name="Code_label">
            <a:extLst>
              <a:ext uri="{FF2B5EF4-FFF2-40B4-BE49-F238E27FC236}">
                <a16:creationId xmlns:a16="http://schemas.microsoft.com/office/drawing/2014/main" id="{15CDAB5A-7DCE-9CE4-3769-77CE83E63F6F}"/>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Signatures proposées</a:t>
            </a:r>
          </a:p>
        </p:txBody>
      </p:sp>
      <p:sp>
        <p:nvSpPr>
          <p:cNvPr id="10" name="Code">
            <a:extLst>
              <a:ext uri="{FF2B5EF4-FFF2-40B4-BE49-F238E27FC236}">
                <a16:creationId xmlns:a16="http://schemas.microsoft.com/office/drawing/2014/main" id="{4B298C1F-D7FF-37C3-3F58-C81094697D8B}"/>
              </a:ext>
            </a:extLst>
          </p:cNvPr>
          <p:cNvSpPr txBox="1"/>
          <p:nvPr/>
        </p:nvSpPr>
        <p:spPr>
          <a:xfrm>
            <a:off x="8636000" y="4940299"/>
            <a:ext cx="6654800" cy="2527300"/>
          </a:xfrm>
          <a:prstGeom prst="rect">
            <a:avLst/>
          </a:prstGeom>
          <a:noFill/>
        </p:spPr>
        <p:txBody>
          <a:bodyPr vert="horz" wrap="square" lIns="0" tIns="0" rIns="0" bIns="0" rtlCol="0">
            <a:noAutofit/>
          </a:bodyPr>
          <a:lstStyle/>
          <a:p>
            <a:r>
              <a:rPr lang="en-US" sz="2200">
                <a:solidFill>
                  <a:srgbClr val="F4EDE0"/>
                </a:solidFill>
                <a:latin typeface="JetBrains Mono" panose="02000009000000000000" pitchFamily="49" charset="0"/>
              </a:rPr>
              <a:t>searchKnowledge(query):</a:t>
            </a:r>
          </a:p>
          <a:p>
            <a:r>
              <a:rPr lang="en-US" sz="2200">
                <a:solidFill>
                  <a:srgbClr val="F4EDE0"/>
                </a:solidFill>
                <a:latin typeface="JetBrains Mono" panose="02000009000000000000" pitchFamily="49" charset="0"/>
              </a:rPr>
              <a:t>Promise&lt;KnowledgeItem[]&gt;</a:t>
            </a:r>
          </a:p>
          <a:p>
            <a:r>
              <a:rPr lang="en-US" sz="2200">
                <a:solidFill>
                  <a:srgbClr val="F4EDE0"/>
                </a:solidFill>
                <a:latin typeface="JetBrains Mono" panose="02000009000000000000" pitchFamily="49" charset="0"/>
              </a:rPr>
              <a:t>findOrganisations(query):</a:t>
            </a:r>
          </a:p>
          <a:p>
            <a:r>
              <a:rPr lang="en-US" sz="2200">
                <a:solidFill>
                  <a:srgbClr val="F4EDE0"/>
                </a:solidFill>
                <a:latin typeface="JetBrains Mono" panose="02000009000000000000" pitchFamily="49" charset="0"/>
              </a:rPr>
              <a:t>Promise&lt;Organisation[]&gt;</a:t>
            </a:r>
          </a:p>
          <a:p>
            <a:r>
              <a:rPr lang="en-US" sz="2200">
                <a:solidFill>
                  <a:srgbClr val="F4EDE0"/>
                </a:solidFill>
                <a:latin typeface="JetBrains Mono" panose="02000009000000000000" pitchFamily="49" charset="0"/>
              </a:rPr>
              <a:t>explain(query, items):</a:t>
            </a:r>
          </a:p>
          <a:p>
            <a:r>
              <a:rPr lang="en-US" sz="2200">
                <a:solidFill>
                  <a:srgbClr val="F4EDE0"/>
                </a:solidFill>
                <a:latin typeface="JetBrains Mono" panose="02000009000000000000" pitchFamily="49" charset="0"/>
              </a:rPr>
              <a:t>Promise&lt;Explanation&gt;</a:t>
            </a:r>
            <a:endParaRPr lang="fr-FR" sz="2200">
              <a:solidFill>
                <a:srgbClr val="F4EDE0"/>
              </a:solidFill>
              <a:latin typeface="JetBrains Mono" panose="02000009000000000000" pitchFamily="49" charset="0"/>
            </a:endParaRPr>
          </a:p>
        </p:txBody>
      </p:sp>
      <p:sp>
        <p:nvSpPr>
          <p:cNvPr id="11" name="Action">
            <a:extLst>
              <a:ext uri="{FF2B5EF4-FFF2-40B4-BE49-F238E27FC236}">
                <a16:creationId xmlns:a16="http://schemas.microsoft.com/office/drawing/2014/main" id="{7A929E10-E04E-3FBB-5034-6B6F750C4A6D}"/>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À 9h55 : relisez les signatures avant de lancer les lots.</a:t>
            </a:r>
          </a:p>
        </p:txBody>
      </p:sp>
    </p:spTree>
    <p:extLst>
      <p:ext uri="{BB962C8B-B14F-4D97-AF65-F5344CB8AC3E}">
        <p14:creationId xmlns:p14="http://schemas.microsoft.com/office/powerpoint/2010/main" val="764788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e27">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7AB68DA3-6E7B-9429-37CC-D556A9BC8F81}"/>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 MVP    27/36</a:t>
            </a:r>
          </a:p>
        </p:txBody>
      </p:sp>
      <p:sp>
        <p:nvSpPr>
          <p:cNvPr id="3" name="Titre">
            <a:extLst>
              <a:ext uri="{FF2B5EF4-FFF2-40B4-BE49-F238E27FC236}">
                <a16:creationId xmlns:a16="http://schemas.microsoft.com/office/drawing/2014/main" id="{78D2CD10-969C-4440-9F0C-6DE71D701F60}"/>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KB-01 · Romain</a:t>
            </a:r>
          </a:p>
        </p:txBody>
      </p:sp>
      <p:sp>
        <p:nvSpPr>
          <p:cNvPr id="4" name="Idee">
            <a:extLst>
              <a:ext uri="{FF2B5EF4-FFF2-40B4-BE49-F238E27FC236}">
                <a16:creationId xmlns:a16="http://schemas.microsoft.com/office/drawing/2014/main" id="{D60CA331-A8E3-9606-45D8-B382A0B87D4B}"/>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Base de connaissances sourcée</a:t>
            </a:r>
          </a:p>
        </p:txBody>
      </p:sp>
      <p:sp>
        <p:nvSpPr>
          <p:cNvPr id="5" name="Item_1">
            <a:extLst>
              <a:ext uri="{FF2B5EF4-FFF2-40B4-BE49-F238E27FC236}">
                <a16:creationId xmlns:a16="http://schemas.microsoft.com/office/drawing/2014/main" id="{D9C72365-8686-C3B5-3111-8C7FCA8135AD}"/>
              </a:ext>
            </a:extLst>
          </p:cNvPr>
          <p:cNvSpPr txBox="1"/>
          <p:nvPr/>
        </p:nvSpPr>
        <p:spPr>
          <a:xfrm>
            <a:off x="965200" y="41020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SMART :</a:t>
            </a:r>
            <a:r>
              <a:rPr lang="fr-FR" sz="2400">
                <a:solidFill>
                  <a:srgbClr val="F4EDE0"/>
                </a:solidFill>
                <a:latin typeface="Outfit" pitchFamily="2" charset="0"/>
              </a:rPr>
              <a:t> 8 fiches sourcées et consultables à 10h45.</a:t>
            </a:r>
          </a:p>
        </p:txBody>
      </p:sp>
      <p:sp>
        <p:nvSpPr>
          <p:cNvPr id="6" name="Item_2">
            <a:extLst>
              <a:ext uri="{FF2B5EF4-FFF2-40B4-BE49-F238E27FC236}">
                <a16:creationId xmlns:a16="http://schemas.microsoft.com/office/drawing/2014/main" id="{733FC6EA-62CF-BCC2-3F6B-8BFFA537C669}"/>
              </a:ext>
            </a:extLst>
          </p:cNvPr>
          <p:cNvSpPr txBox="1"/>
          <p:nvPr/>
        </p:nvSpPr>
        <p:spPr>
          <a:xfrm>
            <a:off x="965200" y="50736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Ready :</a:t>
            </a:r>
            <a:r>
              <a:rPr lang="fr-FR" sz="2400">
                <a:solidFill>
                  <a:srgbClr val="F4EDE0"/>
                </a:solidFill>
                <a:latin typeface="Outfit" pitchFamily="2" charset="0"/>
              </a:rPr>
              <a:t> Contrat, catégories et sources disponibles.</a:t>
            </a:r>
          </a:p>
        </p:txBody>
      </p:sp>
      <p:sp>
        <p:nvSpPr>
          <p:cNvPr id="7" name="Item_3">
            <a:extLst>
              <a:ext uri="{FF2B5EF4-FFF2-40B4-BE49-F238E27FC236}">
                <a16:creationId xmlns:a16="http://schemas.microsoft.com/office/drawing/2014/main" id="{691916A1-1ED5-F8F4-3497-7AFE99C1683F}"/>
              </a:ext>
            </a:extLst>
          </p:cNvPr>
          <p:cNvSpPr txBox="1"/>
          <p:nvPr/>
        </p:nvSpPr>
        <p:spPr>
          <a:xfrm>
            <a:off x="965200" y="60451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Done :</a:t>
            </a:r>
            <a:r>
              <a:rPr lang="fr-FR" sz="2400">
                <a:solidFill>
                  <a:srgbClr val="F4EDE0"/>
                </a:solidFill>
                <a:latin typeface="Outfit" pitchFamily="2" charset="0"/>
              </a:rPr>
              <a:t> Recherche, source et cas vide vérifiés.</a:t>
            </a:r>
          </a:p>
        </p:txBody>
      </p:sp>
      <p:sp>
        <p:nvSpPr>
          <p:cNvPr id="8" name="Item_4">
            <a:extLst>
              <a:ext uri="{FF2B5EF4-FFF2-40B4-BE49-F238E27FC236}">
                <a16:creationId xmlns:a16="http://schemas.microsoft.com/office/drawing/2014/main" id="{F42982DE-6246-80C8-DFEB-E6D63F635134}"/>
              </a:ext>
            </a:extLst>
          </p:cNvPr>
          <p:cNvSpPr txBox="1"/>
          <p:nvPr/>
        </p:nvSpPr>
        <p:spPr>
          <a:xfrm>
            <a:off x="965200" y="70167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Fichiers :</a:t>
            </a:r>
            <a:r>
              <a:rPr lang="fr-FR" sz="2400">
                <a:solidFill>
                  <a:srgbClr val="F4EDE0"/>
                </a:solidFill>
                <a:latin typeface="Outfit" pitchFamily="2" charset="0"/>
              </a:rPr>
              <a:t> src/features/base-connaissances/**</a:t>
            </a:r>
          </a:p>
        </p:txBody>
      </p:sp>
      <p:sp>
        <p:nvSpPr>
          <p:cNvPr id="9" name="Code_label">
            <a:extLst>
              <a:ext uri="{FF2B5EF4-FFF2-40B4-BE49-F238E27FC236}">
                <a16:creationId xmlns:a16="http://schemas.microsoft.com/office/drawing/2014/main" id="{094345AE-5267-346D-346F-34E82842887C}"/>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10" name="Code">
            <a:extLst>
              <a:ext uri="{FF2B5EF4-FFF2-40B4-BE49-F238E27FC236}">
                <a16:creationId xmlns:a16="http://schemas.microsoft.com/office/drawing/2014/main" id="{C94198BE-39CA-F45E-C457-7CD7137A2CBC}"/>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/prompt-5 KB-01 dans TICKETS-DEMAIN.md</a:t>
            </a:r>
          </a:p>
          <a:p>
            <a:r>
              <a:rPr lang="fr-FR" sz="2200">
                <a:solidFill>
                  <a:srgbClr val="F4EDE0"/>
                </a:solidFill>
                <a:latin typeface="JetBrains Mono" panose="02000009000000000000" pitchFamily="49" charset="0"/>
              </a:rPr>
              <a:t>Vérifie Ready avant de proposer le</a:t>
            </a:r>
          </a:p>
          <a:p>
            <a:r>
              <a:rPr lang="fr-FR" sz="2200">
                <a:solidFill>
                  <a:srgbClr val="F4EDE0"/>
                </a:solidFill>
                <a:latin typeface="JetBrains Mono" panose="02000009000000000000" pitchFamily="49" charset="0"/>
              </a:rPr>
              <a:t>plan.</a:t>
            </a:r>
          </a:p>
          <a:p>
            <a:r>
              <a:rPr lang="fr-FR" sz="2200">
                <a:solidFill>
                  <a:srgbClr val="F4EDE0"/>
                </a:solidFill>
                <a:latin typeface="JetBrains Mono" panose="02000009000000000000" pitchFamily="49" charset="0"/>
              </a:rPr>
              <a:t>Indique les preuves nécessaires pour</a:t>
            </a:r>
          </a:p>
          <a:p>
            <a:r>
              <a:rPr lang="fr-FR" sz="2200">
                <a:solidFill>
                  <a:srgbClr val="F4EDE0"/>
                </a:solidFill>
                <a:latin typeface="JetBrains Mono" panose="02000009000000000000" pitchFamily="49" charset="0"/>
              </a:rPr>
              <a:t>passer Done.</a:t>
            </a:r>
          </a:p>
        </p:txBody>
      </p:sp>
      <p:sp>
        <p:nvSpPr>
          <p:cNvPr id="11" name="Action">
            <a:extLst>
              <a:ext uri="{FF2B5EF4-FFF2-40B4-BE49-F238E27FC236}">
                <a16:creationId xmlns:a16="http://schemas.microsoft.com/office/drawing/2014/main" id="{F15A8159-B743-0DBD-163C-DE97A4F43119}"/>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Ouvrez TICKETS-DEMAIN.md et confirmez Ready.</a:t>
            </a:r>
          </a:p>
        </p:txBody>
      </p:sp>
    </p:spTree>
    <p:extLst>
      <p:ext uri="{BB962C8B-B14F-4D97-AF65-F5344CB8AC3E}">
        <p14:creationId xmlns:p14="http://schemas.microsoft.com/office/powerpoint/2010/main" val="2845301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e28">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8CF09D66-EE2C-071C-1FDA-17B46A68AD47}"/>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 MVP    28/36</a:t>
            </a:r>
          </a:p>
        </p:txBody>
      </p:sp>
      <p:sp>
        <p:nvSpPr>
          <p:cNvPr id="3" name="Titre">
            <a:extLst>
              <a:ext uri="{FF2B5EF4-FFF2-40B4-BE49-F238E27FC236}">
                <a16:creationId xmlns:a16="http://schemas.microsoft.com/office/drawing/2014/main" id="{FF3D218B-C168-BFEC-E337-A0AD17776796}"/>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ASSIST-01 · Ashad</a:t>
            </a:r>
          </a:p>
        </p:txBody>
      </p:sp>
      <p:sp>
        <p:nvSpPr>
          <p:cNvPr id="4" name="Idee">
            <a:extLst>
              <a:ext uri="{FF2B5EF4-FFF2-40B4-BE49-F238E27FC236}">
                <a16:creationId xmlns:a16="http://schemas.microsoft.com/office/drawing/2014/main" id="{2BF251BA-ACDD-E350-0E24-6C8669ABEFAF}"/>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Assistant multilingue simple</a:t>
            </a:r>
          </a:p>
        </p:txBody>
      </p:sp>
      <p:sp>
        <p:nvSpPr>
          <p:cNvPr id="5" name="Item_1">
            <a:extLst>
              <a:ext uri="{FF2B5EF4-FFF2-40B4-BE49-F238E27FC236}">
                <a16:creationId xmlns:a16="http://schemas.microsoft.com/office/drawing/2014/main" id="{89630360-5E9F-1C25-E1C9-A243D33BF143}"/>
              </a:ext>
            </a:extLst>
          </p:cNvPr>
          <p:cNvSpPr txBox="1"/>
          <p:nvPr/>
        </p:nvSpPr>
        <p:spPr>
          <a:xfrm>
            <a:off x="965200" y="41020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SMART :</a:t>
            </a:r>
            <a:r>
              <a:rPr lang="fr-FR" sz="2400">
                <a:solidFill>
                  <a:srgbClr val="F4EDE0"/>
                </a:solidFill>
                <a:latin typeface="Outfit" pitchFamily="2" charset="0"/>
              </a:rPr>
              <a:t> Un parcours multilingue et un mode choisi à 10h45.</a:t>
            </a:r>
          </a:p>
        </p:txBody>
      </p:sp>
      <p:sp>
        <p:nvSpPr>
          <p:cNvPr id="6" name="Item_2">
            <a:extLst>
              <a:ext uri="{FF2B5EF4-FFF2-40B4-BE49-F238E27FC236}">
                <a16:creationId xmlns:a16="http://schemas.microsoft.com/office/drawing/2014/main" id="{9CEC6E69-CA33-6085-6E4A-26851C1DB7AE}"/>
              </a:ext>
            </a:extLst>
          </p:cNvPr>
          <p:cNvSpPr txBox="1"/>
          <p:nvPr/>
        </p:nvSpPr>
        <p:spPr>
          <a:xfrm>
            <a:off x="965200" y="50736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Ready :</a:t>
            </a:r>
            <a:r>
              <a:rPr lang="fr-FR" sz="2400">
                <a:solidFill>
                  <a:srgbClr val="F4EDE0"/>
                </a:solidFill>
                <a:latin typeface="Outfit" pitchFamily="2" charset="0"/>
              </a:rPr>
              <a:t> Contrat, langues ; endpoint validé ou repli choisi.</a:t>
            </a:r>
          </a:p>
        </p:txBody>
      </p:sp>
      <p:sp>
        <p:nvSpPr>
          <p:cNvPr id="7" name="Item_3">
            <a:extLst>
              <a:ext uri="{FF2B5EF4-FFF2-40B4-BE49-F238E27FC236}">
                <a16:creationId xmlns:a16="http://schemas.microsoft.com/office/drawing/2014/main" id="{BBFCA051-18F2-18DB-8D45-94FF1C506000}"/>
              </a:ext>
            </a:extLst>
          </p:cNvPr>
          <p:cNvSpPr txBox="1"/>
          <p:nvPr/>
        </p:nvSpPr>
        <p:spPr>
          <a:xfrm>
            <a:off x="965200" y="60451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Done :</a:t>
            </a:r>
            <a:r>
              <a:rPr lang="fr-FR" sz="2400">
                <a:solidFill>
                  <a:srgbClr val="F4EDE0"/>
                </a:solidFill>
                <a:latin typeface="Outfit" pitchFamily="2" charset="0"/>
              </a:rPr>
              <a:t> Sources, erreurs et mode réel vérifiés.</a:t>
            </a:r>
          </a:p>
        </p:txBody>
      </p:sp>
      <p:sp>
        <p:nvSpPr>
          <p:cNvPr id="8" name="Item_4">
            <a:extLst>
              <a:ext uri="{FF2B5EF4-FFF2-40B4-BE49-F238E27FC236}">
                <a16:creationId xmlns:a16="http://schemas.microsoft.com/office/drawing/2014/main" id="{6B2A3600-9B16-8CEC-BB3F-4BE93C31C32F}"/>
              </a:ext>
            </a:extLst>
          </p:cNvPr>
          <p:cNvSpPr txBox="1"/>
          <p:nvPr/>
        </p:nvSpPr>
        <p:spPr>
          <a:xfrm>
            <a:off x="965200" y="70167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Fichiers :</a:t>
            </a:r>
            <a:r>
              <a:rPr lang="fr-FR" sz="2400">
                <a:solidFill>
                  <a:srgbClr val="F4EDE0"/>
                </a:solidFill>
                <a:latin typeface="Outfit" pitchFamily="2" charset="0"/>
              </a:rPr>
              <a:t> src/features/assistant/**</a:t>
            </a:r>
          </a:p>
        </p:txBody>
      </p:sp>
      <p:sp>
        <p:nvSpPr>
          <p:cNvPr id="9" name="Code_label">
            <a:extLst>
              <a:ext uri="{FF2B5EF4-FFF2-40B4-BE49-F238E27FC236}">
                <a16:creationId xmlns:a16="http://schemas.microsoft.com/office/drawing/2014/main" id="{6B8E6DDB-6CBB-4172-9678-825776FD0234}"/>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10" name="Code">
            <a:extLst>
              <a:ext uri="{FF2B5EF4-FFF2-40B4-BE49-F238E27FC236}">
                <a16:creationId xmlns:a16="http://schemas.microsoft.com/office/drawing/2014/main" id="{6E42C108-095C-AECD-81B8-7942D2E4CE01}"/>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/prompt-5 ASSIST-01 dans</a:t>
            </a:r>
          </a:p>
          <a:p>
            <a:r>
              <a:rPr lang="fr-FR" sz="2200">
                <a:solidFill>
                  <a:srgbClr val="F4EDE0"/>
                </a:solidFill>
                <a:latin typeface="JetBrains Mono" panose="02000009000000000000" pitchFamily="49" charset="0"/>
              </a:rPr>
              <a:t>TICKETS-DEMAIN.md</a:t>
            </a:r>
          </a:p>
          <a:p>
            <a:r>
              <a:rPr lang="fr-FR" sz="2200">
                <a:solidFill>
                  <a:srgbClr val="F4EDE0"/>
                </a:solidFill>
                <a:latin typeface="JetBrains Mono" panose="02000009000000000000" pitchFamily="49" charset="0"/>
              </a:rPr>
              <a:t>Vérifie Ready avant de proposer le</a:t>
            </a:r>
          </a:p>
          <a:p>
            <a:r>
              <a:rPr lang="fr-FR" sz="2200">
                <a:solidFill>
                  <a:srgbClr val="F4EDE0"/>
                </a:solidFill>
                <a:latin typeface="JetBrains Mono" panose="02000009000000000000" pitchFamily="49" charset="0"/>
              </a:rPr>
              <a:t>plan.</a:t>
            </a:r>
          </a:p>
          <a:p>
            <a:r>
              <a:rPr lang="fr-FR" sz="2200">
                <a:solidFill>
                  <a:srgbClr val="F4EDE0"/>
                </a:solidFill>
                <a:latin typeface="JetBrains Mono" panose="02000009000000000000" pitchFamily="49" charset="0"/>
              </a:rPr>
              <a:t>Indique les preuves nécessaires pour</a:t>
            </a:r>
          </a:p>
          <a:p>
            <a:r>
              <a:rPr lang="fr-FR" sz="2200">
                <a:solidFill>
                  <a:srgbClr val="F4EDE0"/>
                </a:solidFill>
                <a:latin typeface="JetBrains Mono" panose="02000009000000000000" pitchFamily="49" charset="0"/>
              </a:rPr>
              <a:t>passer Done.</a:t>
            </a:r>
          </a:p>
        </p:txBody>
      </p:sp>
      <p:sp>
        <p:nvSpPr>
          <p:cNvPr id="11" name="Action">
            <a:extLst>
              <a:ext uri="{FF2B5EF4-FFF2-40B4-BE49-F238E27FC236}">
                <a16:creationId xmlns:a16="http://schemas.microsoft.com/office/drawing/2014/main" id="{2B5988B3-353F-C0D7-9098-A5AC3D853EEF}"/>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Ouvrez TICKETS-DEMAIN.md et confirmez Ready.</a:t>
            </a:r>
          </a:p>
        </p:txBody>
      </p:sp>
    </p:spTree>
    <p:extLst>
      <p:ext uri="{BB962C8B-B14F-4D97-AF65-F5344CB8AC3E}">
        <p14:creationId xmlns:p14="http://schemas.microsoft.com/office/powerpoint/2010/main" val="2073630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e29">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902E30BB-5829-073B-3283-1F1DE86AA6C9}"/>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 MVP    29/36</a:t>
            </a:r>
          </a:p>
        </p:txBody>
      </p:sp>
      <p:sp>
        <p:nvSpPr>
          <p:cNvPr id="3" name="Titre">
            <a:extLst>
              <a:ext uri="{FF2B5EF4-FFF2-40B4-BE49-F238E27FC236}">
                <a16:creationId xmlns:a16="http://schemas.microsoft.com/office/drawing/2014/main" id="{8AB19BFF-A538-4877-15BA-F7AEFD2839BC}"/>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ANNU-01 · Nils</a:t>
            </a:r>
          </a:p>
        </p:txBody>
      </p:sp>
      <p:sp>
        <p:nvSpPr>
          <p:cNvPr id="4" name="Idee">
            <a:extLst>
              <a:ext uri="{FF2B5EF4-FFF2-40B4-BE49-F238E27FC236}">
                <a16:creationId xmlns:a16="http://schemas.microsoft.com/office/drawing/2014/main" id="{1E9205E2-0872-A8EC-AA9E-CE92CDDC0C31}"/>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Annuaire et contacts vérifiables</a:t>
            </a:r>
          </a:p>
        </p:txBody>
      </p:sp>
      <p:sp>
        <p:nvSpPr>
          <p:cNvPr id="5" name="Item_1">
            <a:extLst>
              <a:ext uri="{FF2B5EF4-FFF2-40B4-BE49-F238E27FC236}">
                <a16:creationId xmlns:a16="http://schemas.microsoft.com/office/drawing/2014/main" id="{316EFE42-214F-7BFC-491A-7BA4927334A2}"/>
              </a:ext>
            </a:extLst>
          </p:cNvPr>
          <p:cNvSpPr txBox="1"/>
          <p:nvPr/>
        </p:nvSpPr>
        <p:spPr>
          <a:xfrm>
            <a:off x="965200" y="41020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SMART :</a:t>
            </a:r>
            <a:r>
              <a:rPr lang="fr-FR" sz="2400">
                <a:solidFill>
                  <a:srgbClr val="F4EDE0"/>
                </a:solidFill>
                <a:latin typeface="Outfit" pitchFamily="2" charset="0"/>
              </a:rPr>
              <a:t> 6 structures et leurs contacts vérifiables à 10h45.</a:t>
            </a:r>
          </a:p>
        </p:txBody>
      </p:sp>
      <p:sp>
        <p:nvSpPr>
          <p:cNvPr id="6" name="Item_2">
            <a:extLst>
              <a:ext uri="{FF2B5EF4-FFF2-40B4-BE49-F238E27FC236}">
                <a16:creationId xmlns:a16="http://schemas.microsoft.com/office/drawing/2014/main" id="{E0921CB5-9136-A450-B0A7-D725A1575882}"/>
              </a:ext>
            </a:extLst>
          </p:cNvPr>
          <p:cNvSpPr txBox="1"/>
          <p:nvPr/>
        </p:nvSpPr>
        <p:spPr>
          <a:xfrm>
            <a:off x="965200" y="50736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Ready :</a:t>
            </a:r>
            <a:r>
              <a:rPr lang="fr-FR" sz="2400">
                <a:solidFill>
                  <a:srgbClr val="F4EDE0"/>
                </a:solidFill>
                <a:latin typeface="Outfit" pitchFamily="2" charset="0"/>
              </a:rPr>
              <a:t> Contrat, ville et sources des coordonnées.</a:t>
            </a:r>
          </a:p>
        </p:txBody>
      </p:sp>
      <p:sp>
        <p:nvSpPr>
          <p:cNvPr id="7" name="Item_3">
            <a:extLst>
              <a:ext uri="{FF2B5EF4-FFF2-40B4-BE49-F238E27FC236}">
                <a16:creationId xmlns:a16="http://schemas.microsoft.com/office/drawing/2014/main" id="{6D7648EE-792F-D363-D31B-28F02BF18353}"/>
              </a:ext>
            </a:extLst>
          </p:cNvPr>
          <p:cNvSpPr txBox="1"/>
          <p:nvPr/>
        </p:nvSpPr>
        <p:spPr>
          <a:xfrm>
            <a:off x="965200" y="60451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Done :</a:t>
            </a:r>
            <a:r>
              <a:rPr lang="fr-FR" sz="2400">
                <a:solidFill>
                  <a:srgbClr val="F4EDE0"/>
                </a:solidFill>
                <a:latin typeface="Outfit" pitchFamily="2" charset="0"/>
              </a:rPr>
              <a:t> Filtres, champs absents et liens contrôlés.</a:t>
            </a:r>
          </a:p>
        </p:txBody>
      </p:sp>
      <p:sp>
        <p:nvSpPr>
          <p:cNvPr id="8" name="Item_4">
            <a:extLst>
              <a:ext uri="{FF2B5EF4-FFF2-40B4-BE49-F238E27FC236}">
                <a16:creationId xmlns:a16="http://schemas.microsoft.com/office/drawing/2014/main" id="{2CAB8FFE-2777-852B-B672-D3ACE3A1F049}"/>
              </a:ext>
            </a:extLst>
          </p:cNvPr>
          <p:cNvSpPr txBox="1"/>
          <p:nvPr/>
        </p:nvSpPr>
        <p:spPr>
          <a:xfrm>
            <a:off x="965200" y="70167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Fichiers :</a:t>
            </a:r>
            <a:r>
              <a:rPr lang="fr-FR" sz="2400">
                <a:solidFill>
                  <a:srgbClr val="F4EDE0"/>
                </a:solidFill>
                <a:latin typeface="Outfit" pitchFamily="2" charset="0"/>
              </a:rPr>
              <a:t> src/features/annuaire/**</a:t>
            </a:r>
          </a:p>
        </p:txBody>
      </p:sp>
      <p:sp>
        <p:nvSpPr>
          <p:cNvPr id="9" name="Code_label">
            <a:extLst>
              <a:ext uri="{FF2B5EF4-FFF2-40B4-BE49-F238E27FC236}">
                <a16:creationId xmlns:a16="http://schemas.microsoft.com/office/drawing/2014/main" id="{495BC9A9-FC1A-B0F5-8930-1B8A3CDF25E7}"/>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10" name="Code">
            <a:extLst>
              <a:ext uri="{FF2B5EF4-FFF2-40B4-BE49-F238E27FC236}">
                <a16:creationId xmlns:a16="http://schemas.microsoft.com/office/drawing/2014/main" id="{C72F74F2-DFAD-A9BA-DEF9-1536461A4C96}"/>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/prompt-5 ANNU-01 dans</a:t>
            </a:r>
          </a:p>
          <a:p>
            <a:r>
              <a:rPr lang="fr-FR" sz="2200">
                <a:solidFill>
                  <a:srgbClr val="F4EDE0"/>
                </a:solidFill>
                <a:latin typeface="JetBrains Mono" panose="02000009000000000000" pitchFamily="49" charset="0"/>
              </a:rPr>
              <a:t>TICKETS-DEMAIN.md</a:t>
            </a:r>
          </a:p>
          <a:p>
            <a:r>
              <a:rPr lang="fr-FR" sz="2200">
                <a:solidFill>
                  <a:srgbClr val="F4EDE0"/>
                </a:solidFill>
                <a:latin typeface="JetBrains Mono" panose="02000009000000000000" pitchFamily="49" charset="0"/>
              </a:rPr>
              <a:t>Vérifie Ready avant de proposer le</a:t>
            </a:r>
          </a:p>
          <a:p>
            <a:r>
              <a:rPr lang="fr-FR" sz="2200">
                <a:solidFill>
                  <a:srgbClr val="F4EDE0"/>
                </a:solidFill>
                <a:latin typeface="JetBrains Mono" panose="02000009000000000000" pitchFamily="49" charset="0"/>
              </a:rPr>
              <a:t>plan.</a:t>
            </a:r>
          </a:p>
          <a:p>
            <a:r>
              <a:rPr lang="fr-FR" sz="2200">
                <a:solidFill>
                  <a:srgbClr val="F4EDE0"/>
                </a:solidFill>
                <a:latin typeface="JetBrains Mono" panose="02000009000000000000" pitchFamily="49" charset="0"/>
              </a:rPr>
              <a:t>Indique les preuves nécessaires pour</a:t>
            </a:r>
          </a:p>
          <a:p>
            <a:r>
              <a:rPr lang="fr-FR" sz="2200">
                <a:solidFill>
                  <a:srgbClr val="F4EDE0"/>
                </a:solidFill>
                <a:latin typeface="JetBrains Mono" panose="02000009000000000000" pitchFamily="49" charset="0"/>
              </a:rPr>
              <a:t>passer Done.</a:t>
            </a:r>
          </a:p>
        </p:txBody>
      </p:sp>
      <p:sp>
        <p:nvSpPr>
          <p:cNvPr id="11" name="Action">
            <a:extLst>
              <a:ext uri="{FF2B5EF4-FFF2-40B4-BE49-F238E27FC236}">
                <a16:creationId xmlns:a16="http://schemas.microsoft.com/office/drawing/2014/main" id="{3A3DF22A-0C0F-F4FA-616D-A7D9616D02D3}"/>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Ouvrez TICKETS-DEMAIN.md et confirmez Ready.</a:t>
            </a:r>
          </a:p>
        </p:txBody>
      </p:sp>
    </p:spTree>
    <p:extLst>
      <p:ext uri="{BB962C8B-B14F-4D97-AF65-F5344CB8AC3E}">
        <p14:creationId xmlns:p14="http://schemas.microsoft.com/office/powerpoint/2010/main" val="3248588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e30">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79BE10C9-3DA2-DA19-E78B-03E3AAE20EC1}"/>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 MVP    30/36</a:t>
            </a:r>
          </a:p>
        </p:txBody>
      </p:sp>
      <p:sp>
        <p:nvSpPr>
          <p:cNvPr id="3" name="Titre">
            <a:extLst>
              <a:ext uri="{FF2B5EF4-FFF2-40B4-BE49-F238E27FC236}">
                <a16:creationId xmlns:a16="http://schemas.microsoft.com/office/drawing/2014/main" id="{4C42DDE4-CA3D-F04F-F652-8E4978DD68EE}"/>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INT-01 · Cédric</a:t>
            </a:r>
          </a:p>
        </p:txBody>
      </p:sp>
      <p:sp>
        <p:nvSpPr>
          <p:cNvPr id="4" name="Idee">
            <a:extLst>
              <a:ext uri="{FF2B5EF4-FFF2-40B4-BE49-F238E27FC236}">
                <a16:creationId xmlns:a16="http://schemas.microsoft.com/office/drawing/2014/main" id="{BCFF2575-3A88-0950-B56D-C59E9C968AF4}"/>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Contrat commun et intégration</a:t>
            </a:r>
          </a:p>
        </p:txBody>
      </p:sp>
      <p:sp>
        <p:nvSpPr>
          <p:cNvPr id="5" name="Item_1">
            <a:extLst>
              <a:ext uri="{FF2B5EF4-FFF2-40B4-BE49-F238E27FC236}">
                <a16:creationId xmlns:a16="http://schemas.microsoft.com/office/drawing/2014/main" id="{3E248570-C662-FF9F-542A-AED07BB853BA}"/>
              </a:ext>
            </a:extLst>
          </p:cNvPr>
          <p:cNvSpPr txBox="1"/>
          <p:nvPr/>
        </p:nvSpPr>
        <p:spPr>
          <a:xfrm>
            <a:off x="965200" y="41020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SMART :</a:t>
            </a:r>
            <a:r>
              <a:rPr lang="fr-FR" sz="2400">
                <a:solidFill>
                  <a:srgbClr val="F4EDE0"/>
                </a:solidFill>
                <a:latin typeface="Outfit" pitchFamily="2" charset="0"/>
              </a:rPr>
              <a:t> Contrat à 9h55 ; intégration prête à 12h00.</a:t>
            </a:r>
          </a:p>
        </p:txBody>
      </p:sp>
      <p:sp>
        <p:nvSpPr>
          <p:cNvPr id="6" name="Item_2">
            <a:extLst>
              <a:ext uri="{FF2B5EF4-FFF2-40B4-BE49-F238E27FC236}">
                <a16:creationId xmlns:a16="http://schemas.microsoft.com/office/drawing/2014/main" id="{B2DDDF13-2987-1433-7DDA-D80FB8A0619E}"/>
              </a:ext>
            </a:extLst>
          </p:cNvPr>
          <p:cNvSpPr txBox="1"/>
          <p:nvPr/>
        </p:nvSpPr>
        <p:spPr>
          <a:xfrm>
            <a:off x="965200" y="50736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Ready :</a:t>
            </a:r>
            <a:r>
              <a:rPr lang="fr-FR" sz="2400">
                <a:solidFill>
                  <a:srgbClr val="F4EDE0"/>
                </a:solidFill>
                <a:latin typeface="Outfit" pitchFamily="2" charset="0"/>
              </a:rPr>
              <a:t> Décisions PO et périmètres partagés.</a:t>
            </a:r>
          </a:p>
        </p:txBody>
      </p:sp>
      <p:sp>
        <p:nvSpPr>
          <p:cNvPr id="7" name="Item_3">
            <a:extLst>
              <a:ext uri="{FF2B5EF4-FFF2-40B4-BE49-F238E27FC236}">
                <a16:creationId xmlns:a16="http://schemas.microsoft.com/office/drawing/2014/main" id="{52917326-577F-744F-0B30-23BE4EA31BE5}"/>
              </a:ext>
            </a:extLst>
          </p:cNvPr>
          <p:cNvSpPr txBox="1"/>
          <p:nvPr/>
        </p:nvSpPr>
        <p:spPr>
          <a:xfrm>
            <a:off x="965200" y="60451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Done :</a:t>
            </a:r>
            <a:r>
              <a:rPr lang="fr-FR" sz="2400">
                <a:solidFill>
                  <a:srgbClr val="F4EDE0"/>
                </a:solidFill>
                <a:latin typeface="Outfit" pitchFamily="2" charset="0"/>
              </a:rPr>
              <a:t> Parcours complet et cas limites vérifiés.</a:t>
            </a:r>
          </a:p>
        </p:txBody>
      </p:sp>
      <p:sp>
        <p:nvSpPr>
          <p:cNvPr id="8" name="Item_4">
            <a:extLst>
              <a:ext uri="{FF2B5EF4-FFF2-40B4-BE49-F238E27FC236}">
                <a16:creationId xmlns:a16="http://schemas.microsoft.com/office/drawing/2014/main" id="{13F6BCC0-953E-4945-0DAB-95BA45313563}"/>
              </a:ext>
            </a:extLst>
          </p:cNvPr>
          <p:cNvSpPr txBox="1"/>
          <p:nvPr/>
        </p:nvSpPr>
        <p:spPr>
          <a:xfrm>
            <a:off x="965200" y="70167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Fichiers :</a:t>
            </a:r>
            <a:r>
              <a:rPr lang="fr-FR" sz="2400">
                <a:solidFill>
                  <a:srgbClr val="F4EDE0"/>
                </a:solidFill>
                <a:latin typeface="Outfit" pitchFamily="2" charset="0"/>
              </a:rPr>
              <a:t> src/app/, src/types/, src/services/ et assemblage.</a:t>
            </a:r>
          </a:p>
        </p:txBody>
      </p:sp>
      <p:sp>
        <p:nvSpPr>
          <p:cNvPr id="9" name="Code_label">
            <a:extLst>
              <a:ext uri="{FF2B5EF4-FFF2-40B4-BE49-F238E27FC236}">
                <a16:creationId xmlns:a16="http://schemas.microsoft.com/office/drawing/2014/main" id="{B6628DF6-A2CD-E122-E68C-68143B04DA6F}"/>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10" name="Code">
            <a:extLst>
              <a:ext uri="{FF2B5EF4-FFF2-40B4-BE49-F238E27FC236}">
                <a16:creationId xmlns:a16="http://schemas.microsoft.com/office/drawing/2014/main" id="{C4C30557-43D8-2124-459A-43424822FA94}"/>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/prompt-5 INT-01 dans</a:t>
            </a:r>
          </a:p>
          <a:p>
            <a:r>
              <a:rPr lang="fr-FR" sz="2200">
                <a:solidFill>
                  <a:srgbClr val="F4EDE0"/>
                </a:solidFill>
                <a:latin typeface="JetBrains Mono" panose="02000009000000000000" pitchFamily="49" charset="0"/>
              </a:rPr>
              <a:t>TICKETS-DEMAIN.md</a:t>
            </a:r>
          </a:p>
          <a:p>
            <a:r>
              <a:rPr lang="fr-FR" sz="2200">
                <a:solidFill>
                  <a:srgbClr val="F4EDE0"/>
                </a:solidFill>
                <a:latin typeface="JetBrains Mono" panose="02000009000000000000" pitchFamily="49" charset="0"/>
              </a:rPr>
              <a:t>Vérifie Ready avant de proposer le</a:t>
            </a:r>
          </a:p>
          <a:p>
            <a:r>
              <a:rPr lang="fr-FR" sz="2200">
                <a:solidFill>
                  <a:srgbClr val="F4EDE0"/>
                </a:solidFill>
                <a:latin typeface="JetBrains Mono" panose="02000009000000000000" pitchFamily="49" charset="0"/>
              </a:rPr>
              <a:t>plan.</a:t>
            </a:r>
          </a:p>
          <a:p>
            <a:r>
              <a:rPr lang="fr-FR" sz="2200">
                <a:solidFill>
                  <a:srgbClr val="F4EDE0"/>
                </a:solidFill>
                <a:latin typeface="JetBrains Mono" panose="02000009000000000000" pitchFamily="49" charset="0"/>
              </a:rPr>
              <a:t>Indique les preuves nécessaires pour</a:t>
            </a:r>
          </a:p>
          <a:p>
            <a:r>
              <a:rPr lang="fr-FR" sz="2200">
                <a:solidFill>
                  <a:srgbClr val="F4EDE0"/>
                </a:solidFill>
                <a:latin typeface="JetBrains Mono" panose="02000009000000000000" pitchFamily="49" charset="0"/>
              </a:rPr>
              <a:t>passer Done.</a:t>
            </a:r>
          </a:p>
        </p:txBody>
      </p:sp>
      <p:sp>
        <p:nvSpPr>
          <p:cNvPr id="11" name="Action">
            <a:extLst>
              <a:ext uri="{FF2B5EF4-FFF2-40B4-BE49-F238E27FC236}">
                <a16:creationId xmlns:a16="http://schemas.microsoft.com/office/drawing/2014/main" id="{EFE2780D-0546-23FC-A57A-47823A9EF09A}"/>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Ouvrez TICKETS-DEMAIN.md et confirmez Ready.</a:t>
            </a:r>
          </a:p>
        </p:txBody>
      </p:sp>
    </p:spTree>
    <p:extLst>
      <p:ext uri="{BB962C8B-B14F-4D97-AF65-F5344CB8AC3E}">
        <p14:creationId xmlns:p14="http://schemas.microsoft.com/office/powerpoint/2010/main" val="37249789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e31">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21D4706F-33C4-79A6-C44A-E3F58FEDCE31}"/>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 MVP    31/36</a:t>
            </a:r>
          </a:p>
        </p:txBody>
      </p:sp>
      <p:sp>
        <p:nvSpPr>
          <p:cNvPr id="3" name="Titre">
            <a:extLst>
              <a:ext uri="{FF2B5EF4-FFF2-40B4-BE49-F238E27FC236}">
                <a16:creationId xmlns:a16="http://schemas.microsoft.com/office/drawing/2014/main" id="{C2BFA002-9152-C5B9-9FC0-F18D24686511}"/>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La matinée alterne travail et apprentissage</a:t>
            </a:r>
          </a:p>
        </p:txBody>
      </p:sp>
      <p:sp>
        <p:nvSpPr>
          <p:cNvPr id="4" name="Idee">
            <a:extLst>
              <a:ext uri="{FF2B5EF4-FFF2-40B4-BE49-F238E27FC236}">
                <a16:creationId xmlns:a16="http://schemas.microsoft.com/office/drawing/2014/main" id="{CEBE98B3-8174-4549-40B7-7683A312319A}"/>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Les heures sont des cibles de séance, à ajuster aux blocages.</a:t>
            </a:r>
          </a:p>
        </p:txBody>
      </p:sp>
      <p:sp>
        <p:nvSpPr>
          <p:cNvPr id="5" name="Item_1">
            <a:extLst>
              <a:ext uri="{FF2B5EF4-FFF2-40B4-BE49-F238E27FC236}">
                <a16:creationId xmlns:a16="http://schemas.microsoft.com/office/drawing/2014/main" id="{1E66E8F6-F3D0-5021-C965-01D9CADBCF43}"/>
              </a:ext>
            </a:extLst>
          </p:cNvPr>
          <p:cNvSpPr txBox="1"/>
          <p:nvPr/>
        </p:nvSpPr>
        <p:spPr>
          <a:xfrm>
            <a:off x="965200" y="41909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9h00–9h40 :</a:t>
            </a:r>
            <a:r>
              <a:rPr lang="fr-FR" sz="2700">
                <a:solidFill>
                  <a:srgbClr val="F4EDE0"/>
                </a:solidFill>
                <a:latin typeface="Outfit" pitchFamily="2" charset="0"/>
              </a:rPr>
              <a:t> Décisions PO, exercices outils et tickets.</a:t>
            </a:r>
          </a:p>
        </p:txBody>
      </p:sp>
      <p:sp>
        <p:nvSpPr>
          <p:cNvPr id="6" name="Item_2">
            <a:extLst>
              <a:ext uri="{FF2B5EF4-FFF2-40B4-BE49-F238E27FC236}">
                <a16:creationId xmlns:a16="http://schemas.microsoft.com/office/drawing/2014/main" id="{FC1F0EE6-28C9-62BF-8E9F-FCDAC29E3234}"/>
              </a:ext>
            </a:extLst>
          </p:cNvPr>
          <p:cNvSpPr txBox="1"/>
          <p:nvPr/>
        </p:nvSpPr>
        <p:spPr>
          <a:xfrm>
            <a:off x="965200" y="49148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9h40–10h05 :</a:t>
            </a:r>
            <a:r>
              <a:rPr lang="fr-FR" sz="2700">
                <a:solidFill>
                  <a:srgbClr val="F4EDE0"/>
                </a:solidFill>
                <a:latin typeface="Outfit" pitchFamily="2" charset="0"/>
              </a:rPr>
              <a:t> Contrat commun, reformulation et lancement.</a:t>
            </a:r>
          </a:p>
        </p:txBody>
      </p:sp>
      <p:sp>
        <p:nvSpPr>
          <p:cNvPr id="7" name="Item_3">
            <a:extLst>
              <a:ext uri="{FF2B5EF4-FFF2-40B4-BE49-F238E27FC236}">
                <a16:creationId xmlns:a16="http://schemas.microsoft.com/office/drawing/2014/main" id="{45D9A5E0-09D6-CC86-E305-605BED68E883}"/>
              </a:ext>
            </a:extLst>
          </p:cNvPr>
          <p:cNvSpPr txBox="1"/>
          <p:nvPr/>
        </p:nvSpPr>
        <p:spPr>
          <a:xfrm>
            <a:off x="965200" y="56387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10h05–10h45 :</a:t>
            </a:r>
            <a:r>
              <a:rPr lang="fr-FR" sz="2700">
                <a:solidFill>
                  <a:srgbClr val="F4EDE0"/>
                </a:solidFill>
                <a:latin typeface="Outfit" pitchFamily="2" charset="0"/>
              </a:rPr>
              <a:t> Théorie pendant l’exécution ; point blocages.</a:t>
            </a:r>
          </a:p>
        </p:txBody>
      </p:sp>
      <p:sp>
        <p:nvSpPr>
          <p:cNvPr id="8" name="Item_4">
            <a:extLst>
              <a:ext uri="{FF2B5EF4-FFF2-40B4-BE49-F238E27FC236}">
                <a16:creationId xmlns:a16="http://schemas.microsoft.com/office/drawing/2014/main" id="{07402743-C9D3-684B-38E9-74FF6AE01FBF}"/>
              </a:ext>
            </a:extLst>
          </p:cNvPr>
          <p:cNvSpPr txBox="1"/>
          <p:nvPr/>
        </p:nvSpPr>
        <p:spPr>
          <a:xfrm>
            <a:off x="965200" y="63626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10h45–11h45 :</a:t>
            </a:r>
            <a:r>
              <a:rPr lang="fr-FR" sz="2700">
                <a:solidFill>
                  <a:srgbClr val="F4EDE0"/>
                </a:solidFill>
                <a:latin typeface="Outfit" pitchFamily="2" charset="0"/>
              </a:rPr>
              <a:t> Relecture, intégration et corrections.</a:t>
            </a:r>
          </a:p>
        </p:txBody>
      </p:sp>
      <p:sp>
        <p:nvSpPr>
          <p:cNvPr id="9" name="Item_5">
            <a:extLst>
              <a:ext uri="{FF2B5EF4-FFF2-40B4-BE49-F238E27FC236}">
                <a16:creationId xmlns:a16="http://schemas.microsoft.com/office/drawing/2014/main" id="{DCCEC661-FE12-42C7-9341-377E4F14D883}"/>
              </a:ext>
            </a:extLst>
          </p:cNvPr>
          <p:cNvSpPr txBox="1"/>
          <p:nvPr/>
        </p:nvSpPr>
        <p:spPr>
          <a:xfrm>
            <a:off x="965200" y="70865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11h45–12h30 :</a:t>
            </a:r>
            <a:r>
              <a:rPr lang="fr-FR" sz="2700">
                <a:solidFill>
                  <a:srgbClr val="F4EDE0"/>
                </a:solidFill>
                <a:latin typeface="Outfit" pitchFamily="2" charset="0"/>
              </a:rPr>
              <a:t> Recette, démonstration à 12h15, bilan.</a:t>
            </a:r>
          </a:p>
        </p:txBody>
      </p:sp>
      <p:sp>
        <p:nvSpPr>
          <p:cNvPr id="10" name="Action">
            <a:extLst>
              <a:ext uri="{FF2B5EF4-FFF2-40B4-BE49-F238E27FC236}">
                <a16:creationId xmlns:a16="http://schemas.microsoft.com/office/drawing/2014/main" id="{A176A74C-B980-67F7-D45D-81CBE0EDD479}"/>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À chaque point : signalez terminé, bloqué ou à réduire.</a:t>
            </a:r>
          </a:p>
        </p:txBody>
      </p:sp>
    </p:spTree>
    <p:extLst>
      <p:ext uri="{BB962C8B-B14F-4D97-AF65-F5344CB8AC3E}">
        <p14:creationId xmlns:p14="http://schemas.microsoft.com/office/powerpoint/2010/main" val="697527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e32">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C7A32460-7A74-277B-3210-25903A61FCF0}"/>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 MVP    32/36</a:t>
            </a:r>
          </a:p>
        </p:txBody>
      </p:sp>
      <p:sp>
        <p:nvSpPr>
          <p:cNvPr id="3" name="Titre">
            <a:extLst>
              <a:ext uri="{FF2B5EF4-FFF2-40B4-BE49-F238E27FC236}">
                <a16:creationId xmlns:a16="http://schemas.microsoft.com/office/drawing/2014/main" id="{01493859-E60F-A2B3-E6CC-EB4407EB8256}"/>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Sans réseau : montrer ce qui existe vraiment</a:t>
            </a:r>
          </a:p>
        </p:txBody>
      </p:sp>
      <p:sp>
        <p:nvSpPr>
          <p:cNvPr id="4" name="Idee">
            <a:extLst>
              <a:ext uri="{FF2B5EF4-FFF2-40B4-BE49-F238E27FC236}">
                <a16:creationId xmlns:a16="http://schemas.microsoft.com/office/drawing/2014/main" id="{5ED214FA-E137-15B5-5B4B-321D2687EC66}"/>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Fichiers locaux disponibles ≠ agent cloud disponible.</a:t>
            </a:r>
          </a:p>
        </p:txBody>
      </p:sp>
      <p:sp>
        <p:nvSpPr>
          <p:cNvPr id="5" name="Item_title_1">
            <a:extLst>
              <a:ext uri="{FF2B5EF4-FFF2-40B4-BE49-F238E27FC236}">
                <a16:creationId xmlns:a16="http://schemas.microsoft.com/office/drawing/2014/main" id="{FA2BBDCD-74BF-569C-5D19-1603AE34A1FC}"/>
              </a:ext>
            </a:extLst>
          </p:cNvPr>
          <p:cNvSpPr txBox="1"/>
          <p:nvPr/>
        </p:nvSpPr>
        <p:spPr>
          <a:xfrm>
            <a:off x="965200" y="42925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Garder</a:t>
            </a:r>
          </a:p>
        </p:txBody>
      </p:sp>
      <p:sp>
        <p:nvSpPr>
          <p:cNvPr id="6" name="Item_text_1">
            <a:extLst>
              <a:ext uri="{FF2B5EF4-FFF2-40B4-BE49-F238E27FC236}">
                <a16:creationId xmlns:a16="http://schemas.microsoft.com/office/drawing/2014/main" id="{224D8CCF-CC22-D38B-D9F9-E795E0B20BED}"/>
              </a:ext>
            </a:extLst>
          </p:cNvPr>
          <p:cNvSpPr txBox="1"/>
          <p:nvPr/>
        </p:nvSpPr>
        <p:spPr>
          <a:xfrm>
            <a:off x="965200" y="48259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Sources, traductions et fixtures déjà enregistrées.</a:t>
            </a:r>
          </a:p>
        </p:txBody>
      </p:sp>
      <p:sp>
        <p:nvSpPr>
          <p:cNvPr id="7" name="Item_title_2">
            <a:extLst>
              <a:ext uri="{FF2B5EF4-FFF2-40B4-BE49-F238E27FC236}">
                <a16:creationId xmlns:a16="http://schemas.microsoft.com/office/drawing/2014/main" id="{0C640D49-D35E-DAB3-E633-6CC87977CA7E}"/>
              </a:ext>
            </a:extLst>
          </p:cNvPr>
          <p:cNvSpPr txBox="1"/>
          <p:nvPr/>
        </p:nvSpPr>
        <p:spPr>
          <a:xfrm>
            <a:off x="8407400" y="42925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Afficher</a:t>
            </a:r>
          </a:p>
        </p:txBody>
      </p:sp>
      <p:sp>
        <p:nvSpPr>
          <p:cNvPr id="8" name="Item_text_2">
            <a:extLst>
              <a:ext uri="{FF2B5EF4-FFF2-40B4-BE49-F238E27FC236}">
                <a16:creationId xmlns:a16="http://schemas.microsoft.com/office/drawing/2014/main" id="{1D97FEEF-67D5-EC76-9F31-2656F85190DC}"/>
              </a:ext>
            </a:extLst>
          </p:cNvPr>
          <p:cNvSpPr txBox="1"/>
          <p:nvPr/>
        </p:nvSpPr>
        <p:spPr>
          <a:xfrm>
            <a:off x="8407400" y="48259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Une réponse préparée, identifiée « mode sans IA ».</a:t>
            </a:r>
          </a:p>
        </p:txBody>
      </p:sp>
      <p:sp>
        <p:nvSpPr>
          <p:cNvPr id="9" name="Item_title_3">
            <a:extLst>
              <a:ext uri="{FF2B5EF4-FFF2-40B4-BE49-F238E27FC236}">
                <a16:creationId xmlns:a16="http://schemas.microsoft.com/office/drawing/2014/main" id="{4E5613F1-1CFF-DA90-3074-C1008483C662}"/>
              </a:ext>
            </a:extLst>
          </p:cNvPr>
          <p:cNvSpPr txBox="1"/>
          <p:nvPr/>
        </p:nvSpPr>
        <p:spPr>
          <a:xfrm>
            <a:off x="965200" y="60578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Poursuivre</a:t>
            </a:r>
          </a:p>
        </p:txBody>
      </p:sp>
      <p:sp>
        <p:nvSpPr>
          <p:cNvPr id="10" name="Item_text_3">
            <a:extLst>
              <a:ext uri="{FF2B5EF4-FFF2-40B4-BE49-F238E27FC236}">
                <a16:creationId xmlns:a16="http://schemas.microsoft.com/office/drawing/2014/main" id="{AE60DB63-B9EA-0E14-5BBE-C9124A60252F}"/>
              </a:ext>
            </a:extLst>
          </p:cNvPr>
          <p:cNvSpPr txBox="1"/>
          <p:nvPr/>
        </p:nvSpPr>
        <p:spPr>
          <a:xfrm>
            <a:off x="965200" y="65912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Relire, assembler et corriger localement si possible.</a:t>
            </a:r>
          </a:p>
        </p:txBody>
      </p:sp>
      <p:sp>
        <p:nvSpPr>
          <p:cNvPr id="11" name="Item_title_4">
            <a:extLst>
              <a:ext uri="{FF2B5EF4-FFF2-40B4-BE49-F238E27FC236}">
                <a16:creationId xmlns:a16="http://schemas.microsoft.com/office/drawing/2014/main" id="{3399DABE-7683-D7B6-B057-C1F0B5E46C2D}"/>
              </a:ext>
            </a:extLst>
          </p:cNvPr>
          <p:cNvSpPr txBox="1"/>
          <p:nvPr/>
        </p:nvSpPr>
        <p:spPr>
          <a:xfrm>
            <a:off x="8407400" y="6057899"/>
            <a:ext cx="6883400" cy="469900"/>
          </a:xfrm>
          <a:prstGeom prst="rect">
            <a:avLst/>
          </a:prstGeom>
          <a:noFill/>
        </p:spPr>
        <p:txBody>
          <a:bodyPr vert="horz" wrap="square" lIns="0" tIns="0" rIns="0" bIns="0" rtlCol="0">
            <a:noAutofit/>
          </a:bodyPr>
          <a:lstStyle/>
          <a:p>
            <a:r>
              <a:rPr lang="fr-FR" sz="2700" b="1">
                <a:solidFill>
                  <a:srgbClr val="F9B02A"/>
                </a:solidFill>
                <a:latin typeface="Outfit" pitchFamily="2" charset="0"/>
              </a:rPr>
              <a:t>Reporter</a:t>
            </a:r>
          </a:p>
        </p:txBody>
      </p:sp>
      <p:sp>
        <p:nvSpPr>
          <p:cNvPr id="12" name="Item_text_4">
            <a:extLst>
              <a:ext uri="{FF2B5EF4-FFF2-40B4-BE49-F238E27FC236}">
                <a16:creationId xmlns:a16="http://schemas.microsoft.com/office/drawing/2014/main" id="{66248C01-6F2B-CF78-EC61-EE87A3274226}"/>
              </a:ext>
            </a:extLst>
          </p:cNvPr>
          <p:cNvSpPr txBox="1"/>
          <p:nvPr/>
        </p:nvSpPr>
        <p:spPr>
          <a:xfrm>
            <a:off x="8407400" y="6591299"/>
            <a:ext cx="6883400" cy="1117600"/>
          </a:xfrm>
          <a:prstGeom prst="rect">
            <a:avLst/>
          </a:prstGeom>
          <a:noFill/>
        </p:spPr>
        <p:txBody>
          <a:bodyPr vert="horz" wrap="square" lIns="0" tIns="0" rIns="0" bIns="0" rtlCol="0">
            <a:noAutofit/>
          </a:bodyPr>
          <a:lstStyle/>
          <a:p>
            <a:r>
              <a:rPr lang="fr-FR" sz="2600">
                <a:solidFill>
                  <a:srgbClr val="F4EDE0"/>
                </a:solidFill>
                <a:latin typeface="Outfit" pitchFamily="2" charset="0"/>
              </a:rPr>
              <a:t>Collecte, nouveaux paquets et validation distante.</a:t>
            </a:r>
          </a:p>
        </p:txBody>
      </p:sp>
      <p:sp>
        <p:nvSpPr>
          <p:cNvPr id="13" name="Action">
            <a:extLst>
              <a:ext uri="{FF2B5EF4-FFF2-40B4-BE49-F238E27FC236}">
                <a16:creationId xmlns:a16="http://schemas.microsoft.com/office/drawing/2014/main" id="{3A8FF7BF-75E2-9BAD-9262-049E7A6F0F41}"/>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Exercice · 3 min : annoncez la limite de votre plan B.</a:t>
            </a:r>
          </a:p>
        </p:txBody>
      </p:sp>
    </p:spTree>
    <p:extLst>
      <p:ext uri="{BB962C8B-B14F-4D97-AF65-F5344CB8AC3E}">
        <p14:creationId xmlns:p14="http://schemas.microsoft.com/office/powerpoint/2010/main" val="2736777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e33">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170299C1-A4A7-BB68-2DB9-09EE11DBB702}"/>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Le MVP    33/36</a:t>
            </a:r>
          </a:p>
        </p:txBody>
      </p:sp>
      <p:sp>
        <p:nvSpPr>
          <p:cNvPr id="3" name="Titre">
            <a:extLst>
              <a:ext uri="{FF2B5EF4-FFF2-40B4-BE49-F238E27FC236}">
                <a16:creationId xmlns:a16="http://schemas.microsoft.com/office/drawing/2014/main" id="{6CB950DC-00D4-8B69-7EFF-4F146C86F0BD}"/>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Le PO vérifie un résultat humain</a:t>
            </a:r>
          </a:p>
        </p:txBody>
      </p:sp>
      <p:sp>
        <p:nvSpPr>
          <p:cNvPr id="4" name="Idee">
            <a:extLst>
              <a:ext uri="{FF2B5EF4-FFF2-40B4-BE49-F238E27FC236}">
                <a16:creationId xmlns:a16="http://schemas.microsoft.com/office/drawing/2014/main" id="{4E67F94E-D11F-2447-AFA8-765CE6A2C679}"/>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La démo répond à un besoin et montre ses limites.</a:t>
            </a:r>
          </a:p>
        </p:txBody>
      </p:sp>
      <p:sp>
        <p:nvSpPr>
          <p:cNvPr id="5" name="Item_1">
            <a:extLst>
              <a:ext uri="{FF2B5EF4-FFF2-40B4-BE49-F238E27FC236}">
                <a16:creationId xmlns:a16="http://schemas.microsoft.com/office/drawing/2014/main" id="{6D37DCFA-514C-809D-C910-92CEAACAEC56}"/>
              </a:ext>
            </a:extLst>
          </p:cNvPr>
          <p:cNvSpPr txBox="1"/>
          <p:nvPr/>
        </p:nvSpPr>
        <p:spPr>
          <a:xfrm>
            <a:off x="965200" y="4102099"/>
            <a:ext cx="7061200" cy="75184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Comprendre :</a:t>
            </a:r>
            <a:r>
              <a:rPr lang="fr-FR" sz="2400">
                <a:solidFill>
                  <a:srgbClr val="F4EDE0"/>
                </a:solidFill>
                <a:latin typeface="Outfit" pitchFamily="2" charset="0"/>
              </a:rPr>
              <a:t> Le besoin et la langue se choisissent facilement.</a:t>
            </a:r>
          </a:p>
        </p:txBody>
      </p:sp>
      <p:sp>
        <p:nvSpPr>
          <p:cNvPr id="6" name="Item_2">
            <a:extLst>
              <a:ext uri="{FF2B5EF4-FFF2-40B4-BE49-F238E27FC236}">
                <a16:creationId xmlns:a16="http://schemas.microsoft.com/office/drawing/2014/main" id="{4B3158C2-1285-2E0C-4880-A69E11C762B0}"/>
              </a:ext>
            </a:extLst>
          </p:cNvPr>
          <p:cNvSpPr txBox="1"/>
          <p:nvPr/>
        </p:nvSpPr>
        <p:spPr>
          <a:xfrm>
            <a:off x="965200" y="4879339"/>
            <a:ext cx="7061200" cy="75184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Expliquer :</a:t>
            </a:r>
            <a:r>
              <a:rPr lang="fr-FR" sz="2400">
                <a:solidFill>
                  <a:srgbClr val="F4EDE0"/>
                </a:solidFill>
                <a:latin typeface="Outfit" pitchFamily="2" charset="0"/>
              </a:rPr>
              <a:t> La réponse indique sa source et le mode réellement testé.</a:t>
            </a:r>
          </a:p>
        </p:txBody>
      </p:sp>
      <p:sp>
        <p:nvSpPr>
          <p:cNvPr id="7" name="Item_3">
            <a:extLst>
              <a:ext uri="{FF2B5EF4-FFF2-40B4-BE49-F238E27FC236}">
                <a16:creationId xmlns:a16="http://schemas.microsoft.com/office/drawing/2014/main" id="{089C9A1C-12CC-2512-3B07-8E1521C0C730}"/>
              </a:ext>
            </a:extLst>
          </p:cNvPr>
          <p:cNvSpPr txBox="1"/>
          <p:nvPr/>
        </p:nvSpPr>
        <p:spPr>
          <a:xfrm>
            <a:off x="965200" y="5656579"/>
            <a:ext cx="7061200" cy="75184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Orienter :</a:t>
            </a:r>
            <a:r>
              <a:rPr lang="fr-FR" sz="2400">
                <a:solidFill>
                  <a:srgbClr val="F4EDE0"/>
                </a:solidFill>
                <a:latin typeface="Outfit" pitchFamily="2" charset="0"/>
              </a:rPr>
              <a:t> La structure correspond au besoin et à la ville.</a:t>
            </a:r>
          </a:p>
        </p:txBody>
      </p:sp>
      <p:sp>
        <p:nvSpPr>
          <p:cNvPr id="8" name="Item_4">
            <a:extLst>
              <a:ext uri="{FF2B5EF4-FFF2-40B4-BE49-F238E27FC236}">
                <a16:creationId xmlns:a16="http://schemas.microsoft.com/office/drawing/2014/main" id="{4EC48DFE-3D37-68EE-AE0A-229832160CDB}"/>
              </a:ext>
            </a:extLst>
          </p:cNvPr>
          <p:cNvSpPr txBox="1"/>
          <p:nvPr/>
        </p:nvSpPr>
        <p:spPr>
          <a:xfrm>
            <a:off x="965200" y="6433819"/>
            <a:ext cx="7061200" cy="75184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Contacter :</a:t>
            </a:r>
            <a:r>
              <a:rPr lang="fr-FR" sz="2400">
                <a:solidFill>
                  <a:srgbClr val="F4EDE0"/>
                </a:solidFill>
                <a:latin typeface="Outfit" pitchFamily="2" charset="0"/>
              </a:rPr>
              <a:t> Chaque contact affiché vient d’une source.</a:t>
            </a:r>
          </a:p>
        </p:txBody>
      </p:sp>
      <p:sp>
        <p:nvSpPr>
          <p:cNvPr id="9" name="Item_5">
            <a:extLst>
              <a:ext uri="{FF2B5EF4-FFF2-40B4-BE49-F238E27FC236}">
                <a16:creationId xmlns:a16="http://schemas.microsoft.com/office/drawing/2014/main" id="{59FC59A1-682F-605E-46CD-D43B466DB045}"/>
              </a:ext>
            </a:extLst>
          </p:cNvPr>
          <p:cNvSpPr txBox="1"/>
          <p:nvPr/>
        </p:nvSpPr>
        <p:spPr>
          <a:xfrm>
            <a:off x="965200" y="7211059"/>
            <a:ext cx="7061200" cy="75184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Échouer proprement :</a:t>
            </a:r>
            <a:r>
              <a:rPr lang="fr-FR" sz="2400">
                <a:solidFill>
                  <a:srgbClr val="F4EDE0"/>
                </a:solidFill>
                <a:latin typeface="Outfit" pitchFamily="2" charset="0"/>
              </a:rPr>
              <a:t> Aucun résultat ou champ absent reste compréhensible.</a:t>
            </a:r>
          </a:p>
        </p:txBody>
      </p:sp>
      <p:sp>
        <p:nvSpPr>
          <p:cNvPr id="10" name="Code_label">
            <a:extLst>
              <a:ext uri="{FF2B5EF4-FFF2-40B4-BE49-F238E27FC236}">
                <a16:creationId xmlns:a16="http://schemas.microsoft.com/office/drawing/2014/main" id="{C0370786-CE5B-4259-76C6-24C90BC18D2F}"/>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11" name="Code">
            <a:extLst>
              <a:ext uri="{FF2B5EF4-FFF2-40B4-BE49-F238E27FC236}">
                <a16:creationId xmlns:a16="http://schemas.microsoft.com/office/drawing/2014/main" id="{B4928BCE-93C7-3A14-480F-9994BBBB731F}"/>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Recette : besoin → réponse → organisme</a:t>
            </a:r>
          </a:p>
          <a:p>
            <a:r>
              <a:rPr lang="fr-FR" sz="2200">
                <a:solidFill>
                  <a:srgbClr val="F4EDE0"/>
                </a:solidFill>
                <a:latin typeface="JetBrains Mono" panose="02000009000000000000" pitchFamily="49" charset="0"/>
              </a:rPr>
              <a:t>→ contact disponible.</a:t>
            </a:r>
          </a:p>
          <a:p>
            <a:r>
              <a:rPr lang="fr-FR" sz="2200">
                <a:solidFill>
                  <a:srgbClr val="F4EDE0"/>
                </a:solidFill>
                <a:latin typeface="JetBrains Mono" panose="02000009000000000000" pitchFamily="49" charset="0"/>
              </a:rPr>
              <a:t>Teste aussi ville inconnue et</a:t>
            </a:r>
          </a:p>
          <a:p>
            <a:r>
              <a:rPr lang="fr-FR" sz="2200">
                <a:solidFill>
                  <a:srgbClr val="F4EDE0"/>
                </a:solidFill>
                <a:latin typeface="JetBrains Mono" panose="02000009000000000000" pitchFamily="49" charset="0"/>
              </a:rPr>
              <a:t>téléphone absent.</a:t>
            </a:r>
          </a:p>
          <a:p>
            <a:r>
              <a:rPr lang="fr-FR" sz="2200">
                <a:solidFill>
                  <a:srgbClr val="F4EDE0"/>
                </a:solidFill>
                <a:latin typeface="JetBrains Mono" panose="02000009000000000000" pitchFamily="49" charset="0"/>
              </a:rPr>
              <a:t>Note attendu, observé et preuve.</a:t>
            </a:r>
          </a:p>
          <a:p>
            <a:r>
              <a:rPr lang="fr-FR" sz="2200">
                <a:solidFill>
                  <a:srgbClr val="F4EDE0"/>
                </a:solidFill>
                <a:latin typeface="JetBrains Mono" panose="02000009000000000000" pitchFamily="49" charset="0"/>
              </a:rPr>
              <a:t>Classe les écarts : bloquant pour la</a:t>
            </a:r>
          </a:p>
          <a:p>
            <a:r>
              <a:rPr lang="fr-FR" sz="2200">
                <a:solidFill>
                  <a:srgbClr val="F4EDE0"/>
                </a:solidFill>
                <a:latin typeface="JetBrains Mono" panose="02000009000000000000" pitchFamily="49" charset="0"/>
              </a:rPr>
              <a:t>démo ou à reporter.</a:t>
            </a:r>
          </a:p>
        </p:txBody>
      </p:sp>
      <p:sp>
        <p:nvSpPr>
          <p:cNvPr id="12" name="Action">
            <a:extLst>
              <a:ext uri="{FF2B5EF4-FFF2-40B4-BE49-F238E27FC236}">
                <a16:creationId xmlns:a16="http://schemas.microsoft.com/office/drawing/2014/main" id="{65940089-6E67-370D-F6C3-521D066402B1}"/>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À 11h45 : jouez le scénario depuis un écran neuf.</a:t>
            </a:r>
          </a:p>
        </p:txBody>
      </p:sp>
    </p:spTree>
    <p:extLst>
      <p:ext uri="{BB962C8B-B14F-4D97-AF65-F5344CB8AC3E}">
        <p14:creationId xmlns:p14="http://schemas.microsoft.com/office/powerpoint/2010/main" val="37200491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e34">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AB15E714-B0F3-5FFB-28EA-FF8F4183B0C9}"/>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Garder    34/36</a:t>
            </a:r>
          </a:p>
        </p:txBody>
      </p:sp>
      <p:sp>
        <p:nvSpPr>
          <p:cNvPr id="3" name="Titre">
            <a:extLst>
              <a:ext uri="{FF2B5EF4-FFF2-40B4-BE49-F238E27FC236}">
                <a16:creationId xmlns:a16="http://schemas.microsoft.com/office/drawing/2014/main" id="{AA845B25-8643-6968-6C66-925E9140F757}"/>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La fiche à garder</a:t>
            </a:r>
          </a:p>
        </p:txBody>
      </p:sp>
      <p:sp>
        <p:nvSpPr>
          <p:cNvPr id="4" name="Idee">
            <a:extLst>
              <a:ext uri="{FF2B5EF4-FFF2-40B4-BE49-F238E27FC236}">
                <a16:creationId xmlns:a16="http://schemas.microsoft.com/office/drawing/2014/main" id="{139F5600-4810-6A45-B035-FCBAE39B1362}"/>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Reprenez cette routine au prochain ticket.</a:t>
            </a:r>
          </a:p>
        </p:txBody>
      </p:sp>
      <p:sp>
        <p:nvSpPr>
          <p:cNvPr id="5" name="Item_1">
            <a:extLst>
              <a:ext uri="{FF2B5EF4-FFF2-40B4-BE49-F238E27FC236}">
                <a16:creationId xmlns:a16="http://schemas.microsoft.com/office/drawing/2014/main" id="{12D9CF7A-3BD6-19B3-C9DF-4E91F7D2BCDB}"/>
              </a:ext>
            </a:extLst>
          </p:cNvPr>
          <p:cNvSpPr txBox="1"/>
          <p:nvPr/>
        </p:nvSpPr>
        <p:spPr>
          <a:xfrm>
            <a:off x="965200" y="41909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1 Cadrer :</a:t>
            </a:r>
            <a:r>
              <a:rPr lang="fr-FR" sz="2700">
                <a:solidFill>
                  <a:srgbClr val="F4EDE0"/>
                </a:solidFill>
                <a:latin typeface="Outfit" pitchFamily="2" charset="0"/>
              </a:rPr>
              <a:t> « Transforme ce besoin en ticket Ready et Done. »</a:t>
            </a:r>
          </a:p>
        </p:txBody>
      </p:sp>
      <p:sp>
        <p:nvSpPr>
          <p:cNvPr id="6" name="Item_2">
            <a:extLst>
              <a:ext uri="{FF2B5EF4-FFF2-40B4-BE49-F238E27FC236}">
                <a16:creationId xmlns:a16="http://schemas.microsoft.com/office/drawing/2014/main" id="{15CF814A-2B33-11C5-C678-0C0A865A3CE6}"/>
              </a:ext>
            </a:extLst>
          </p:cNvPr>
          <p:cNvSpPr txBox="1"/>
          <p:nvPr/>
        </p:nvSpPr>
        <p:spPr>
          <a:xfrm>
            <a:off x="965200" y="49148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2 Donner le contexte :</a:t>
            </a:r>
            <a:r>
              <a:rPr lang="fr-FR" sz="2700">
                <a:solidFill>
                  <a:srgbClr val="F4EDE0"/>
                </a:solidFill>
                <a:latin typeface="Outfit" pitchFamily="2" charset="0"/>
              </a:rPr>
              <a:t> « Lis les règles, le contrat et mon dossier. »</a:t>
            </a:r>
          </a:p>
        </p:txBody>
      </p:sp>
      <p:sp>
        <p:nvSpPr>
          <p:cNvPr id="7" name="Item_3">
            <a:extLst>
              <a:ext uri="{FF2B5EF4-FFF2-40B4-BE49-F238E27FC236}">
                <a16:creationId xmlns:a16="http://schemas.microsoft.com/office/drawing/2014/main" id="{F15C745B-2A44-35BD-F185-1EEFDAFC56E4}"/>
              </a:ext>
            </a:extLst>
          </p:cNvPr>
          <p:cNvSpPr txBox="1"/>
          <p:nvPr/>
        </p:nvSpPr>
        <p:spPr>
          <a:xfrm>
            <a:off x="965200" y="56387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3 Améliorer le prompt :</a:t>
            </a:r>
            <a:r>
              <a:rPr lang="fr-FR" sz="2700">
                <a:solidFill>
                  <a:srgbClr val="F4EDE0"/>
                </a:solidFill>
                <a:latin typeface="Outfit" pitchFamily="2" charset="0"/>
              </a:rPr>
              <a:t> « Reformule la demande en cinq blocs. »</a:t>
            </a:r>
          </a:p>
        </p:txBody>
      </p:sp>
      <p:sp>
        <p:nvSpPr>
          <p:cNvPr id="8" name="Item_4">
            <a:extLst>
              <a:ext uri="{FF2B5EF4-FFF2-40B4-BE49-F238E27FC236}">
                <a16:creationId xmlns:a16="http://schemas.microsoft.com/office/drawing/2014/main" id="{5FEDCE9F-0DD0-C5D5-375E-B99B14F5EF90}"/>
              </a:ext>
            </a:extLst>
          </p:cNvPr>
          <p:cNvSpPr txBox="1"/>
          <p:nvPr/>
        </p:nvSpPr>
        <p:spPr>
          <a:xfrm>
            <a:off x="965200" y="63626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4 Lancer :</a:t>
            </a:r>
            <a:r>
              <a:rPr lang="fr-FR" sz="2700">
                <a:solidFill>
                  <a:srgbClr val="F4EDE0"/>
                </a:solidFill>
                <a:latin typeface="Outfit" pitchFamily="2" charset="0"/>
              </a:rPr>
              <a:t> « Exécute ce lot et rapporte les preuves. »</a:t>
            </a:r>
          </a:p>
        </p:txBody>
      </p:sp>
      <p:sp>
        <p:nvSpPr>
          <p:cNvPr id="9" name="Item_5">
            <a:extLst>
              <a:ext uri="{FF2B5EF4-FFF2-40B4-BE49-F238E27FC236}">
                <a16:creationId xmlns:a16="http://schemas.microsoft.com/office/drawing/2014/main" id="{381DFBE7-DAEF-EF77-8048-CAC1313C6999}"/>
              </a:ext>
            </a:extLst>
          </p:cNvPr>
          <p:cNvSpPr txBox="1"/>
          <p:nvPr/>
        </p:nvSpPr>
        <p:spPr>
          <a:xfrm>
            <a:off x="965200" y="7086599"/>
            <a:ext cx="14325600" cy="635000"/>
          </a:xfrm>
          <a:prstGeom prst="rect">
            <a:avLst/>
          </a:prstGeom>
          <a:noFill/>
        </p:spPr>
        <p:txBody>
          <a:bodyPr vert="horz" wrap="square" lIns="0" tIns="0" rIns="152400" bIns="0" rtlCol="0">
            <a:noAutofit/>
          </a:bodyPr>
          <a:lstStyle/>
          <a:p>
            <a:r>
              <a:rPr lang="fr-FR" sz="2700" b="1">
                <a:solidFill>
                  <a:srgbClr val="F9B02A"/>
                </a:solidFill>
                <a:latin typeface="Outfit" pitchFamily="2" charset="0"/>
              </a:rPr>
              <a:t>5 Vérifier et garder :</a:t>
            </a:r>
            <a:r>
              <a:rPr lang="fr-FR" sz="2700">
                <a:solidFill>
                  <a:srgbClr val="F4EDE0"/>
                </a:solidFill>
                <a:latin typeface="Outfit" pitchFamily="2" charset="0"/>
              </a:rPr>
              <a:t> « Contrôle le Done et propose une note wiki. »</a:t>
            </a:r>
          </a:p>
        </p:txBody>
      </p:sp>
      <p:sp>
        <p:nvSpPr>
          <p:cNvPr id="10" name="Action">
            <a:extLst>
              <a:ext uri="{FF2B5EF4-FFF2-40B4-BE49-F238E27FC236}">
                <a16:creationId xmlns:a16="http://schemas.microsoft.com/office/drawing/2014/main" id="{50A98F69-4307-AEAF-82B7-ACC2CDF1C0DE}"/>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Conservez FICHE-5-ETAPES.md près de vos tickets.</a:t>
            </a:r>
          </a:p>
        </p:txBody>
      </p:sp>
    </p:spTree>
    <p:extLst>
      <p:ext uri="{BB962C8B-B14F-4D97-AF65-F5344CB8AC3E}">
        <p14:creationId xmlns:p14="http://schemas.microsoft.com/office/powerpoint/2010/main" val="964726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e35">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9E6CCE30-9CA9-FB79-AB62-804BEBD3EC3A}"/>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Garder    35/36</a:t>
            </a:r>
          </a:p>
        </p:txBody>
      </p:sp>
      <p:sp>
        <p:nvSpPr>
          <p:cNvPr id="3" name="Titre">
            <a:extLst>
              <a:ext uri="{FF2B5EF4-FFF2-40B4-BE49-F238E27FC236}">
                <a16:creationId xmlns:a16="http://schemas.microsoft.com/office/drawing/2014/main" id="{F551EC8C-0FF8-C2E7-FF09-7CD65C014C18}"/>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5600">
                <a:solidFill>
                  <a:srgbClr val="F4EDE0"/>
                </a:solidFill>
                <a:latin typeface="Georgia" panose="02040502050405020303" pitchFamily="18" charset="0"/>
              </a:rPr>
              <a:t>Le kit se copie dans le projet</a:t>
            </a:r>
          </a:p>
        </p:txBody>
      </p:sp>
      <p:sp>
        <p:nvSpPr>
          <p:cNvPr id="4" name="Idee">
            <a:extLst>
              <a:ext uri="{FF2B5EF4-FFF2-40B4-BE49-F238E27FC236}">
                <a16:creationId xmlns:a16="http://schemas.microsoft.com/office/drawing/2014/main" id="{4715DCF2-ACDB-6901-025C-6D2E4B33AA48}"/>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Trois skills et des fichiers de référence prêts à adapter.</a:t>
            </a:r>
          </a:p>
        </p:txBody>
      </p:sp>
      <p:sp>
        <p:nvSpPr>
          <p:cNvPr id="5" name="Item_1">
            <a:extLst>
              <a:ext uri="{FF2B5EF4-FFF2-40B4-BE49-F238E27FC236}">
                <a16:creationId xmlns:a16="http://schemas.microsoft.com/office/drawing/2014/main" id="{4D20B190-E06F-3F71-1B86-44C9EB7F0323}"/>
              </a:ext>
            </a:extLst>
          </p:cNvPr>
          <p:cNvSpPr txBox="1"/>
          <p:nvPr/>
        </p:nvSpPr>
        <p:spPr>
          <a:xfrm>
            <a:off x="965200" y="41020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Reformuler :</a:t>
            </a:r>
            <a:r>
              <a:rPr lang="fr-FR" sz="2400">
                <a:solidFill>
                  <a:srgbClr val="F4EDE0"/>
                </a:solidFill>
                <a:latin typeface="Outfit" pitchFamily="2" charset="0"/>
              </a:rPr>
              <a:t> /prompt-5 et /ticket-ready.</a:t>
            </a:r>
          </a:p>
        </p:txBody>
      </p:sp>
      <p:sp>
        <p:nvSpPr>
          <p:cNvPr id="6" name="Item_2">
            <a:extLst>
              <a:ext uri="{FF2B5EF4-FFF2-40B4-BE49-F238E27FC236}">
                <a16:creationId xmlns:a16="http://schemas.microsoft.com/office/drawing/2014/main" id="{1FAD7C7F-9AC9-5CAA-3092-2196AF99FCAF}"/>
              </a:ext>
            </a:extLst>
          </p:cNvPr>
          <p:cNvSpPr txBox="1"/>
          <p:nvPr/>
        </p:nvSpPr>
        <p:spPr>
          <a:xfrm>
            <a:off x="965200" y="50736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Exécuter :</a:t>
            </a:r>
            <a:r>
              <a:rPr lang="fr-FR" sz="2400">
                <a:solidFill>
                  <a:srgbClr val="F4EDE0"/>
                </a:solidFill>
                <a:latin typeface="Outfit" pitchFamily="2" charset="0"/>
              </a:rPr>
              <a:t> /lancer-workflow en cinq étapes.</a:t>
            </a:r>
          </a:p>
        </p:txBody>
      </p:sp>
      <p:sp>
        <p:nvSpPr>
          <p:cNvPr id="7" name="Item_3">
            <a:extLst>
              <a:ext uri="{FF2B5EF4-FFF2-40B4-BE49-F238E27FC236}">
                <a16:creationId xmlns:a16="http://schemas.microsoft.com/office/drawing/2014/main" id="{3C0BB1FA-C001-E6F0-DDBA-ED88AC3F558E}"/>
              </a:ext>
            </a:extLst>
          </p:cNvPr>
          <p:cNvSpPr txBox="1"/>
          <p:nvPr/>
        </p:nvSpPr>
        <p:spPr>
          <a:xfrm>
            <a:off x="965200" y="604519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Préparer :</a:t>
            </a:r>
            <a:r>
              <a:rPr lang="fr-FR" sz="2400">
                <a:solidFill>
                  <a:srgbClr val="F4EDE0"/>
                </a:solidFill>
                <a:latin typeface="Outfit" pitchFamily="2" charset="0"/>
              </a:rPr>
              <a:t> Tickets, contrat et exemple de CLAUDE.md.</a:t>
            </a:r>
          </a:p>
        </p:txBody>
      </p:sp>
      <p:sp>
        <p:nvSpPr>
          <p:cNvPr id="8" name="Item_4">
            <a:extLst>
              <a:ext uri="{FF2B5EF4-FFF2-40B4-BE49-F238E27FC236}">
                <a16:creationId xmlns:a16="http://schemas.microsoft.com/office/drawing/2014/main" id="{5EB253AD-F3A9-7523-D1A5-E46247ADFE8D}"/>
              </a:ext>
            </a:extLst>
          </p:cNvPr>
          <p:cNvSpPr txBox="1"/>
          <p:nvPr/>
        </p:nvSpPr>
        <p:spPr>
          <a:xfrm>
            <a:off x="965200" y="7016749"/>
            <a:ext cx="7061200" cy="946150"/>
          </a:xfrm>
          <a:prstGeom prst="rect">
            <a:avLst/>
          </a:prstGeom>
          <a:noFill/>
        </p:spPr>
        <p:txBody>
          <a:bodyPr vert="horz" wrap="square" lIns="0" tIns="0" rIns="152400" bIns="0" rtlCol="0">
            <a:noAutofit/>
          </a:bodyPr>
          <a:lstStyle/>
          <a:p>
            <a:r>
              <a:rPr lang="fr-FR" sz="2400" b="1">
                <a:solidFill>
                  <a:srgbClr val="F9B02A"/>
                </a:solidFill>
                <a:latin typeface="Outfit" pitchFamily="2" charset="0"/>
              </a:rPr>
              <a:t>Garder :</a:t>
            </a:r>
            <a:r>
              <a:rPr lang="fr-FR" sz="2400">
                <a:solidFill>
                  <a:srgbClr val="F4EDE0"/>
                </a:solidFill>
                <a:latin typeface="Outfit" pitchFamily="2" charset="0"/>
              </a:rPr>
              <a:t> Wiki, sources et plan sans réseau.</a:t>
            </a:r>
          </a:p>
        </p:txBody>
      </p:sp>
      <p:sp>
        <p:nvSpPr>
          <p:cNvPr id="9" name="Code_label">
            <a:extLst>
              <a:ext uri="{FF2B5EF4-FFF2-40B4-BE49-F238E27FC236}">
                <a16:creationId xmlns:a16="http://schemas.microsoft.com/office/drawing/2014/main" id="{6FA52FB8-D879-C879-BC41-BA97147FB311}"/>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10" name="Code">
            <a:extLst>
              <a:ext uri="{FF2B5EF4-FFF2-40B4-BE49-F238E27FC236}">
                <a16:creationId xmlns:a16="http://schemas.microsoft.com/office/drawing/2014/main" id="{84FC31F7-7EB1-AF14-E4D7-D035B0A56035}"/>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/prompt-5 Afficher les organismes du</a:t>
            </a:r>
          </a:p>
          <a:p>
            <a:r>
              <a:rPr lang="fr-FR" sz="2200">
                <a:solidFill>
                  <a:srgbClr val="F4EDE0"/>
                </a:solidFill>
                <a:latin typeface="JetBrains Mono" panose="02000009000000000000" pitchFamily="49" charset="0"/>
              </a:rPr>
              <a:t>jeu validé.</a:t>
            </a:r>
          </a:p>
          <a:p>
            <a:r>
              <a:rPr lang="fr-FR" sz="2200">
                <a:solidFill>
                  <a:srgbClr val="F4EDE0"/>
                </a:solidFill>
                <a:latin typeface="JetBrains Mono" panose="02000009000000000000" pitchFamily="49" charset="0"/>
              </a:rPr>
              <a:t>Retourne les cinq blocs, Ready et Done</a:t>
            </a:r>
          </a:p>
          <a:p>
            <a:r>
              <a:rPr lang="fr-FR" sz="2200">
                <a:solidFill>
                  <a:srgbClr val="F4EDE0"/>
                </a:solidFill>
                <a:latin typeface="JetBrains Mono" panose="02000009000000000000" pitchFamily="49" charset="0"/>
              </a:rPr>
              <a:t>; ne code rien.</a:t>
            </a:r>
          </a:p>
        </p:txBody>
      </p:sp>
      <p:sp>
        <p:nvSpPr>
          <p:cNvPr id="11" name="Action">
            <a:extLst>
              <a:ext uri="{FF2B5EF4-FFF2-40B4-BE49-F238E27FC236}">
                <a16:creationId xmlns:a16="http://schemas.microsoft.com/office/drawing/2014/main" id="{E40BBB2B-AD17-C9E2-A947-A6314C089588}"/>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Copiez les trois dossiers de skills, puis ouvrez /prompt-5.</a:t>
            </a:r>
          </a:p>
        </p:txBody>
      </p:sp>
    </p:spTree>
    <p:extLst>
      <p:ext uri="{BB962C8B-B14F-4D97-AF65-F5344CB8AC3E}">
        <p14:creationId xmlns:p14="http://schemas.microsoft.com/office/powerpoint/2010/main" val="40360748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e36">
    <p:bg>
      <p:bgPr>
        <a:solidFill>
          <a:srgbClr val="0E1630"/>
        </a:solidFill>
        <a:effectLst/>
      </p:bgPr>
    </p:bg>
    <p:spTree>
      <p:nvGrpSpPr>
        <p:cNvPr id="1" name=""/>
        <p:cNvGrpSpPr/>
        <p:nvPr/>
      </p:nvGrpSpPr>
      <p:grpSpPr>
        <a:xfrm>
          <a:off x="0" y="0"/>
          <a:ext cx="0" cy="0"/>
          <a:chOff x="0" y="0"/>
          <a:chExt cx="0" cy="0"/>
        </a:xfrm>
      </p:grpSpPr>
      <p:sp>
        <p:nvSpPr>
          <p:cNvPr id="2" name="Repere">
            <a:extLst>
              <a:ext uri="{FF2B5EF4-FFF2-40B4-BE49-F238E27FC236}">
                <a16:creationId xmlns:a16="http://schemas.microsoft.com/office/drawing/2014/main" id="{79870E71-AB29-DF5B-8D3A-5DE09D941AF5}"/>
              </a:ext>
            </a:extLst>
          </p:cNvPr>
          <p:cNvSpPr txBox="1"/>
          <p:nvPr/>
        </p:nvSpPr>
        <p:spPr>
          <a:xfrm>
            <a:off x="965200" y="469899"/>
            <a:ext cx="14325600" cy="355600"/>
          </a:xfrm>
          <a:prstGeom prst="rect">
            <a:avLst/>
          </a:prstGeom>
          <a:noFill/>
        </p:spPr>
        <p:txBody>
          <a:bodyPr vert="horz" wrap="square" lIns="0" tIns="0" rIns="0" bIns="0" rtlCol="0">
            <a:noAutofit/>
          </a:bodyPr>
          <a:lstStyle/>
          <a:p>
            <a:r>
              <a:rPr lang="fr-FR" sz="1500">
                <a:solidFill>
                  <a:srgbClr val="F9B02A"/>
                </a:solidFill>
                <a:latin typeface="JetBrains Mono" panose="02000009000000000000" pitchFamily="49" charset="0"/>
              </a:rPr>
              <a:t>Garder    36/36</a:t>
            </a:r>
          </a:p>
        </p:txBody>
      </p:sp>
      <p:sp>
        <p:nvSpPr>
          <p:cNvPr id="3" name="Titre">
            <a:extLst>
              <a:ext uri="{FF2B5EF4-FFF2-40B4-BE49-F238E27FC236}">
                <a16:creationId xmlns:a16="http://schemas.microsoft.com/office/drawing/2014/main" id="{58510DF4-860D-F78B-0029-1CB9BB1FD648}"/>
              </a:ext>
            </a:extLst>
          </p:cNvPr>
          <p:cNvSpPr txBox="1"/>
          <p:nvPr/>
        </p:nvSpPr>
        <p:spPr>
          <a:xfrm>
            <a:off x="965200" y="1117599"/>
            <a:ext cx="14325600" cy="1701800"/>
          </a:xfrm>
          <a:prstGeom prst="rect">
            <a:avLst/>
          </a:prstGeom>
          <a:noFill/>
        </p:spPr>
        <p:txBody>
          <a:bodyPr vert="horz" wrap="square" lIns="0" tIns="0" rIns="0" bIns="0" rtlCol="0">
            <a:noAutofit/>
          </a:bodyPr>
          <a:lstStyle/>
          <a:p>
            <a:r>
              <a:rPr lang="fr-FR" sz="6000">
                <a:solidFill>
                  <a:srgbClr val="F4EDE0"/>
                </a:solidFill>
                <a:latin typeface="Georgia" panose="02040502050405020303" pitchFamily="18" charset="0"/>
              </a:rPr>
              <a:t>Prenez un ticket. Rendez-le Ready</a:t>
            </a:r>
          </a:p>
        </p:txBody>
      </p:sp>
      <p:sp>
        <p:nvSpPr>
          <p:cNvPr id="4" name="Idee">
            <a:extLst>
              <a:ext uri="{FF2B5EF4-FFF2-40B4-BE49-F238E27FC236}">
                <a16:creationId xmlns:a16="http://schemas.microsoft.com/office/drawing/2014/main" id="{09D76FC1-FE78-A0E1-E7EB-83755865730A}"/>
              </a:ext>
            </a:extLst>
          </p:cNvPr>
          <p:cNvSpPr txBox="1"/>
          <p:nvPr/>
        </p:nvSpPr>
        <p:spPr>
          <a:xfrm>
            <a:off x="965200" y="3022599"/>
            <a:ext cx="14325600" cy="965200"/>
          </a:xfrm>
          <a:prstGeom prst="rect">
            <a:avLst/>
          </a:prstGeom>
          <a:noFill/>
        </p:spPr>
        <p:txBody>
          <a:bodyPr vert="horz" wrap="square" lIns="0" tIns="0" rIns="0" bIns="0" rtlCol="0">
            <a:noAutofit/>
          </a:bodyPr>
          <a:lstStyle/>
          <a:p>
            <a:r>
              <a:rPr lang="fr-FR" sz="2800">
                <a:solidFill>
                  <a:srgbClr val="A8A297"/>
                </a:solidFill>
                <a:latin typeface="Outfit" pitchFamily="2" charset="0"/>
              </a:rPr>
              <a:t>La prochaine action tient en cinq minutes.</a:t>
            </a:r>
          </a:p>
        </p:txBody>
      </p:sp>
      <p:sp>
        <p:nvSpPr>
          <p:cNvPr id="5" name="Item_1">
            <a:extLst>
              <a:ext uri="{FF2B5EF4-FFF2-40B4-BE49-F238E27FC236}">
                <a16:creationId xmlns:a16="http://schemas.microsoft.com/office/drawing/2014/main" id="{682BA901-353B-8EEA-A7B1-11FF4DDEF6EA}"/>
              </a:ext>
            </a:extLst>
          </p:cNvPr>
          <p:cNvSpPr txBox="1"/>
          <p:nvPr/>
        </p:nvSpPr>
        <p:spPr>
          <a:xfrm>
            <a:off x="965200" y="41020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Votre point de départ :</a:t>
            </a:r>
            <a:r>
              <a:rPr lang="fr-FR" sz="2600">
                <a:solidFill>
                  <a:srgbClr val="F4EDE0"/>
                </a:solidFill>
                <a:latin typeface="Outfit" pitchFamily="2" charset="0"/>
              </a:rPr>
              <a:t> Le besoin, les fichiers et la preuve attendue.</a:t>
            </a:r>
          </a:p>
        </p:txBody>
      </p:sp>
      <p:sp>
        <p:nvSpPr>
          <p:cNvPr id="6" name="Item_2">
            <a:extLst>
              <a:ext uri="{FF2B5EF4-FFF2-40B4-BE49-F238E27FC236}">
                <a16:creationId xmlns:a16="http://schemas.microsoft.com/office/drawing/2014/main" id="{E14E0A80-FABF-B65A-D5B5-52E9185711A8}"/>
              </a:ext>
            </a:extLst>
          </p:cNvPr>
          <p:cNvSpPr txBox="1"/>
          <p:nvPr/>
        </p:nvSpPr>
        <p:spPr>
          <a:xfrm>
            <a:off x="965200" y="53974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Votre soutien :</a:t>
            </a:r>
            <a:r>
              <a:rPr lang="fr-FR" sz="2600">
                <a:solidFill>
                  <a:srgbClr val="F4EDE0"/>
                </a:solidFill>
                <a:latin typeface="Outfit" pitchFamily="2" charset="0"/>
              </a:rPr>
              <a:t> Cédric Atticot dit Ravino · formateur et PO.</a:t>
            </a:r>
          </a:p>
        </p:txBody>
      </p:sp>
      <p:sp>
        <p:nvSpPr>
          <p:cNvPr id="7" name="Item_3">
            <a:extLst>
              <a:ext uri="{FF2B5EF4-FFF2-40B4-BE49-F238E27FC236}">
                <a16:creationId xmlns:a16="http://schemas.microsoft.com/office/drawing/2014/main" id="{BE0A4B0B-2BA5-EED8-81CE-8D80D554E80F}"/>
              </a:ext>
            </a:extLst>
          </p:cNvPr>
          <p:cNvSpPr txBox="1"/>
          <p:nvPr/>
        </p:nvSpPr>
        <p:spPr>
          <a:xfrm>
            <a:off x="965200" y="6692899"/>
            <a:ext cx="7061200" cy="1270000"/>
          </a:xfrm>
          <a:prstGeom prst="rect">
            <a:avLst/>
          </a:prstGeom>
          <a:noFill/>
        </p:spPr>
        <p:txBody>
          <a:bodyPr vert="horz" wrap="square" lIns="0" tIns="0" rIns="152400" bIns="0" rtlCol="0">
            <a:noAutofit/>
          </a:bodyPr>
          <a:lstStyle/>
          <a:p>
            <a:r>
              <a:rPr lang="fr-FR" sz="2600" b="1">
                <a:solidFill>
                  <a:srgbClr val="F9B02A"/>
                </a:solidFill>
                <a:latin typeface="Outfit" pitchFamily="2" charset="0"/>
              </a:rPr>
              <a:t>Votre repère :</a:t>
            </a:r>
            <a:r>
              <a:rPr lang="fr-FR" sz="2600">
                <a:solidFill>
                  <a:srgbClr val="F4EDE0"/>
                </a:solidFill>
                <a:latin typeface="Outfit" pitchFamily="2" charset="0"/>
              </a:rPr>
              <a:t> 1 Cadrer → 2 Donner le contexte → 3 Améliorer le prompt</a:t>
            </a:r>
          </a:p>
        </p:txBody>
      </p:sp>
      <p:sp>
        <p:nvSpPr>
          <p:cNvPr id="8" name="Code_label">
            <a:extLst>
              <a:ext uri="{FF2B5EF4-FFF2-40B4-BE49-F238E27FC236}">
                <a16:creationId xmlns:a16="http://schemas.microsoft.com/office/drawing/2014/main" id="{6826B761-5367-EC12-9901-18808A91534E}"/>
              </a:ext>
            </a:extLst>
          </p:cNvPr>
          <p:cNvSpPr txBox="1"/>
          <p:nvPr/>
        </p:nvSpPr>
        <p:spPr>
          <a:xfrm>
            <a:off x="8636000" y="4190999"/>
            <a:ext cx="6654800" cy="622300"/>
          </a:xfrm>
          <a:prstGeom prst="rect">
            <a:avLst/>
          </a:prstGeom>
          <a:noFill/>
        </p:spPr>
        <p:txBody>
          <a:bodyPr vert="horz" wrap="square" lIns="0" tIns="0" rIns="0" bIns="0" rtlCol="0">
            <a:noAutofit/>
          </a:bodyPr>
          <a:lstStyle/>
          <a:p>
            <a:r>
              <a:rPr lang="fr-FR" sz="2200" b="1">
                <a:solidFill>
                  <a:srgbClr val="F9B02A"/>
                </a:solidFill>
                <a:latin typeface="Outfit" pitchFamily="2" charset="0"/>
              </a:rPr>
              <a:t>Prompt à copier</a:t>
            </a:r>
          </a:p>
        </p:txBody>
      </p:sp>
      <p:sp>
        <p:nvSpPr>
          <p:cNvPr id="9" name="Code">
            <a:extLst>
              <a:ext uri="{FF2B5EF4-FFF2-40B4-BE49-F238E27FC236}">
                <a16:creationId xmlns:a16="http://schemas.microsoft.com/office/drawing/2014/main" id="{8A034991-BC64-5626-34F4-F36D81BFC539}"/>
              </a:ext>
            </a:extLst>
          </p:cNvPr>
          <p:cNvSpPr txBox="1"/>
          <p:nvPr/>
        </p:nvSpPr>
        <p:spPr>
          <a:xfrm>
            <a:off x="8636000" y="4940299"/>
            <a:ext cx="6654800" cy="2527300"/>
          </a:xfrm>
          <a:prstGeom prst="rect">
            <a:avLst/>
          </a:prstGeom>
          <a:noFill/>
        </p:spPr>
        <p:txBody>
          <a:bodyPr vert="horz" wrap="square" lIns="0" tIns="0" rIns="0" bIns="0" rtlCol="0">
            <a:noAutofit/>
          </a:bodyPr>
          <a:lstStyle/>
          <a:p>
            <a:r>
              <a:rPr lang="fr-FR" sz="2200">
                <a:solidFill>
                  <a:srgbClr val="F4EDE0"/>
                </a:solidFill>
                <a:latin typeface="JetBrains Mono" panose="02000009000000000000" pitchFamily="49" charset="0"/>
              </a:rPr>
              <a:t>/ticket-ready Mon prochain besoin est</a:t>
            </a:r>
          </a:p>
          <a:p>
            <a:r>
              <a:rPr lang="fr-FR" sz="2200">
                <a:solidFill>
                  <a:srgbClr val="F4EDE0"/>
                </a:solidFill>
                <a:latin typeface="JetBrains Mono" panose="02000009000000000000" pitchFamily="49" charset="0"/>
              </a:rPr>
              <a:t>:</a:t>
            </a:r>
          </a:p>
          <a:p>
            <a:r>
              <a:rPr lang="fr-FR" sz="2200">
                <a:solidFill>
                  <a:srgbClr val="F4EDE0"/>
                </a:solidFill>
                <a:latin typeface="JetBrains Mono" panose="02000009000000000000" pitchFamily="49" charset="0"/>
              </a:rPr>
              <a:t>Décris ici le changement attendu pour</a:t>
            </a:r>
          </a:p>
          <a:p>
            <a:r>
              <a:rPr lang="fr-FR" sz="2200">
                <a:solidFill>
                  <a:srgbClr val="F4EDE0"/>
                </a:solidFill>
                <a:latin typeface="JetBrains Mono" panose="02000009000000000000" pitchFamily="49" charset="0"/>
              </a:rPr>
              <a:t>l’utilisateur.</a:t>
            </a:r>
          </a:p>
        </p:txBody>
      </p:sp>
      <p:sp>
        <p:nvSpPr>
          <p:cNvPr id="10" name="Action">
            <a:extLst>
              <a:ext uri="{FF2B5EF4-FFF2-40B4-BE49-F238E27FC236}">
                <a16:creationId xmlns:a16="http://schemas.microsoft.com/office/drawing/2014/main" id="{A85DAA72-45E5-1D21-E54E-3ABB83A99793}"/>
              </a:ext>
            </a:extLst>
          </p:cNvPr>
          <p:cNvSpPr txBox="1"/>
          <p:nvPr/>
        </p:nvSpPr>
        <p:spPr>
          <a:xfrm>
            <a:off x="965200" y="8318499"/>
            <a:ext cx="14325600" cy="660400"/>
          </a:xfrm>
          <a:prstGeom prst="rect">
            <a:avLst/>
          </a:prstGeom>
          <a:noFill/>
        </p:spPr>
        <p:txBody>
          <a:bodyPr vert="horz" wrap="square" lIns="0" tIns="0" rIns="0" bIns="0" rtlCol="0">
            <a:noAutofit/>
          </a:bodyPr>
          <a:lstStyle/>
          <a:p>
            <a:r>
              <a:rPr lang="fr-FR" sz="2400">
                <a:solidFill>
                  <a:srgbClr val="F9B02A"/>
                </a:solidFill>
                <a:latin typeface="Outfit" pitchFamily="2" charset="0"/>
              </a:rPr>
              <a:t>Lancez /ticket-ready sur votre prochain besoin.</a:t>
            </a:r>
          </a:p>
        </p:txBody>
      </p:sp>
    </p:spTree>
    <p:extLst>
      <p:ext uri="{BB962C8B-B14F-4D97-AF65-F5344CB8AC3E}">
        <p14:creationId xmlns:p14="http://schemas.microsoft.com/office/powerpoint/2010/main" val="374759172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15970</Words>
  <Application>Microsoft Office PowerPoint</Application>
  <PresentationFormat>Personnalisé</PresentationFormat>
  <Paragraphs>1548</Paragraphs>
  <Slides>36</Slides>
  <Notes>36</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36</vt:i4>
      </vt:variant>
    </vt:vector>
  </HeadingPairs>
  <TitlesOfParts>
    <vt:vector size="43" baseType="lpstr">
      <vt:lpstr>JetBrains Mono</vt:lpstr>
      <vt:lpstr>Aptos Display</vt:lpstr>
      <vt:lpstr>Arial</vt:lpstr>
      <vt:lpstr>Outfit</vt:lpstr>
      <vt:lpstr>Aptos</vt:lpstr>
      <vt:lpstr>Georgia</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Cedric Atticot</dc:creator>
  <cp:lastModifiedBy>Cedric Atticot</cp:lastModifiedBy>
  <cp:revision>1</cp:revision>
  <dcterms:created xsi:type="dcterms:W3CDTF">2026-09-14T18:39:54Z</dcterms:created>
  <dcterms:modified xsi:type="dcterms:W3CDTF">2026-09-14T18:39:54Z</dcterms:modified>
</cp:coreProperties>
</file>